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1" r:id="rId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stantin Dragun" initials="KD" lastIdx="1" clrIdx="0">
    <p:extLst>
      <p:ext uri="{19B8F6BF-5375-455C-9EA6-DF929625EA0E}">
        <p15:presenceInfo xmlns:p15="http://schemas.microsoft.com/office/powerpoint/2012/main" userId="Konstantin Dragu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>
      <p:cViewPr varScale="1">
        <p:scale>
          <a:sx n="67" d="100"/>
          <a:sy n="67" d="100"/>
        </p:scale>
        <p:origin x="56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22.04.2025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utility/tuple/tupl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11</a:t>
            </a:r>
            <a:br>
              <a:rPr lang="en-US" dirty="0"/>
            </a:br>
            <a:br>
              <a:rPr lang="ru-RU" dirty="0"/>
            </a:br>
            <a:r>
              <a:rPr lang="ru-RU" dirty="0" err="1"/>
              <a:t>Метапрограммирование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8D0FB-57CC-44A0-B407-862EF229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Мотивация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FF93B-D342-4616-9052-07509AF46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Будем писать сложные </a:t>
            </a:r>
            <a:r>
              <a:rPr lang="en-US" dirty="0"/>
              <a:t>“</a:t>
            </a:r>
            <a:r>
              <a:rPr lang="ru-RU" dirty="0"/>
              <a:t>функции</a:t>
            </a:r>
            <a:r>
              <a:rPr lang="en-US" dirty="0"/>
              <a:t>” </a:t>
            </a:r>
            <a:r>
              <a:rPr lang="ru-RU" dirty="0"/>
              <a:t>не на уровне объектов, а на уровне типов</a:t>
            </a:r>
          </a:p>
          <a:p>
            <a:r>
              <a:rPr lang="ru-RU" dirty="0"/>
              <a:t>Например, различные проверки на свойства типов</a:t>
            </a:r>
            <a:r>
              <a:rPr lang="en-US" dirty="0"/>
              <a:t>: </a:t>
            </a:r>
            <a:r>
              <a:rPr lang="en-US" dirty="0" err="1"/>
              <a:t>is_class</a:t>
            </a:r>
            <a:r>
              <a:rPr lang="en-US" dirty="0"/>
              <a:t>, </a:t>
            </a:r>
            <a:r>
              <a:rPr lang="en-US" dirty="0" err="1"/>
              <a:t>is_copy_constructible</a:t>
            </a:r>
            <a:r>
              <a:rPr lang="en-US" dirty="0"/>
              <a:t>, 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433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95B5-68EB-465D-9051-DF3857E7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76921-9B6A-4162-B58E-161BF7C62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Начиная с </a:t>
            </a:r>
            <a:r>
              <a:rPr lang="en-US" dirty="0"/>
              <a:t>C++ 20 explicit </a:t>
            </a:r>
            <a:r>
              <a:rPr lang="ru-RU" dirty="0"/>
              <a:t>можно делать условным</a:t>
            </a:r>
            <a:endParaRPr lang="en-US" dirty="0"/>
          </a:p>
          <a:p>
            <a:r>
              <a:rPr lang="en-US" dirty="0"/>
              <a:t>explicit (compile time bool expression)</a:t>
            </a:r>
          </a:p>
          <a:p>
            <a:r>
              <a:rPr lang="ru-RU" dirty="0"/>
              <a:t>Похоже на </a:t>
            </a:r>
            <a:r>
              <a:rPr lang="en-US" dirty="0" err="1"/>
              <a:t>noexcept</a:t>
            </a:r>
            <a:endParaRPr lang="en-US" dirty="0"/>
          </a:p>
          <a:p>
            <a:r>
              <a:rPr lang="ru-RU" dirty="0"/>
              <a:t>Конструктор помечается </a:t>
            </a:r>
            <a:r>
              <a:rPr lang="en-US" dirty="0"/>
              <a:t>explicit </a:t>
            </a:r>
            <a:r>
              <a:rPr lang="en-US" dirty="0">
                <a:sym typeface="Wingdings" panose="05000000000000000000" pitchFamily="2" charset="2"/>
              </a:rPr>
              <a:t>&lt;=&gt; </a:t>
            </a:r>
            <a:r>
              <a:rPr lang="ru-RU" dirty="0">
                <a:sym typeface="Wingdings" panose="05000000000000000000" pitchFamily="2" charset="2"/>
              </a:rPr>
              <a:t>выражение </a:t>
            </a:r>
            <a:r>
              <a:rPr lang="en-US" dirty="0">
                <a:sym typeface="Wingdings" panose="05000000000000000000" pitchFamily="2" charset="2"/>
              </a:rPr>
              <a:t>true</a:t>
            </a:r>
          </a:p>
          <a:p>
            <a:r>
              <a:rPr lang="ru-RU" dirty="0">
                <a:sym typeface="Wingdings" panose="05000000000000000000" pitchFamily="2" charset="2"/>
              </a:rPr>
              <a:t>Помогает в </a:t>
            </a:r>
            <a:r>
              <a:rPr lang="en-US" dirty="0">
                <a:sym typeface="Wingdings" panose="05000000000000000000" pitchFamily="2" charset="2"/>
                <a:hlinkClick r:id="rId2"/>
              </a:rPr>
              <a:t>std::tuple</a:t>
            </a:r>
            <a:r>
              <a:rPr lang="en-US" dirty="0">
                <a:sym typeface="Wingdings" panose="05000000000000000000" pitchFamily="2" charset="2"/>
              </a:rPr>
              <a:t>: The constructor is explicit if and only if </a:t>
            </a:r>
            <a:r>
              <a:rPr lang="en-US" dirty="0" err="1">
                <a:sym typeface="Wingdings" panose="05000000000000000000" pitchFamily="2" charset="2"/>
              </a:rPr>
              <a:t>Ti</a:t>
            </a:r>
            <a:r>
              <a:rPr lang="en-US" dirty="0">
                <a:sym typeface="Wingdings" panose="05000000000000000000" pitchFamily="2" charset="2"/>
              </a:rPr>
              <a:t> is not copy-list-</a:t>
            </a:r>
            <a:r>
              <a:rPr lang="en-US" dirty="0" err="1">
                <a:sym typeface="Wingdings" panose="05000000000000000000" pitchFamily="2" charset="2"/>
              </a:rPr>
              <a:t>initializable</a:t>
            </a:r>
            <a:r>
              <a:rPr lang="en-US" dirty="0">
                <a:sym typeface="Wingdings" panose="05000000000000000000" pitchFamily="2" charset="2"/>
              </a:rPr>
              <a:t> from {} for at least one </a:t>
            </a:r>
            <a:r>
              <a:rPr lang="en-US" dirty="0" err="1">
                <a:sym typeface="Wingdings" panose="05000000000000000000" pitchFamily="2" charset="2"/>
              </a:rPr>
              <a:t>i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221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51F4-CDB4-47F9-A7FE-A4A7C9339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452"/>
            <a:ext cx="10515600" cy="1325563"/>
          </a:xfrm>
        </p:spPr>
        <p:txBody>
          <a:bodyPr/>
          <a:lstStyle/>
          <a:p>
            <a:r>
              <a:rPr lang="ru-RU" dirty="0"/>
              <a:t>Явное </a:t>
            </a:r>
            <a:r>
              <a:rPr lang="ru-RU" dirty="0" err="1"/>
              <a:t>инстанцирование</a:t>
            </a:r>
            <a:r>
              <a:rPr lang="ru-RU" dirty="0"/>
              <a:t> шаблонов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CAA9A-EDE7-4DC5-AEE5-1F210F38C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340768"/>
            <a:ext cx="11233248" cy="511256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Явно указываем компилятору </a:t>
            </a:r>
            <a:r>
              <a:rPr lang="ru-RU" dirty="0" err="1"/>
              <a:t>инстанцировать</a:t>
            </a:r>
            <a:r>
              <a:rPr lang="ru-RU" dirty="0"/>
              <a:t> шаблон с конкретными шаблонными параметрами</a:t>
            </a:r>
          </a:p>
          <a:p>
            <a:r>
              <a:rPr lang="ru-RU" dirty="0"/>
              <a:t>Тогда мы сможем уменьшить время компиляции (так как </a:t>
            </a:r>
            <a:r>
              <a:rPr lang="ru-RU" dirty="0" err="1"/>
              <a:t>инстанцируем</a:t>
            </a:r>
            <a:r>
              <a:rPr lang="ru-RU" dirty="0"/>
              <a:t> только один раз)</a:t>
            </a:r>
          </a:p>
          <a:p>
            <a:r>
              <a:rPr lang="ru-RU" dirty="0"/>
              <a:t>Уменьшаем объектные файлы</a:t>
            </a:r>
          </a:p>
          <a:p>
            <a:r>
              <a:rPr lang="ru-RU" dirty="0"/>
              <a:t>Синтаксис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template void foo&lt;int&gt;(int);</a:t>
            </a:r>
          </a:p>
          <a:p>
            <a:pPr lvl="1"/>
            <a:r>
              <a:rPr lang="en-US" dirty="0"/>
              <a:t>template class Bar&lt;int, double&gt;;</a:t>
            </a:r>
          </a:p>
          <a:p>
            <a:r>
              <a:rPr lang="ru-RU" dirty="0"/>
              <a:t>Обычно пишут в </a:t>
            </a:r>
            <a:r>
              <a:rPr lang="en-US" dirty="0"/>
              <a:t>.</a:t>
            </a:r>
            <a:r>
              <a:rPr lang="en-US" dirty="0" err="1"/>
              <a:t>cpp</a:t>
            </a:r>
            <a:r>
              <a:rPr lang="en-US" dirty="0"/>
              <a:t> </a:t>
            </a:r>
            <a:r>
              <a:rPr lang="ru-RU" dirty="0"/>
              <a:t>файлах</a:t>
            </a:r>
          </a:p>
          <a:p>
            <a:r>
              <a:rPr lang="ru-RU" dirty="0"/>
              <a:t>Возможно частичное </a:t>
            </a:r>
            <a:r>
              <a:rPr lang="ru-RU" dirty="0" err="1"/>
              <a:t>инстанцирование</a:t>
            </a:r>
            <a:r>
              <a:rPr lang="ru-RU" dirty="0"/>
              <a:t> (отдельных методов класса)</a:t>
            </a:r>
            <a:endParaRPr lang="en-US" dirty="0"/>
          </a:p>
          <a:p>
            <a:r>
              <a:rPr lang="ru-RU" dirty="0"/>
              <a:t>Иногда реализацию шаблонных классов выносят в отдельный </a:t>
            </a:r>
            <a:r>
              <a:rPr lang="en-US" dirty="0"/>
              <a:t>.</a:t>
            </a:r>
            <a:r>
              <a:rPr lang="en-US" dirty="0" err="1"/>
              <a:t>ipp</a:t>
            </a:r>
            <a:r>
              <a:rPr lang="en-US" dirty="0"/>
              <a:t> </a:t>
            </a:r>
            <a:r>
              <a:rPr lang="ru-RU" dirty="0"/>
              <a:t>файл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4641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AF85-97B7-49BB-B40E-AB814D79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ru-RU" dirty="0"/>
              <a:t>Кирпичики</a:t>
            </a:r>
            <a:r>
              <a:rPr lang="en-US" dirty="0"/>
              <a:t>”</a:t>
            </a:r>
            <a:r>
              <a:rPr lang="ru-RU" dirty="0"/>
              <a:t> для </a:t>
            </a:r>
            <a:r>
              <a:rPr lang="ru-RU" dirty="0" err="1"/>
              <a:t>метапрограммировния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6B74B-CBC8-485C-8E7F-8E11511E8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772816"/>
            <a:ext cx="10658400" cy="4824536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type_identity</a:t>
            </a:r>
            <a:r>
              <a:rPr lang="en-US" dirty="0"/>
              <a:t> - </a:t>
            </a:r>
            <a:r>
              <a:rPr lang="en-US" dirty="0" err="1"/>
              <a:t>type_identity</a:t>
            </a:r>
            <a:r>
              <a:rPr lang="en-US" dirty="0"/>
              <a:t>&lt;T&gt;::type == T</a:t>
            </a:r>
            <a:endParaRPr lang="ru-RU" dirty="0"/>
          </a:p>
          <a:p>
            <a:r>
              <a:rPr lang="en-US" dirty="0" err="1"/>
              <a:t>integral_constant</a:t>
            </a:r>
            <a:r>
              <a:rPr lang="en-US" dirty="0"/>
              <a:t> – </a:t>
            </a:r>
            <a:r>
              <a:rPr lang="en-US" dirty="0" err="1"/>
              <a:t>integral_constant</a:t>
            </a:r>
            <a:r>
              <a:rPr lang="en-US" dirty="0"/>
              <a:t>&lt;T, Val&gt;::value == T </a:t>
            </a:r>
            <a:r>
              <a:rPr lang="en-US" dirty="0" err="1"/>
              <a:t>tmp</a:t>
            </a:r>
            <a:r>
              <a:rPr lang="en-US" dirty="0"/>
              <a:t>{Val}</a:t>
            </a:r>
            <a:endParaRPr lang="ru-RU" dirty="0"/>
          </a:p>
          <a:p>
            <a:r>
              <a:rPr lang="en-US" dirty="0" err="1"/>
              <a:t>bool_constant</a:t>
            </a:r>
            <a:r>
              <a:rPr lang="en-US" dirty="0"/>
              <a:t> – </a:t>
            </a:r>
            <a:r>
              <a:rPr lang="en-US" dirty="0" err="1"/>
              <a:t>bool_constant</a:t>
            </a:r>
            <a:r>
              <a:rPr lang="en-US" dirty="0"/>
              <a:t>&lt;b&gt;::value == b</a:t>
            </a:r>
            <a:endParaRPr lang="ru-RU" dirty="0"/>
          </a:p>
          <a:p>
            <a:r>
              <a:rPr lang="en-US" dirty="0" err="1"/>
              <a:t>true_type</a:t>
            </a:r>
            <a:r>
              <a:rPr lang="en-US" dirty="0"/>
              <a:t> – </a:t>
            </a:r>
            <a:r>
              <a:rPr lang="en-US" dirty="0" err="1"/>
              <a:t>true_type</a:t>
            </a:r>
            <a:r>
              <a:rPr lang="en-US" dirty="0"/>
              <a:t>::value == true</a:t>
            </a:r>
            <a:endParaRPr lang="ru-RU" dirty="0"/>
          </a:p>
          <a:p>
            <a:r>
              <a:rPr lang="en-US" dirty="0" err="1"/>
              <a:t>false_type</a:t>
            </a:r>
            <a:r>
              <a:rPr lang="en-US" dirty="0"/>
              <a:t> – </a:t>
            </a:r>
            <a:r>
              <a:rPr lang="en-US" dirty="0" err="1"/>
              <a:t>false_type</a:t>
            </a:r>
            <a:r>
              <a:rPr lang="en-US" dirty="0"/>
              <a:t>::value == false</a:t>
            </a:r>
          </a:p>
          <a:p>
            <a:r>
              <a:rPr lang="en-US" dirty="0"/>
              <a:t>conjunction</a:t>
            </a:r>
            <a:r>
              <a:rPr lang="ru-RU" dirty="0"/>
              <a:t> </a:t>
            </a:r>
            <a:r>
              <a:rPr lang="en-US" dirty="0"/>
              <a:t>T1, … Tn = T1::value &amp;&amp; … Tn::value</a:t>
            </a:r>
          </a:p>
          <a:p>
            <a:r>
              <a:rPr lang="en-US" dirty="0"/>
              <a:t>Disjunction T1, … Tn = T1::value || … Tn::value</a:t>
            </a:r>
          </a:p>
          <a:p>
            <a:endParaRPr lang="ru-RU" dirty="0"/>
          </a:p>
          <a:p>
            <a:r>
              <a:rPr lang="en-US" dirty="0"/>
              <a:t>N.B.! Conjunction </a:t>
            </a:r>
            <a:r>
              <a:rPr lang="ru-RU" dirty="0"/>
              <a:t>и </a:t>
            </a:r>
            <a:r>
              <a:rPr lang="en-US" dirty="0"/>
              <a:t>disjunction </a:t>
            </a:r>
            <a:r>
              <a:rPr lang="ru-RU" dirty="0"/>
              <a:t>должны работать </a:t>
            </a:r>
            <a:r>
              <a:rPr lang="en-US" dirty="0"/>
              <a:t>“</a:t>
            </a:r>
            <a:r>
              <a:rPr lang="ru-RU" dirty="0"/>
              <a:t>лениво</a:t>
            </a:r>
            <a:r>
              <a:rPr lang="en-US" dirty="0"/>
              <a:t>” – </a:t>
            </a:r>
            <a:r>
              <a:rPr lang="ru-RU" dirty="0" err="1"/>
              <a:t>инстанцировать</a:t>
            </a:r>
            <a:r>
              <a:rPr lang="ru-RU" dirty="0"/>
              <a:t> только то, что необходимо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345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405F-886B-4C50-87B3-3EC23A32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SFINAE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B63-7188-4F02-AB33-3152CD767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SFINAE – substitution failure is not an error</a:t>
            </a:r>
          </a:p>
          <a:p>
            <a:r>
              <a:rPr lang="ru-RU" dirty="0"/>
              <a:t>Если ошибка при подстановке типа в шаблонный параметр происходит при выборе перегрузки – то она не приводит к ошибке компиляции. Просто эта версия перегрузки не выбирается.</a:t>
            </a:r>
            <a:endParaRPr lang="en-US" dirty="0"/>
          </a:p>
          <a:p>
            <a:r>
              <a:rPr lang="ru-RU" dirty="0"/>
              <a:t>Эта ошибка может быть в трех местах</a:t>
            </a:r>
            <a:r>
              <a:rPr lang="en-US" dirty="0"/>
              <a:t>: </a:t>
            </a:r>
            <a:endParaRPr lang="ru-RU" dirty="0"/>
          </a:p>
          <a:p>
            <a:pPr lvl="1"/>
            <a:r>
              <a:rPr lang="ru-RU" dirty="0"/>
              <a:t>в типе возвращаемого значения</a:t>
            </a:r>
          </a:p>
          <a:p>
            <a:pPr lvl="1"/>
            <a:r>
              <a:rPr lang="ru-RU" dirty="0"/>
              <a:t>в типе аргумента функции</a:t>
            </a:r>
          </a:p>
          <a:p>
            <a:pPr lvl="1"/>
            <a:r>
              <a:rPr lang="ru-RU" dirty="0"/>
              <a:t>в шаблонных параметрах</a:t>
            </a:r>
          </a:p>
          <a:p>
            <a:r>
              <a:rPr lang="ru-RU" dirty="0"/>
              <a:t>Но </a:t>
            </a:r>
            <a:r>
              <a:rPr lang="ru-RU" b="1" dirty="0"/>
              <a:t>НЕ</a:t>
            </a:r>
            <a:r>
              <a:rPr lang="ru-RU" dirty="0"/>
              <a:t> может быть в теле функции!</a:t>
            </a:r>
          </a:p>
        </p:txBody>
      </p:sp>
    </p:spTree>
    <p:extLst>
      <p:ext uri="{BB962C8B-B14F-4D97-AF65-F5344CB8AC3E}">
        <p14:creationId xmlns:p14="http://schemas.microsoft.com/office/powerpoint/2010/main" val="2409520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15501</TotalTime>
  <Words>347</Words>
  <Application>Microsoft Office PowerPoint</Application>
  <DocSecurity>0</DocSecurity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Семинар №11  Метапрограммирование</vt:lpstr>
      <vt:lpstr>Мотивация</vt:lpstr>
      <vt:lpstr>Explicit</vt:lpstr>
      <vt:lpstr>Явное инстанцирование шаблонов</vt:lpstr>
      <vt:lpstr>“Кирпичики” для метапрограммировния</vt:lpstr>
      <vt:lpstr>SFINAE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sem_9</dc:title>
  <dc:subject/>
  <dc:creator>Konstantin Dragun</dc:creator>
  <cp:keywords/>
  <dc:description/>
  <cp:lastModifiedBy>Konstantin Dragun</cp:lastModifiedBy>
  <cp:revision>122</cp:revision>
  <dcterms:created xsi:type="dcterms:W3CDTF">2012-12-03T06:56:55Z</dcterms:created>
  <dcterms:modified xsi:type="dcterms:W3CDTF">2025-04-23T07:58:21Z</dcterms:modified>
  <cp:category/>
  <dc:identifier/>
  <cp:contentStatus/>
  <dc:language/>
  <cp:version/>
</cp:coreProperties>
</file>