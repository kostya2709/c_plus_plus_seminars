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0" r:id="rId5"/>
    <p:sldId id="261" r:id="rId6"/>
    <p:sldId id="262" r:id="rId7"/>
    <p:sldId id="263" r:id="rId8"/>
    <p:sldId id="265" r:id="rId9"/>
    <p:sldId id="264" r:id="rId10"/>
    <p:sldId id="259" r:id="rId11"/>
    <p:sldId id="258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new" TargetMode="External"/><Relationship Id="rId2" Type="http://schemas.openxmlformats.org/officeDocument/2006/relationships/hyperlink" Target="https://en.cppreference.com/w/cpp/memory/new/operator_ne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cppreference.com/w/cpp/language/delete" TargetMode="External"/><Relationship Id="rId4" Type="http://schemas.openxmlformats.org/officeDocument/2006/relationships/hyperlink" Target="https://en.cppreference.com/w/cpp/memory/new/operator_dele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5</a:t>
            </a:r>
            <a:br>
              <a:rPr lang="en-US" dirty="0"/>
            </a:br>
            <a:br>
              <a:rPr lang="ru-RU" dirty="0"/>
            </a:br>
            <a:r>
              <a:rPr lang="ru-RU" dirty="0"/>
              <a:t>Перегрузка оператора </a:t>
            </a:r>
            <a:r>
              <a:rPr lang="en-US" dirty="0"/>
              <a:t>new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51EA-8D35-42D3-997E-23324711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</a:t>
            </a:r>
            <a:r>
              <a:rPr lang="en-US" dirty="0"/>
              <a:t>new </a:t>
            </a:r>
            <a:r>
              <a:rPr lang="ru-RU" dirty="0"/>
              <a:t>и </a:t>
            </a:r>
            <a:r>
              <a:rPr lang="en-US" dirty="0"/>
              <a:t>delete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507E-889C-43E5-B970-CBAB7BE36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825624"/>
            <a:ext cx="11377264" cy="4843735"/>
          </a:xfrm>
        </p:spPr>
        <p:txBody>
          <a:bodyPr>
            <a:normAutofit/>
          </a:bodyPr>
          <a:lstStyle/>
          <a:p>
            <a:r>
              <a:rPr lang="ru-RU" dirty="0"/>
              <a:t>Состоят из двух частей</a:t>
            </a:r>
            <a:r>
              <a:rPr lang="en-US" dirty="0"/>
              <a:t>: </a:t>
            </a:r>
            <a:r>
              <a:rPr lang="ru-RU" dirty="0"/>
              <a:t>работа с памятью и вызов конструктора</a:t>
            </a:r>
            <a:r>
              <a:rPr lang="en-US" dirty="0"/>
              <a:t>/</a:t>
            </a:r>
            <a:r>
              <a:rPr lang="ru-RU" dirty="0"/>
              <a:t>деструктора</a:t>
            </a:r>
            <a:endParaRPr lang="en-US" dirty="0"/>
          </a:p>
          <a:p>
            <a:r>
              <a:rPr lang="en-US" dirty="0"/>
              <a:t>new expression = function “operator new” + constructor</a:t>
            </a:r>
          </a:p>
          <a:p>
            <a:r>
              <a:rPr lang="en-US" dirty="0"/>
              <a:t>delete expression = destructor + function “operator delete”</a:t>
            </a:r>
          </a:p>
          <a:p>
            <a:r>
              <a:rPr lang="en-US" dirty="0"/>
              <a:t>new[ ] </a:t>
            </a:r>
            <a:r>
              <a:rPr lang="ru-RU" dirty="0"/>
              <a:t>и </a:t>
            </a:r>
            <a:r>
              <a:rPr lang="en-US" dirty="0"/>
              <a:t>delete[ ] – </a:t>
            </a:r>
            <a:r>
              <a:rPr lang="ru-RU" dirty="0"/>
              <a:t>аналогично, но вызов конструктора</a:t>
            </a:r>
            <a:r>
              <a:rPr lang="en-US" dirty="0"/>
              <a:t>/</a:t>
            </a:r>
            <a:r>
              <a:rPr lang="ru-RU" dirty="0"/>
              <a:t>деструктора на каждый элемент</a:t>
            </a:r>
          </a:p>
        </p:txBody>
      </p:sp>
    </p:spTree>
    <p:extLst>
      <p:ext uri="{BB962C8B-B14F-4D97-AF65-F5344CB8AC3E}">
        <p14:creationId xmlns:p14="http://schemas.microsoft.com/office/powerpoint/2010/main" val="212667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9CC6-3F7A-496B-97A2-FBDDF24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new/delete </a:t>
            </a:r>
            <a:r>
              <a:rPr lang="ru-RU" dirty="0"/>
              <a:t>с </a:t>
            </a:r>
            <a:r>
              <a:rPr lang="ru-RU" dirty="0" err="1"/>
              <a:t>кастомными</a:t>
            </a:r>
            <a:r>
              <a:rPr lang="ru-RU" dirty="0"/>
              <a:t> параметрами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316B-F41A-494A-8BEA-EC3152813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void* operator new(</a:t>
            </a:r>
            <a:r>
              <a:rPr lang="en-US" dirty="0" err="1"/>
              <a:t>size_t</a:t>
            </a:r>
            <a:r>
              <a:rPr lang="en-US" dirty="0"/>
              <a:t> n, int x, char c)</a:t>
            </a:r>
          </a:p>
          <a:p>
            <a:r>
              <a:rPr lang="en-US" dirty="0"/>
              <a:t>new (5, ‘a’) int(10);</a:t>
            </a:r>
          </a:p>
          <a:p>
            <a:endParaRPr lang="en-US" dirty="0"/>
          </a:p>
          <a:p>
            <a:r>
              <a:rPr lang="en-US" dirty="0"/>
              <a:t>void operator delete(void* </a:t>
            </a:r>
            <a:r>
              <a:rPr lang="en-US" dirty="0" err="1"/>
              <a:t>ptr</a:t>
            </a:r>
            <a:r>
              <a:rPr lang="en-US" dirty="0"/>
              <a:t>, int x, char c)</a:t>
            </a:r>
          </a:p>
          <a:p>
            <a:r>
              <a:rPr lang="en-US" dirty="0"/>
              <a:t>operator delete(</a:t>
            </a:r>
            <a:r>
              <a:rPr lang="en-US" dirty="0" err="1"/>
              <a:t>ptr</a:t>
            </a:r>
            <a:r>
              <a:rPr lang="en-US" dirty="0"/>
              <a:t>, 12, ‘b’);</a:t>
            </a:r>
          </a:p>
          <a:p>
            <a:endParaRPr lang="en-US" dirty="0"/>
          </a:p>
          <a:p>
            <a:r>
              <a:rPr lang="ru-RU" dirty="0"/>
              <a:t>Типы параметров должны совпадать при </a:t>
            </a:r>
            <a:r>
              <a:rPr lang="ru-RU" dirty="0" err="1"/>
              <a:t>аллокации</a:t>
            </a:r>
            <a:r>
              <a:rPr lang="en-US" dirty="0"/>
              <a:t>/</a:t>
            </a:r>
            <a:r>
              <a:rPr lang="ru-RU" dirty="0" err="1"/>
              <a:t>деаллокации</a:t>
            </a:r>
            <a:endParaRPr lang="en-US" dirty="0"/>
          </a:p>
          <a:p>
            <a:r>
              <a:rPr lang="ru-RU" dirty="0"/>
              <a:t>Если в конструкторе кидается исключение, то вызывается нужный </a:t>
            </a:r>
            <a:r>
              <a:rPr lang="en-US" dirty="0"/>
              <a:t>delete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18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D426-F63C-4898-B425-A8E1AB94F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new[]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451F4-47B9-4131-A8BD-99BEF0AD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типов с нетривиальным деструктором в начало </a:t>
            </a:r>
            <a:r>
              <a:rPr lang="ru-RU" dirty="0" err="1"/>
              <a:t>аллоцированной</a:t>
            </a:r>
            <a:r>
              <a:rPr lang="ru-RU" dirty="0"/>
              <a:t> памяти кладётся количество элементов</a:t>
            </a:r>
          </a:p>
          <a:p>
            <a:r>
              <a:rPr lang="ru-RU" dirty="0"/>
              <a:t>Пользователю выдается указатель, сдвинутый на размер </a:t>
            </a:r>
            <a:r>
              <a:rPr lang="en-US" dirty="0" err="1"/>
              <a:t>size_t</a:t>
            </a:r>
            <a:r>
              <a:rPr lang="en-US" dirty="0"/>
              <a:t> (</a:t>
            </a:r>
            <a:r>
              <a:rPr lang="ru-RU" dirty="0"/>
              <a:t>скорее всего 8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Запрашивается на 8 байт больше, чем нужно для пользовательских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78226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1DBD-AADA-4AD6-A7C9-C327CF36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placement new expression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27B2-99DB-46C6-B5D5-B3CBFA298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Function “operator new”: Performs no action and returns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DejaVuSans"/>
              </a:rPr>
              <a:t>ptr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 unmodified</a:t>
            </a:r>
          </a:p>
          <a:p>
            <a:r>
              <a:rPr lang="ru-RU" dirty="0"/>
              <a:t>То есть, память не выделяется, только вызывается конструктор по указателю</a:t>
            </a:r>
            <a:endParaRPr lang="en-US" dirty="0"/>
          </a:p>
          <a:p>
            <a:r>
              <a:rPr lang="ru-RU" dirty="0"/>
              <a:t>Может быть полезно для отложенного создания объектов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38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E6EA-1F68-44AA-A7D5-E7A99B3A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Class-specific overloads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19E7-DFB8-49ED-B8C1-ACDFE5E9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996"/>
            <a:ext cx="11090448" cy="4351338"/>
          </a:xfrm>
        </p:spPr>
        <p:txBody>
          <a:bodyPr/>
          <a:lstStyle/>
          <a:p>
            <a:r>
              <a:rPr lang="ru-RU" dirty="0"/>
              <a:t>Можно определить функцию оператор </a:t>
            </a:r>
            <a:r>
              <a:rPr lang="en-US" dirty="0"/>
              <a:t>new/new[ ]/delete/delete[ ] </a:t>
            </a:r>
            <a:r>
              <a:rPr lang="ru-RU" dirty="0"/>
              <a:t>для конкретного класса</a:t>
            </a:r>
          </a:p>
          <a:p>
            <a:r>
              <a:rPr lang="ru-RU" dirty="0"/>
              <a:t>Функция в любом случае статическая – можно не писать </a:t>
            </a:r>
            <a:r>
              <a:rPr lang="en-US" dirty="0"/>
              <a:t>static</a:t>
            </a:r>
          </a:p>
          <a:p>
            <a:r>
              <a:rPr lang="ru-RU" dirty="0"/>
              <a:t>Можно вызвать глобальный </a:t>
            </a:r>
            <a:r>
              <a:rPr lang="en-US" dirty="0"/>
              <a:t>new</a:t>
            </a:r>
            <a:r>
              <a:rPr lang="ru-RU" dirty="0"/>
              <a:t>, даже если есть функция для конкретного класса - </a:t>
            </a:r>
            <a:r>
              <a:rPr lang="en-US" dirty="0"/>
              <a:t>::new/::delete/…</a:t>
            </a:r>
          </a:p>
          <a:p>
            <a:r>
              <a:rPr lang="ru-RU" dirty="0"/>
              <a:t>Более частное (статическая функция для класса) предпочтительнее общего (глобальной функции)</a:t>
            </a:r>
            <a:endParaRPr lang="en-US" dirty="0"/>
          </a:p>
          <a:p>
            <a:r>
              <a:rPr lang="en-US" dirty="0"/>
              <a:t>placement </a:t>
            </a:r>
            <a:r>
              <a:rPr lang="ru-RU" dirty="0"/>
              <a:t>формы тоже можно определять для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221666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9222-528B-4022-8943-1A61D7AF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new_handler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C8F1-E6A6-4FDD-A8E3-413744504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не получилось выделить память, вызывается функция </a:t>
            </a:r>
            <a:r>
              <a:rPr lang="en-US" dirty="0"/>
              <a:t>std::</a:t>
            </a:r>
            <a:r>
              <a:rPr lang="en-US" dirty="0" err="1"/>
              <a:t>new_handler</a:t>
            </a:r>
            <a:endParaRPr lang="en-US" dirty="0"/>
          </a:p>
          <a:p>
            <a:r>
              <a:rPr lang="ru-RU" dirty="0"/>
              <a:t>Работа с ней через </a:t>
            </a:r>
            <a:r>
              <a:rPr lang="en-US" dirty="0"/>
              <a:t>getter/setter std::</a:t>
            </a:r>
            <a:r>
              <a:rPr lang="en-US" dirty="0" err="1"/>
              <a:t>get_new_handler</a:t>
            </a:r>
            <a:r>
              <a:rPr lang="en-US" dirty="0"/>
              <a:t> / std::</a:t>
            </a:r>
            <a:r>
              <a:rPr lang="en-US" dirty="0" err="1"/>
              <a:t>set_new_handler</a:t>
            </a:r>
            <a:endParaRPr lang="en-US" dirty="0"/>
          </a:p>
          <a:p>
            <a:r>
              <a:rPr lang="ru-RU" dirty="0"/>
              <a:t>Если вызов </a:t>
            </a:r>
            <a:r>
              <a:rPr lang="en-US" dirty="0"/>
              <a:t>handler-</a:t>
            </a:r>
            <a:r>
              <a:rPr lang="ru-RU" dirty="0"/>
              <a:t>а завершается, попытка выделить память повторяется</a:t>
            </a:r>
            <a:endParaRPr lang="en-US" dirty="0"/>
          </a:p>
          <a:p>
            <a:r>
              <a:rPr lang="ru-RU" dirty="0"/>
              <a:t>Если указатель на функцию – </a:t>
            </a:r>
            <a:r>
              <a:rPr lang="en-US" dirty="0" err="1"/>
              <a:t>nullptr</a:t>
            </a:r>
            <a:r>
              <a:rPr lang="en-US" dirty="0"/>
              <a:t>, </a:t>
            </a:r>
            <a:r>
              <a:rPr lang="ru-RU" dirty="0"/>
              <a:t>кидается исключение</a:t>
            </a:r>
          </a:p>
          <a:p>
            <a:r>
              <a:rPr lang="ru-RU" dirty="0"/>
              <a:t>По умолчанию </a:t>
            </a:r>
            <a:r>
              <a:rPr lang="en-US" dirty="0"/>
              <a:t>handler – </a:t>
            </a:r>
            <a:r>
              <a:rPr lang="en-US" dirty="0" err="1"/>
              <a:t>nullptr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324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47BD-C1A6-4510-8643-657C0488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Выравнивание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4DE8-8AF7-4D4C-A50D-E59D84A4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нарушить выравнивание, то замедление или </a:t>
            </a:r>
            <a:r>
              <a:rPr lang="en-US" dirty="0"/>
              <a:t>RE</a:t>
            </a:r>
          </a:p>
          <a:p>
            <a:r>
              <a:rPr lang="ru-RU" dirty="0"/>
              <a:t>Можно отловить с помощью </a:t>
            </a:r>
            <a:r>
              <a:rPr lang="en-US" dirty="0"/>
              <a:t>undefined sanitizer</a:t>
            </a:r>
          </a:p>
          <a:p>
            <a:r>
              <a:rPr lang="en-US" dirty="0"/>
              <a:t>std::align – </a:t>
            </a:r>
            <a:r>
              <a:rPr lang="ru-RU" dirty="0"/>
              <a:t>возвращает ближайший выравненный адрес</a:t>
            </a:r>
          </a:p>
          <a:p>
            <a:r>
              <a:rPr lang="en-US" dirty="0"/>
              <a:t>std::</a:t>
            </a:r>
            <a:r>
              <a:rPr lang="en-US" dirty="0" err="1"/>
              <a:t>aligned_alloc</a:t>
            </a:r>
            <a:r>
              <a:rPr lang="en-US" dirty="0"/>
              <a:t> – </a:t>
            </a:r>
            <a:r>
              <a:rPr lang="ru-RU" dirty="0"/>
              <a:t>выделяет память</a:t>
            </a:r>
            <a:r>
              <a:rPr lang="en-US" dirty="0"/>
              <a:t> (</a:t>
            </a:r>
            <a:r>
              <a:rPr lang="ru-RU" dirty="0"/>
              <a:t>как </a:t>
            </a:r>
            <a:r>
              <a:rPr lang="en-US" dirty="0"/>
              <a:t>malloc)</a:t>
            </a:r>
            <a:r>
              <a:rPr lang="ru-RU" dirty="0"/>
              <a:t> с заданным выравниванием</a:t>
            </a:r>
            <a:endParaRPr lang="en-US" dirty="0"/>
          </a:p>
          <a:p>
            <a:r>
              <a:rPr lang="en-US" dirty="0"/>
              <a:t>new </a:t>
            </a:r>
            <a:r>
              <a:rPr lang="ru-RU" dirty="0"/>
              <a:t>выделяет всегда по </a:t>
            </a:r>
            <a:r>
              <a:rPr lang="en-US" dirty="0" err="1"/>
              <a:t>max_align_t</a:t>
            </a:r>
            <a:endParaRPr lang="en-US" dirty="0"/>
          </a:p>
          <a:p>
            <a:r>
              <a:rPr lang="ru-RU" dirty="0"/>
              <a:t>Выравнивание больше стандартного может быть нужно для </a:t>
            </a:r>
            <a:r>
              <a:rPr lang="en-US" dirty="0"/>
              <a:t>SSE</a:t>
            </a:r>
            <a:r>
              <a:rPr lang="ru-RU" dirty="0"/>
              <a:t> регистров, кэш-линий, постраничных выравниваний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835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2EEC-F788-4EFC-8FF6-EEEBCF1B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поля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B37F-861A-4C6E-946D-FF23A6807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Можно указать, сколько бит занимает поле</a:t>
            </a:r>
          </a:p>
          <a:p>
            <a:r>
              <a:rPr lang="ru-RU" dirty="0"/>
              <a:t>Может быть без имени поля, тогда будет </a:t>
            </a:r>
            <a:r>
              <a:rPr lang="ru-RU" dirty="0" err="1"/>
              <a:t>паддинг</a:t>
            </a:r>
            <a:endParaRPr lang="ru-RU" dirty="0"/>
          </a:p>
          <a:p>
            <a:r>
              <a:rPr lang="ru-RU" dirty="0"/>
              <a:t>Допустимые типы – </a:t>
            </a:r>
            <a:r>
              <a:rPr lang="en-US" dirty="0"/>
              <a:t>int/unsigned int/signed int</a:t>
            </a:r>
          </a:p>
          <a:p>
            <a:r>
              <a:rPr lang="ru-RU" dirty="0"/>
              <a:t>Нельзя получить адрес такого поля</a:t>
            </a:r>
          </a:p>
          <a:p>
            <a:r>
              <a:rPr lang="ru-RU" dirty="0"/>
              <a:t>Не существуют указатели на член класса </a:t>
            </a:r>
          </a:p>
          <a:p>
            <a:r>
              <a:rPr lang="ru-RU" dirty="0"/>
              <a:t>Выравнивание – </a:t>
            </a:r>
            <a:r>
              <a:rPr lang="en-US" dirty="0"/>
              <a:t>unspecified</a:t>
            </a:r>
          </a:p>
          <a:p>
            <a:r>
              <a:rPr lang="ru-RU" dirty="0"/>
              <a:t>Порядок упаковки – </a:t>
            </a:r>
            <a:r>
              <a:rPr lang="en-US" dirty="0"/>
              <a:t>UB</a:t>
            </a:r>
          </a:p>
          <a:p>
            <a:r>
              <a:rPr lang="ru-RU" dirty="0"/>
              <a:t>Битовое поле без имени размера 0 – добивают до границы байта  </a:t>
            </a:r>
          </a:p>
        </p:txBody>
      </p:sp>
    </p:spTree>
    <p:extLst>
      <p:ext uri="{BB962C8B-B14F-4D97-AF65-F5344CB8AC3E}">
        <p14:creationId xmlns:p14="http://schemas.microsoft.com/office/powerpoint/2010/main" val="353859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2E6A-C2BB-4997-9EED-8DBDF068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N.B.!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CA71-C38B-46CB-B472-396C04E35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перепутались вызовы </a:t>
            </a:r>
            <a:r>
              <a:rPr lang="en-US" dirty="0"/>
              <a:t>new/delete </a:t>
            </a:r>
            <a:r>
              <a:rPr lang="ru-RU" dirty="0"/>
              <a:t>со скобками и без – </a:t>
            </a:r>
            <a:r>
              <a:rPr lang="en-US" dirty="0"/>
              <a:t>UB</a:t>
            </a:r>
          </a:p>
          <a:p>
            <a:r>
              <a:rPr lang="en-US" dirty="0"/>
              <a:t>delete </a:t>
            </a:r>
            <a:r>
              <a:rPr lang="en-US" dirty="0" err="1"/>
              <a:t>nullptr</a:t>
            </a:r>
            <a:r>
              <a:rPr lang="en-US" dirty="0"/>
              <a:t> – </a:t>
            </a:r>
            <a:r>
              <a:rPr lang="ru-RU" dirty="0"/>
              <a:t>ничего не происходит</a:t>
            </a:r>
            <a:r>
              <a:rPr lang="en-US" dirty="0"/>
              <a:t> (</a:t>
            </a:r>
            <a:r>
              <a:rPr lang="ru-RU" dirty="0"/>
              <a:t>деструктор не вызывается, </a:t>
            </a:r>
            <a:r>
              <a:rPr lang="en-US" dirty="0"/>
              <a:t>deallocation function – unspecified, </a:t>
            </a:r>
            <a:r>
              <a:rPr lang="ru-RU" dirty="0"/>
              <a:t>но по умолчанию она ничего не делает</a:t>
            </a:r>
            <a:r>
              <a:rPr lang="en-US" dirty="0"/>
              <a:t>)</a:t>
            </a:r>
          </a:p>
          <a:p>
            <a:r>
              <a:rPr lang="ru-RU" dirty="0"/>
              <a:t>При вызове деструктора с </a:t>
            </a:r>
            <a:r>
              <a:rPr lang="ru-RU" dirty="0" err="1"/>
              <a:t>кастомными</a:t>
            </a:r>
            <a:r>
              <a:rPr lang="ru-RU" dirty="0"/>
              <a:t> параметрами, нужно вызывать деструктор с такими же параметрами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120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66EC-FF32-473B-AAC6-119D3190E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FC70F-7BE9-413F-B6AF-DC8DFF1DD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Operator</a:t>
            </a:r>
            <a:r>
              <a:rPr lang="ru-RU" dirty="0">
                <a:hlinkClick r:id="rId2"/>
              </a:rPr>
              <a:t> </a:t>
            </a:r>
            <a:r>
              <a:rPr lang="en-US" dirty="0">
                <a:hlinkClick r:id="rId2"/>
              </a:rPr>
              <a:t>new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new expression</a:t>
            </a:r>
            <a:endParaRPr lang="en-US" dirty="0"/>
          </a:p>
          <a:p>
            <a:r>
              <a:rPr lang="en-US" dirty="0">
                <a:hlinkClick r:id="rId4"/>
              </a:rPr>
              <a:t>Operator delete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delete expression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36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527</Words>
  <Application>Microsoft Office PowerPoint</Application>
  <DocSecurity>0</DocSecurity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DejaVuSans</vt:lpstr>
      <vt:lpstr>Office Theme</vt:lpstr>
      <vt:lpstr>Семинар №5  Перегрузка оператора new</vt:lpstr>
      <vt:lpstr>Операторы new и delete</vt:lpstr>
      <vt:lpstr>new/delete с кастомными параметрами</vt:lpstr>
      <vt:lpstr>operator new[]</vt:lpstr>
      <vt:lpstr>placement new expression</vt:lpstr>
      <vt:lpstr>Class-specific overloads</vt:lpstr>
      <vt:lpstr>new_handler</vt:lpstr>
      <vt:lpstr>Выравнивание</vt:lpstr>
      <vt:lpstr>Битовые поля</vt:lpstr>
      <vt:lpstr>N.B.!</vt:lpstr>
      <vt:lpstr>Что почитать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/>
  <cp:keywords/>
  <dc:description/>
  <cp:lastModifiedBy>Konstantin Dragun</cp:lastModifiedBy>
  <cp:revision>28</cp:revision>
  <dcterms:created xsi:type="dcterms:W3CDTF">2012-12-03T06:56:55Z</dcterms:created>
  <dcterms:modified xsi:type="dcterms:W3CDTF">2025-03-12T00:59:54Z</dcterms:modified>
  <cp:category/>
  <dc:identifier/>
  <cp:contentStatus/>
  <dc:language/>
  <cp:version/>
</cp:coreProperties>
</file>