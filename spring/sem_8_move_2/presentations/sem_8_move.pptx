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71" r:id="rId9"/>
    <p:sldId id="269" r:id="rId10"/>
    <p:sldId id="270" r:id="rId11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stantin Dragun" initials="KD" lastIdx="1" clrIdx="0">
    <p:extLst>
      <p:ext uri="{19B8F6BF-5375-455C-9EA6-DF929625EA0E}">
        <p15:presenceInfo xmlns:p15="http://schemas.microsoft.com/office/powerpoint/2012/main" userId="Konstantin Dragu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>
      <p:cViewPr varScale="1">
        <p:scale>
          <a:sx n="67" d="100"/>
          <a:sy n="67" d="100"/>
        </p:scale>
        <p:origin x="56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02.04.2025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02.04.2025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02.04.2025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02.04.2025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02.04.2025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02.04.2025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02.04.2025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02.04.2025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language/copy_elision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334892" y="1700892"/>
            <a:ext cx="9333106" cy="3002869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Семинар №</a:t>
            </a:r>
            <a:r>
              <a:rPr lang="en-US" dirty="0"/>
              <a:t>8</a:t>
            </a:r>
            <a:br>
              <a:rPr lang="en-US" dirty="0"/>
            </a:br>
            <a:br>
              <a:rPr lang="ru-RU" dirty="0"/>
            </a:br>
            <a:r>
              <a:rPr lang="en-US" dirty="0"/>
              <a:t>Move-</a:t>
            </a:r>
            <a:r>
              <a:rPr lang="ru-RU" dirty="0"/>
              <a:t>семантика</a:t>
            </a:r>
            <a:r>
              <a:rPr lang="en-US" dirty="0"/>
              <a:t>.</a:t>
            </a:r>
            <a:br>
              <a:rPr lang="en-US" dirty="0"/>
            </a:br>
            <a:r>
              <a:rPr lang="ru-RU" dirty="0"/>
              <a:t>Продолжение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6DEA-8D46-48E0-BBF8-E535229BB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59"/>
            <a:ext cx="10515600" cy="1325563"/>
          </a:xfrm>
        </p:spPr>
        <p:txBody>
          <a:bodyPr/>
          <a:lstStyle/>
          <a:p>
            <a:r>
              <a:rPr lang="ru-RU" dirty="0"/>
              <a:t>Передача объекта дальше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1B7F7-F7D1-467A-BB20-10F1DCA7F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776"/>
            <a:ext cx="10730408" cy="4752528"/>
          </a:xfrm>
        </p:spPr>
        <p:txBody>
          <a:bodyPr>
            <a:normAutofit/>
          </a:bodyPr>
          <a:lstStyle/>
          <a:p>
            <a:r>
              <a:rPr lang="ru-RU" dirty="0"/>
              <a:t>Мы умеем делаем перегрузку, разделяя </a:t>
            </a:r>
            <a:r>
              <a:rPr lang="en-US" dirty="0"/>
              <a:t>const T&amp;/T&amp;&amp;</a:t>
            </a:r>
          </a:p>
          <a:p>
            <a:r>
              <a:rPr lang="ru-RU" dirty="0"/>
              <a:t>Также часто тело перегружаемых функции одинаково с точность до </a:t>
            </a:r>
            <a:r>
              <a:rPr lang="en-US" dirty="0"/>
              <a:t>std::move</a:t>
            </a:r>
          </a:p>
          <a:p>
            <a:r>
              <a:rPr lang="ru-RU" dirty="0"/>
              <a:t>Есть ли способ объединить две перегрузки в одну?</a:t>
            </a:r>
          </a:p>
          <a:p>
            <a:r>
              <a:rPr lang="ru-RU" dirty="0"/>
              <a:t>Особенно остро стоит проблема с </a:t>
            </a:r>
            <a:r>
              <a:rPr lang="en-US" dirty="0"/>
              <a:t>variadic templates </a:t>
            </a:r>
            <a:r>
              <a:rPr lang="ru-RU" dirty="0"/>
              <a:t>в качестве аргументов</a:t>
            </a:r>
            <a:r>
              <a:rPr lang="en-US" dirty="0"/>
              <a:t>, </a:t>
            </a:r>
            <a:r>
              <a:rPr lang="ru-RU" dirty="0"/>
              <a:t>потому что каждый аргумент может передаваться по </a:t>
            </a:r>
            <a:r>
              <a:rPr lang="en-US" dirty="0"/>
              <a:t>const T&amp; </a:t>
            </a:r>
            <a:r>
              <a:rPr lang="ru-RU" dirty="0"/>
              <a:t>или по </a:t>
            </a:r>
            <a:r>
              <a:rPr lang="en-US" dirty="0"/>
              <a:t>T&amp;&amp;</a:t>
            </a:r>
            <a:r>
              <a:rPr lang="ru-RU" dirty="0"/>
              <a:t> (например, для методов </a:t>
            </a:r>
            <a:r>
              <a:rPr lang="en-US" dirty="0"/>
              <a:t>emplace</a:t>
            </a:r>
            <a:r>
              <a:rPr lang="ru-RU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24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0134-F00A-4C8E-9B47-58B1625C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std::forward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65484-5EC4-47CC-8D2C-566214CD4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Принимаем аргументы с помощью </a:t>
            </a:r>
            <a:r>
              <a:rPr lang="en-US" dirty="0" err="1"/>
              <a:t>Args</a:t>
            </a:r>
            <a:r>
              <a:rPr lang="en-US" dirty="0"/>
              <a:t>&amp;&amp;, </a:t>
            </a:r>
            <a:r>
              <a:rPr lang="ru-RU" dirty="0"/>
              <a:t>где </a:t>
            </a:r>
            <a:r>
              <a:rPr lang="en-US" dirty="0" err="1"/>
              <a:t>Args</a:t>
            </a:r>
            <a:r>
              <a:rPr lang="en-US" dirty="0"/>
              <a:t> – </a:t>
            </a:r>
            <a:r>
              <a:rPr lang="ru-RU" dirty="0"/>
              <a:t>шаблонный параметр функции </a:t>
            </a:r>
            <a:r>
              <a:rPr lang="en-US" dirty="0"/>
              <a:t>/ </a:t>
            </a:r>
            <a:r>
              <a:rPr lang="ru-RU" dirty="0"/>
              <a:t>метода</a:t>
            </a:r>
            <a:endParaRPr lang="en-US" dirty="0"/>
          </a:p>
          <a:p>
            <a:r>
              <a:rPr lang="ru-RU" dirty="0"/>
              <a:t>Передаем аргументы с помощью </a:t>
            </a:r>
            <a:r>
              <a:rPr lang="en-US" dirty="0"/>
              <a:t>std::forward&lt;</a:t>
            </a:r>
            <a:r>
              <a:rPr lang="en-US" dirty="0" err="1"/>
              <a:t>Args</a:t>
            </a:r>
            <a:r>
              <a:rPr lang="en-US" dirty="0"/>
              <a:t>&gt;(</a:t>
            </a:r>
            <a:r>
              <a:rPr lang="en-US" dirty="0" err="1"/>
              <a:t>args</a:t>
            </a:r>
            <a:r>
              <a:rPr lang="en-US" dirty="0"/>
              <a:t>)…</a:t>
            </a:r>
          </a:p>
          <a:p>
            <a:r>
              <a:rPr lang="ru-RU" dirty="0"/>
              <a:t>Сохраняется </a:t>
            </a:r>
            <a:r>
              <a:rPr lang="en-US" dirty="0"/>
              <a:t>“</a:t>
            </a:r>
            <a:r>
              <a:rPr lang="ru-RU" dirty="0"/>
              <a:t>нужный</a:t>
            </a:r>
            <a:r>
              <a:rPr lang="en-US" dirty="0"/>
              <a:t>”</a:t>
            </a:r>
            <a:r>
              <a:rPr lang="ru-RU" dirty="0"/>
              <a:t> вид ссылки (</a:t>
            </a:r>
            <a:r>
              <a:rPr lang="en-US" dirty="0" err="1"/>
              <a:t>lvalue</a:t>
            </a:r>
            <a:r>
              <a:rPr lang="en-US" dirty="0"/>
              <a:t>, </a:t>
            </a:r>
            <a:r>
              <a:rPr lang="en-US" dirty="0" err="1"/>
              <a:t>rvalue</a:t>
            </a:r>
            <a:r>
              <a:rPr lang="ru-RU" dirty="0"/>
              <a:t>)</a:t>
            </a:r>
            <a:r>
              <a:rPr lang="en-US" dirty="0"/>
              <a:t>, </a:t>
            </a:r>
            <a:r>
              <a:rPr lang="ru-RU" dirty="0"/>
              <a:t>то есть тот, который был при вызове внешней функции</a:t>
            </a:r>
            <a:endParaRPr lang="en-US" dirty="0"/>
          </a:p>
          <a:p>
            <a:r>
              <a:rPr lang="ru-RU" dirty="0"/>
              <a:t>Но как мы можем принимать </a:t>
            </a:r>
            <a:r>
              <a:rPr lang="en-US" dirty="0" err="1"/>
              <a:t>lvalue</a:t>
            </a:r>
            <a:r>
              <a:rPr lang="en-US" dirty="0"/>
              <a:t>, </a:t>
            </a:r>
            <a:r>
              <a:rPr lang="ru-RU" dirty="0"/>
              <a:t>если имеем </a:t>
            </a:r>
            <a:r>
              <a:rPr lang="en-US" dirty="0" err="1"/>
              <a:t>Args</a:t>
            </a:r>
            <a:r>
              <a:rPr lang="en-US" dirty="0"/>
              <a:t>&amp;&amp;?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6286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94E1F-AC14-426C-8426-FD26D521A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Универсальные ссылки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18E2D-B238-4DC5-AFE6-249C385F0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Ссылка </a:t>
            </a:r>
            <a:r>
              <a:rPr lang="en-US" dirty="0" err="1"/>
              <a:t>Args</a:t>
            </a:r>
            <a:r>
              <a:rPr lang="en-US" dirty="0"/>
              <a:t>&amp;&amp; </a:t>
            </a:r>
            <a:r>
              <a:rPr lang="ru-RU" dirty="0"/>
              <a:t>называется универсальной, если</a:t>
            </a:r>
          </a:p>
          <a:p>
            <a:pPr marL="0" indent="0">
              <a:buNone/>
            </a:pPr>
            <a:r>
              <a:rPr lang="ru-RU" dirty="0"/>
              <a:t>1) </a:t>
            </a:r>
            <a:r>
              <a:rPr lang="en-US" dirty="0" err="1"/>
              <a:t>Args</a:t>
            </a:r>
            <a:r>
              <a:rPr lang="en-US" dirty="0"/>
              <a:t> </a:t>
            </a:r>
            <a:r>
              <a:rPr lang="ru-RU" dirty="0"/>
              <a:t>является шаблонным параметром функции</a:t>
            </a:r>
            <a:r>
              <a:rPr lang="en-US" dirty="0"/>
              <a:t>/</a:t>
            </a:r>
            <a:r>
              <a:rPr lang="ru-RU" dirty="0"/>
              <a:t>метода (но не целого класса)</a:t>
            </a:r>
          </a:p>
          <a:p>
            <a:pPr marL="0" indent="0">
              <a:buNone/>
            </a:pPr>
            <a:r>
              <a:rPr lang="ru-RU" dirty="0"/>
              <a:t>2) Принимается аргумент </a:t>
            </a:r>
            <a:r>
              <a:rPr lang="ru-RU" b="1" dirty="0"/>
              <a:t>ровно</a:t>
            </a:r>
            <a:r>
              <a:rPr lang="ru-RU" dirty="0"/>
              <a:t> </a:t>
            </a:r>
            <a:r>
              <a:rPr lang="en-US" dirty="0" err="1"/>
              <a:t>Args</a:t>
            </a:r>
            <a:r>
              <a:rPr lang="en-US" dirty="0"/>
              <a:t>&amp;&amp;</a:t>
            </a:r>
            <a:r>
              <a:rPr lang="ru-RU" dirty="0"/>
              <a:t> (не </a:t>
            </a:r>
            <a:r>
              <a:rPr lang="en-US" dirty="0"/>
              <a:t>const </a:t>
            </a:r>
            <a:r>
              <a:rPr lang="en-US" dirty="0" err="1"/>
              <a:t>Args</a:t>
            </a:r>
            <a:r>
              <a:rPr lang="en-US" dirty="0"/>
              <a:t>&amp;&amp;, std::vector&lt;</a:t>
            </a:r>
            <a:r>
              <a:rPr lang="en-US" dirty="0" err="1"/>
              <a:t>Args</a:t>
            </a:r>
            <a:r>
              <a:rPr lang="en-US" dirty="0"/>
              <a:t>&amp;&amp;&gt;, …</a:t>
            </a:r>
            <a:r>
              <a:rPr lang="ru-RU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3) </a:t>
            </a:r>
            <a:r>
              <a:rPr lang="ru-RU" dirty="0"/>
              <a:t>Аргумент функции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Если тип шаблонного параметра указан явно, то правила вывода типов не применяются</a:t>
            </a:r>
          </a:p>
        </p:txBody>
      </p:sp>
    </p:spTree>
    <p:extLst>
      <p:ext uri="{BB962C8B-B14F-4D97-AF65-F5344CB8AC3E}">
        <p14:creationId xmlns:p14="http://schemas.microsoft.com/office/powerpoint/2010/main" val="1509286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3D3BA-235C-42D8-BCD6-DEE51417C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Type deduction 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без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универсальных ссылок, напоминание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DDE7C-DB72-4055-A6E1-0BCEAF551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8367"/>
            <a:ext cx="4021476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300" dirty="0" err="1"/>
              <a:t>template</a:t>
            </a:r>
            <a:r>
              <a:rPr lang="fr-FR" sz="2300" dirty="0"/>
              <a:t> &lt;</a:t>
            </a:r>
            <a:r>
              <a:rPr lang="fr-FR" sz="2300" dirty="0" err="1"/>
              <a:t>typename</a:t>
            </a:r>
            <a:r>
              <a:rPr lang="fr-FR" sz="2300" dirty="0"/>
              <a:t> </a:t>
            </a:r>
            <a:r>
              <a:rPr lang="fr-FR" sz="2300" dirty="0">
                <a:solidFill>
                  <a:srgbClr val="00B050"/>
                </a:solidFill>
              </a:rPr>
              <a:t>T</a:t>
            </a:r>
            <a:r>
              <a:rPr lang="fr-FR" sz="2300" dirty="0"/>
              <a:t>&gt;</a:t>
            </a:r>
          </a:p>
          <a:p>
            <a:pPr marL="0" indent="0">
              <a:buNone/>
            </a:pPr>
            <a:r>
              <a:rPr lang="fr-FR" sz="2300" dirty="0" err="1"/>
              <a:t>void</a:t>
            </a:r>
            <a:r>
              <a:rPr lang="fr-FR" sz="2300" dirty="0"/>
              <a:t> f(</a:t>
            </a:r>
            <a:r>
              <a:rPr lang="fr-FR" sz="2300" dirty="0" err="1">
                <a:solidFill>
                  <a:srgbClr val="00B050"/>
                </a:solidFill>
              </a:rPr>
              <a:t>ParamType</a:t>
            </a:r>
            <a:r>
              <a:rPr lang="fr-FR" sz="2300" dirty="0"/>
              <a:t> param); </a:t>
            </a:r>
          </a:p>
          <a:p>
            <a:pPr marL="0" indent="0">
              <a:buNone/>
            </a:pPr>
            <a:r>
              <a:rPr lang="fr-FR" sz="2300" dirty="0"/>
              <a:t>f(</a:t>
            </a:r>
            <a:r>
              <a:rPr lang="fr-FR" sz="2300" dirty="0" err="1">
                <a:solidFill>
                  <a:srgbClr val="00B050"/>
                </a:solidFill>
              </a:rPr>
              <a:t>expr</a:t>
            </a:r>
            <a:r>
              <a:rPr lang="fr-FR" sz="2300" dirty="0"/>
              <a:t>);</a:t>
            </a:r>
            <a:endParaRPr lang="ru-RU" sz="23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85391-9030-471B-B521-146F70764182}"/>
              </a:ext>
            </a:extLst>
          </p:cNvPr>
          <p:cNvSpPr txBox="1"/>
          <p:nvPr/>
        </p:nvSpPr>
        <p:spPr>
          <a:xfrm>
            <a:off x="6672064" y="1974797"/>
            <a:ext cx="4859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Типы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ParamType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 тип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expr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могут не совпадать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B99CE-BD33-4C0D-B095-3947CAAE1CA3}"/>
              </a:ext>
            </a:extLst>
          </p:cNvPr>
          <p:cNvSpPr txBox="1"/>
          <p:nvPr/>
        </p:nvSpPr>
        <p:spPr>
          <a:xfrm>
            <a:off x="660091" y="3452042"/>
            <a:ext cx="813576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dirty="0"/>
              <a:t>Если </a:t>
            </a:r>
            <a:r>
              <a:rPr lang="en-US" sz="2300" dirty="0" err="1"/>
              <a:t>ParamType</a:t>
            </a:r>
            <a:r>
              <a:rPr lang="en-US" sz="2300" dirty="0"/>
              <a:t> </a:t>
            </a:r>
            <a:r>
              <a:rPr lang="ru-RU" sz="2300" dirty="0"/>
              <a:t>является указателем или ссылкой</a:t>
            </a:r>
            <a:r>
              <a:rPr lang="en-US" sz="23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300" dirty="0"/>
              <a:t>Если тип </a:t>
            </a:r>
            <a:r>
              <a:rPr lang="en-US" sz="2300" dirty="0"/>
              <a:t>expr </a:t>
            </a:r>
            <a:r>
              <a:rPr lang="ru-RU" sz="2300" dirty="0"/>
              <a:t>это ссылка, игнорируем </a:t>
            </a:r>
            <a:r>
              <a:rPr lang="ru-RU" sz="2300" dirty="0" err="1"/>
              <a:t>ссылочность</a:t>
            </a:r>
            <a:endParaRPr lang="ru-RU" sz="2300" dirty="0"/>
          </a:p>
          <a:p>
            <a:pPr marL="342900" indent="-342900">
              <a:buFont typeface="+mj-lt"/>
              <a:buAutoNum type="arabicPeriod"/>
            </a:pPr>
            <a:r>
              <a:rPr lang="ru-RU" sz="2300" dirty="0"/>
              <a:t>Паттерн-</a:t>
            </a:r>
            <a:r>
              <a:rPr lang="ru-RU" sz="2300" dirty="0" err="1"/>
              <a:t>матчинг</a:t>
            </a:r>
            <a:r>
              <a:rPr lang="ru-RU" sz="2300" dirty="0"/>
              <a:t> типа </a:t>
            </a:r>
            <a:r>
              <a:rPr lang="en-US" sz="2300" dirty="0"/>
              <a:t>expr </a:t>
            </a:r>
            <a:r>
              <a:rPr lang="ru-RU" sz="2300" dirty="0"/>
              <a:t>в </a:t>
            </a:r>
            <a:r>
              <a:rPr lang="en-US" sz="2300" dirty="0" err="1"/>
              <a:t>ParamType</a:t>
            </a:r>
            <a:r>
              <a:rPr lang="en-US" sz="2300" dirty="0"/>
              <a:t> </a:t>
            </a:r>
            <a:r>
              <a:rPr lang="ru-RU" sz="2300" dirty="0"/>
              <a:t>для выяснения </a:t>
            </a:r>
            <a:r>
              <a:rPr lang="en-US" sz="2300" dirty="0"/>
              <a:t>T</a:t>
            </a:r>
            <a:endParaRPr lang="ru-RU" sz="2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68B63A-5A40-471A-99BC-4BAEE3ECAE08}"/>
              </a:ext>
            </a:extLst>
          </p:cNvPr>
          <p:cNvSpPr txBox="1"/>
          <p:nvPr/>
        </p:nvSpPr>
        <p:spPr>
          <a:xfrm>
            <a:off x="660091" y="5085538"/>
            <a:ext cx="1077622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dirty="0"/>
              <a:t>Если </a:t>
            </a:r>
            <a:r>
              <a:rPr lang="en-US" sz="2300" dirty="0" err="1"/>
              <a:t>ParamType</a:t>
            </a:r>
            <a:r>
              <a:rPr lang="en-US" sz="2300" dirty="0"/>
              <a:t> </a:t>
            </a:r>
            <a:r>
              <a:rPr lang="ru-RU" sz="2300" b="1" dirty="0"/>
              <a:t>не</a:t>
            </a:r>
            <a:r>
              <a:rPr lang="ru-RU" sz="2300" dirty="0"/>
              <a:t> является ни указателем, ни ссылкой</a:t>
            </a:r>
            <a:r>
              <a:rPr lang="en-US" sz="23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300" dirty="0"/>
              <a:t>Если тип </a:t>
            </a:r>
            <a:r>
              <a:rPr lang="en-US" sz="2300" dirty="0"/>
              <a:t>expr </a:t>
            </a:r>
            <a:r>
              <a:rPr lang="ru-RU" sz="2300" dirty="0"/>
              <a:t>это ссылка, игнорируем </a:t>
            </a:r>
            <a:r>
              <a:rPr lang="ru-RU" sz="2300" dirty="0" err="1"/>
              <a:t>ссылочность</a:t>
            </a:r>
            <a:r>
              <a:rPr lang="ru-RU" sz="2300" dirty="0"/>
              <a:t> (как и раньше)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300" dirty="0"/>
              <a:t>Игнорируем константность тоже (так как всё равно создаётся копия объекта)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8DB49-E5B2-4511-9548-5DFC0F831AD4}"/>
              </a:ext>
            </a:extLst>
          </p:cNvPr>
          <p:cNvSpPr txBox="1"/>
          <p:nvPr/>
        </p:nvSpPr>
        <p:spPr>
          <a:xfrm>
            <a:off x="8721313" y="188594"/>
            <a:ext cx="3468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Эффективный и современный </a:t>
            </a:r>
            <a:r>
              <a:rPr lang="en-US" dirty="0"/>
              <a:t>C++, </a:t>
            </a:r>
            <a:r>
              <a:rPr lang="ru-RU" dirty="0"/>
              <a:t>Глава 1, Вывод типов</a:t>
            </a:r>
          </a:p>
        </p:txBody>
      </p:sp>
    </p:spTree>
    <p:extLst>
      <p:ext uri="{BB962C8B-B14F-4D97-AF65-F5344CB8AC3E}">
        <p14:creationId xmlns:p14="http://schemas.microsoft.com/office/powerpoint/2010/main" val="1232476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3D3BA-235C-42D8-BCD6-DEE51417C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238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Type deduction 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с универсальными ссылками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DDE7C-DB72-4055-A6E1-0BCEAF551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935" y="1492526"/>
            <a:ext cx="4021476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 err="1"/>
              <a:t>template</a:t>
            </a:r>
            <a:r>
              <a:rPr lang="fr-FR" sz="2000" dirty="0"/>
              <a:t> &lt;</a:t>
            </a:r>
            <a:r>
              <a:rPr lang="fr-FR" sz="2000" dirty="0" err="1"/>
              <a:t>typename</a:t>
            </a:r>
            <a:r>
              <a:rPr lang="fr-FR" sz="2000" dirty="0"/>
              <a:t> </a:t>
            </a:r>
            <a:r>
              <a:rPr lang="fr-FR" sz="2000" dirty="0">
                <a:solidFill>
                  <a:srgbClr val="00B050"/>
                </a:solidFill>
              </a:rPr>
              <a:t>T</a:t>
            </a:r>
            <a:r>
              <a:rPr lang="fr-FR" sz="2000" dirty="0"/>
              <a:t>&gt;</a:t>
            </a:r>
          </a:p>
          <a:p>
            <a:pPr marL="0" indent="0">
              <a:buNone/>
            </a:pPr>
            <a:r>
              <a:rPr lang="fr-FR" sz="2000" dirty="0" err="1"/>
              <a:t>void</a:t>
            </a:r>
            <a:r>
              <a:rPr lang="fr-FR" sz="2000" dirty="0"/>
              <a:t> f(</a:t>
            </a:r>
            <a:r>
              <a:rPr lang="fr-FR" sz="2000" dirty="0" err="1">
                <a:solidFill>
                  <a:srgbClr val="00B050"/>
                </a:solidFill>
              </a:rPr>
              <a:t>ParamType</a:t>
            </a:r>
            <a:r>
              <a:rPr lang="fr-FR" sz="2000" dirty="0"/>
              <a:t> param); </a:t>
            </a:r>
          </a:p>
          <a:p>
            <a:pPr marL="0" indent="0">
              <a:buNone/>
            </a:pPr>
            <a:r>
              <a:rPr lang="fr-FR" sz="2000" dirty="0"/>
              <a:t>f(</a:t>
            </a:r>
            <a:r>
              <a:rPr lang="fr-FR" sz="2000" dirty="0" err="1">
                <a:solidFill>
                  <a:srgbClr val="00B050"/>
                </a:solidFill>
              </a:rPr>
              <a:t>expr</a:t>
            </a:r>
            <a:r>
              <a:rPr lang="fr-FR" sz="2000" dirty="0"/>
              <a:t>);</a:t>
            </a:r>
            <a:endParaRPr lang="ru-R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B99CE-BD33-4C0D-B095-3947CAAE1CA3}"/>
              </a:ext>
            </a:extLst>
          </p:cNvPr>
          <p:cNvSpPr txBox="1"/>
          <p:nvPr/>
        </p:nvSpPr>
        <p:spPr>
          <a:xfrm>
            <a:off x="647463" y="2750696"/>
            <a:ext cx="81357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Если </a:t>
            </a:r>
            <a:r>
              <a:rPr lang="en-US" sz="2000" dirty="0" err="1"/>
              <a:t>ParamType</a:t>
            </a:r>
            <a:r>
              <a:rPr lang="en-US" sz="2000" dirty="0"/>
              <a:t> </a:t>
            </a:r>
            <a:r>
              <a:rPr lang="ru-RU" sz="2000" dirty="0"/>
              <a:t>является указателем или ссылкой (</a:t>
            </a:r>
            <a:r>
              <a:rPr lang="ru-RU" sz="2000" b="1" dirty="0"/>
              <a:t>но не универсальной ссылкой</a:t>
            </a:r>
            <a:r>
              <a:rPr lang="ru-RU" sz="2000" dirty="0"/>
              <a:t>)</a:t>
            </a:r>
            <a:r>
              <a:rPr lang="en-US" sz="20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/>
              <a:t>Если тип </a:t>
            </a:r>
            <a:r>
              <a:rPr lang="en-US" sz="2000" dirty="0"/>
              <a:t>expr </a:t>
            </a:r>
            <a:r>
              <a:rPr lang="ru-RU" sz="2000" dirty="0"/>
              <a:t>это ссылка, игнорируем </a:t>
            </a:r>
            <a:r>
              <a:rPr lang="ru-RU" sz="2000" dirty="0" err="1"/>
              <a:t>ссылочность</a:t>
            </a:r>
            <a:endParaRPr lang="ru-RU" sz="2000" dirty="0"/>
          </a:p>
          <a:p>
            <a:pPr marL="342900" indent="-342900">
              <a:buFont typeface="+mj-lt"/>
              <a:buAutoNum type="arabicPeriod"/>
            </a:pPr>
            <a:r>
              <a:rPr lang="ru-RU" sz="2000" dirty="0"/>
              <a:t>Паттерн-</a:t>
            </a:r>
            <a:r>
              <a:rPr lang="ru-RU" sz="2000" dirty="0" err="1"/>
              <a:t>матчинг</a:t>
            </a:r>
            <a:r>
              <a:rPr lang="ru-RU" sz="2000" dirty="0"/>
              <a:t> типа </a:t>
            </a:r>
            <a:r>
              <a:rPr lang="en-US" sz="2000" dirty="0"/>
              <a:t>expr </a:t>
            </a:r>
            <a:r>
              <a:rPr lang="ru-RU" sz="2000" dirty="0"/>
              <a:t>в </a:t>
            </a:r>
            <a:r>
              <a:rPr lang="en-US" sz="2000" dirty="0" err="1"/>
              <a:t>ParamType</a:t>
            </a:r>
            <a:r>
              <a:rPr lang="en-US" sz="2000" dirty="0"/>
              <a:t> </a:t>
            </a:r>
            <a:r>
              <a:rPr lang="ru-RU" sz="2000" dirty="0"/>
              <a:t>для выяснения </a:t>
            </a:r>
            <a:r>
              <a:rPr lang="en-US" sz="2000" dirty="0"/>
              <a:t>T</a:t>
            </a:r>
            <a:endParaRPr lang="ru-RU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68B63A-5A40-471A-99BC-4BAEE3ECAE08}"/>
              </a:ext>
            </a:extLst>
          </p:cNvPr>
          <p:cNvSpPr txBox="1"/>
          <p:nvPr/>
        </p:nvSpPr>
        <p:spPr>
          <a:xfrm>
            <a:off x="610440" y="5487860"/>
            <a:ext cx="107762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Если </a:t>
            </a:r>
            <a:r>
              <a:rPr lang="en-US" sz="2000" dirty="0" err="1"/>
              <a:t>ParamType</a:t>
            </a:r>
            <a:r>
              <a:rPr lang="en-US" sz="2000" dirty="0"/>
              <a:t> </a:t>
            </a:r>
            <a:r>
              <a:rPr lang="ru-RU" sz="2000" b="1" dirty="0"/>
              <a:t>не</a:t>
            </a:r>
            <a:r>
              <a:rPr lang="ru-RU" sz="2000" dirty="0"/>
              <a:t> является ни указателем, ни ссылкой</a:t>
            </a:r>
            <a:r>
              <a:rPr lang="en-US" sz="20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/>
              <a:t>Если тип </a:t>
            </a:r>
            <a:r>
              <a:rPr lang="en-US" sz="2000" dirty="0"/>
              <a:t>expr </a:t>
            </a:r>
            <a:r>
              <a:rPr lang="ru-RU" sz="2000" dirty="0"/>
              <a:t>это ссылка, игнорируем </a:t>
            </a:r>
            <a:r>
              <a:rPr lang="ru-RU" sz="2000" dirty="0" err="1"/>
              <a:t>ссылочность</a:t>
            </a:r>
            <a:r>
              <a:rPr lang="ru-RU" sz="2000" dirty="0"/>
              <a:t> (как и раньше)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/>
              <a:t>Игнорируем константность тоже (так как всё равно создаётся копия объекта)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742D6-3315-4CB1-AE62-410C559A80DF}"/>
              </a:ext>
            </a:extLst>
          </p:cNvPr>
          <p:cNvSpPr txBox="1"/>
          <p:nvPr/>
        </p:nvSpPr>
        <p:spPr>
          <a:xfrm>
            <a:off x="647463" y="4189115"/>
            <a:ext cx="85448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Если </a:t>
            </a:r>
            <a:r>
              <a:rPr lang="en-US" sz="2000" dirty="0" err="1"/>
              <a:t>ParamType</a:t>
            </a:r>
            <a:r>
              <a:rPr lang="en-US" sz="2000" dirty="0"/>
              <a:t> </a:t>
            </a:r>
            <a:r>
              <a:rPr lang="ru-RU" sz="2000" dirty="0"/>
              <a:t>является </a:t>
            </a:r>
            <a:r>
              <a:rPr lang="ru-RU" sz="2000" b="1" dirty="0"/>
              <a:t>универсальной ссылкой</a:t>
            </a:r>
            <a:r>
              <a:rPr lang="en-US" sz="20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/>
              <a:t>Если категория </a:t>
            </a:r>
            <a:r>
              <a:rPr lang="en-US" sz="2000" dirty="0"/>
              <a:t>expr – </a:t>
            </a:r>
            <a:r>
              <a:rPr lang="en-US" sz="2000" dirty="0" err="1"/>
              <a:t>lvalue</a:t>
            </a:r>
            <a:r>
              <a:rPr lang="en-US" sz="2000" dirty="0"/>
              <a:t>, </a:t>
            </a:r>
            <a:r>
              <a:rPr lang="ru-RU" sz="2000" dirty="0"/>
              <a:t>то </a:t>
            </a:r>
            <a:r>
              <a:rPr lang="en-US" sz="2000" dirty="0"/>
              <a:t>T </a:t>
            </a:r>
            <a:r>
              <a:rPr lang="ru-RU" sz="2000" dirty="0"/>
              <a:t>выводится как </a:t>
            </a:r>
            <a:r>
              <a:rPr lang="en-US" sz="2000" b="1" dirty="0" err="1"/>
              <a:t>lvalue</a:t>
            </a:r>
            <a:r>
              <a:rPr lang="en-US" sz="2000" b="1" dirty="0"/>
              <a:t>-reference</a:t>
            </a:r>
          </a:p>
          <a:p>
            <a:r>
              <a:rPr lang="ru-RU" sz="2000" dirty="0"/>
              <a:t>2.  Если категория </a:t>
            </a:r>
            <a:r>
              <a:rPr lang="en-US" sz="2000" dirty="0"/>
              <a:t>expr – </a:t>
            </a:r>
            <a:r>
              <a:rPr lang="en-US" sz="2000" dirty="0" err="1"/>
              <a:t>rvalue</a:t>
            </a:r>
            <a:r>
              <a:rPr lang="en-US" sz="2000" dirty="0"/>
              <a:t>, </a:t>
            </a:r>
            <a:r>
              <a:rPr lang="ru-RU" sz="2000" dirty="0"/>
              <a:t>то применяются правила выше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DB439D-6471-4611-A0A2-2ED4FA03CB80}"/>
              </a:ext>
            </a:extLst>
          </p:cNvPr>
          <p:cNvSpPr/>
          <p:nvPr/>
        </p:nvSpPr>
        <p:spPr>
          <a:xfrm>
            <a:off x="610440" y="4074135"/>
            <a:ext cx="8437888" cy="12581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ED057B-76BD-4A0E-8E3D-927DB003935E}"/>
              </a:ext>
            </a:extLst>
          </p:cNvPr>
          <p:cNvSpPr txBox="1"/>
          <p:nvPr/>
        </p:nvSpPr>
        <p:spPr>
          <a:xfrm>
            <a:off x="8472264" y="601353"/>
            <a:ext cx="28815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TL;DR:</a:t>
            </a:r>
          </a:p>
          <a:p>
            <a:r>
              <a:rPr lang="ru-RU" dirty="0" err="1"/>
              <a:t>Ссылочность</a:t>
            </a:r>
            <a:r>
              <a:rPr lang="ru-RU" dirty="0"/>
              <a:t> всегда игнорируется, кроме случая универсальных ссылок и </a:t>
            </a:r>
            <a:r>
              <a:rPr lang="en-US" dirty="0" err="1"/>
              <a:t>lvalue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0945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A9B3E-B980-45A6-B6BE-B9D79B768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collapsing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C1E21-4739-4A3C-A251-97B35004A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825624"/>
            <a:ext cx="10730408" cy="491574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Умеем выводить тип шаблонного параметра, а как вывести тип самого аргумента?</a:t>
            </a:r>
            <a:endParaRPr lang="en-US" dirty="0"/>
          </a:p>
          <a:p>
            <a:endParaRPr lang="en-US" dirty="0"/>
          </a:p>
          <a:p>
            <a:r>
              <a:rPr lang="en-US" dirty="0"/>
              <a:t>_ + &amp;       -&gt; &amp;</a:t>
            </a:r>
          </a:p>
          <a:p>
            <a:r>
              <a:rPr lang="en-US" dirty="0"/>
              <a:t>_ + &amp;&amp;     -&gt; &amp;&amp;</a:t>
            </a:r>
          </a:p>
          <a:p>
            <a:endParaRPr lang="ru-RU" dirty="0"/>
          </a:p>
          <a:p>
            <a:r>
              <a:rPr lang="en-US" dirty="0"/>
              <a:t>&amp; + &amp;       -&gt; &amp;</a:t>
            </a:r>
          </a:p>
          <a:p>
            <a:r>
              <a:rPr lang="en-US" dirty="0"/>
              <a:t>&amp;&amp; + &amp;    -&gt; &amp;</a:t>
            </a:r>
          </a:p>
          <a:p>
            <a:r>
              <a:rPr lang="en-US" dirty="0"/>
              <a:t>&amp; + &amp;&amp;    -&gt; &amp;</a:t>
            </a:r>
          </a:p>
          <a:p>
            <a:r>
              <a:rPr lang="en-US" dirty="0"/>
              <a:t>&amp;&amp; + &amp;&amp;  -&gt; &amp;&amp;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095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B7D8C-532C-4C9C-8D77-C7FDD4B46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std::move &amp; std::forward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9EEE9-25CB-4E4B-ADF8-EDEA5F3EF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556792"/>
            <a:ext cx="11017224" cy="5112567"/>
          </a:xfrm>
        </p:spPr>
        <p:txBody>
          <a:bodyPr>
            <a:normAutofit/>
          </a:bodyPr>
          <a:lstStyle/>
          <a:p>
            <a:r>
              <a:rPr lang="ru-RU" dirty="0"/>
              <a:t>Если бы </a:t>
            </a:r>
            <a:r>
              <a:rPr lang="en-US" dirty="0"/>
              <a:t>std::move </a:t>
            </a:r>
            <a:r>
              <a:rPr lang="ru-RU" dirty="0"/>
              <a:t>возвращал </a:t>
            </a:r>
            <a:r>
              <a:rPr lang="en-US" dirty="0"/>
              <a:t>T&amp;&amp;, </a:t>
            </a:r>
            <a:r>
              <a:rPr lang="ru-RU" dirty="0"/>
              <a:t>то мог бы происходить </a:t>
            </a:r>
            <a:r>
              <a:rPr lang="en-US" dirty="0"/>
              <a:t>reference collapsing -&gt; </a:t>
            </a:r>
            <a:r>
              <a:rPr lang="ru-RU" dirty="0"/>
              <a:t>заменяем на </a:t>
            </a:r>
            <a:r>
              <a:rPr lang="en-US" dirty="0"/>
              <a:t>std::</a:t>
            </a:r>
            <a:r>
              <a:rPr lang="en-US" dirty="0" err="1"/>
              <a:t>remove_reference_t</a:t>
            </a:r>
            <a:r>
              <a:rPr lang="en-US" dirty="0"/>
              <a:t>&lt;T&gt;&amp;&amp;</a:t>
            </a:r>
          </a:p>
          <a:p>
            <a:r>
              <a:rPr lang="en-US" dirty="0"/>
              <a:t>std::move </a:t>
            </a:r>
            <a:r>
              <a:rPr lang="ru-RU" dirty="0"/>
              <a:t>должен уметь принимать как </a:t>
            </a:r>
            <a:r>
              <a:rPr lang="en-US" dirty="0" err="1"/>
              <a:t>rvalue</a:t>
            </a:r>
            <a:r>
              <a:rPr lang="en-US" dirty="0"/>
              <a:t>, </a:t>
            </a:r>
            <a:r>
              <a:rPr lang="ru-RU" dirty="0"/>
              <a:t>так и </a:t>
            </a:r>
            <a:r>
              <a:rPr lang="en-US" dirty="0" err="1"/>
              <a:t>lvalue</a:t>
            </a:r>
            <a:r>
              <a:rPr lang="en-US" dirty="0"/>
              <a:t>, </a:t>
            </a:r>
            <a:r>
              <a:rPr lang="ru-RU" dirty="0"/>
              <a:t>поэтому он принимает универсальную ссылку</a:t>
            </a:r>
            <a:endParaRPr lang="en-US" dirty="0"/>
          </a:p>
          <a:p>
            <a:r>
              <a:rPr lang="en-US" dirty="0"/>
              <a:t>std::forward </a:t>
            </a:r>
            <a:r>
              <a:rPr lang="ru-RU" dirty="0"/>
              <a:t>принимает </a:t>
            </a:r>
            <a:r>
              <a:rPr lang="en-US" dirty="0"/>
              <a:t>std::</a:t>
            </a:r>
            <a:r>
              <a:rPr lang="en-US" dirty="0" err="1"/>
              <a:t>remove_reference_t</a:t>
            </a:r>
            <a:r>
              <a:rPr lang="en-US" dirty="0"/>
              <a:t>&lt;T&gt;&amp;, </a:t>
            </a:r>
            <a:r>
              <a:rPr lang="ru-RU" dirty="0"/>
              <a:t>чтобы запретить неявный вывод шаблонных параметров</a:t>
            </a:r>
          </a:p>
          <a:p>
            <a:r>
              <a:rPr lang="ru-RU" dirty="0"/>
              <a:t>Перегрузка </a:t>
            </a:r>
            <a:r>
              <a:rPr lang="en-US" dirty="0"/>
              <a:t>std::forward </a:t>
            </a:r>
            <a:r>
              <a:rPr lang="ru-RU" dirty="0"/>
              <a:t>принимает </a:t>
            </a:r>
            <a:r>
              <a:rPr lang="en-US" dirty="0"/>
              <a:t>std::</a:t>
            </a:r>
            <a:r>
              <a:rPr lang="en-US" dirty="0" err="1"/>
              <a:t>remove_reference_t</a:t>
            </a:r>
            <a:r>
              <a:rPr lang="en-US" dirty="0"/>
              <a:t>&lt;T&gt;&amp;&amp;, </a:t>
            </a:r>
            <a:r>
              <a:rPr lang="ru-RU" dirty="0"/>
              <a:t>чтобы уметь принимать не только </a:t>
            </a:r>
            <a:r>
              <a:rPr lang="en-US" dirty="0"/>
              <a:t>std::forward&lt;</a:t>
            </a:r>
            <a:r>
              <a:rPr lang="en-US" dirty="0" err="1"/>
              <a:t>Args</a:t>
            </a:r>
            <a:r>
              <a:rPr lang="en-US" dirty="0"/>
              <a:t>&gt;(</a:t>
            </a:r>
            <a:r>
              <a:rPr lang="en-US" dirty="0" err="1"/>
              <a:t>args</a:t>
            </a:r>
            <a:r>
              <a:rPr lang="en-US" dirty="0"/>
              <a:t>), </a:t>
            </a:r>
            <a:r>
              <a:rPr lang="ru-RU" dirty="0"/>
              <a:t>но и </a:t>
            </a:r>
            <a:r>
              <a:rPr lang="en-US" dirty="0"/>
              <a:t>std::forward&lt;</a:t>
            </a:r>
            <a:r>
              <a:rPr lang="en-US" dirty="0" err="1"/>
              <a:t>Args</a:t>
            </a:r>
            <a:r>
              <a:rPr lang="en-US" dirty="0"/>
              <a:t>&gt;(foo()), </a:t>
            </a:r>
            <a:r>
              <a:rPr lang="ru-RU" dirty="0"/>
              <a:t>где </a:t>
            </a:r>
            <a:r>
              <a:rPr lang="en-US" dirty="0"/>
              <a:t>foo </a:t>
            </a:r>
            <a:r>
              <a:rPr lang="ru-RU" dirty="0"/>
              <a:t>возвращает </a:t>
            </a:r>
            <a:r>
              <a:rPr lang="en-US" dirty="0" err="1"/>
              <a:t>rvalue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7230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B4DB-3544-4937-8D17-40809E615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elision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5053E-338C-4690-85F2-265401135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30408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Не создаём лишние копии</a:t>
            </a:r>
            <a:r>
              <a:rPr lang="en-US" dirty="0"/>
              <a:t> </a:t>
            </a:r>
            <a:r>
              <a:rPr lang="ru-RU" dirty="0"/>
              <a:t>объекта, когда это не обязательно, даже если могли бы быть </a:t>
            </a:r>
            <a:r>
              <a:rPr lang="en-US" dirty="0"/>
              <a:t>side </a:t>
            </a:r>
            <a:r>
              <a:rPr lang="ru-RU" dirty="0"/>
              <a:t>эффекты</a:t>
            </a:r>
          </a:p>
          <a:p>
            <a:r>
              <a:rPr lang="en-US" dirty="0"/>
              <a:t>return obj, </a:t>
            </a:r>
            <a:r>
              <a:rPr lang="ru-RU" dirty="0"/>
              <a:t>где </a:t>
            </a:r>
            <a:r>
              <a:rPr lang="en-US" dirty="0"/>
              <a:t>obj </a:t>
            </a:r>
            <a:r>
              <a:rPr lang="ru-RU" dirty="0"/>
              <a:t>– временный объект (не аргумент), того же типа, что и возвращаемое значение</a:t>
            </a:r>
            <a:r>
              <a:rPr lang="en-US" dirty="0"/>
              <a:t> (NRVO)</a:t>
            </a:r>
            <a:endParaRPr lang="ru-RU" dirty="0"/>
          </a:p>
          <a:p>
            <a:r>
              <a:rPr lang="en-US" dirty="0"/>
              <a:t>throw obj</a:t>
            </a:r>
          </a:p>
          <a:p>
            <a:r>
              <a:rPr lang="en-US" dirty="0" err="1"/>
              <a:t>prvalue</a:t>
            </a:r>
            <a:r>
              <a:rPr lang="en-US" dirty="0"/>
              <a:t> </a:t>
            </a:r>
            <a:r>
              <a:rPr lang="ru-RU" dirty="0"/>
              <a:t>не</a:t>
            </a:r>
            <a:r>
              <a:rPr lang="en-US" dirty="0"/>
              <a:t> </a:t>
            </a:r>
            <a:r>
              <a:rPr lang="ru-RU" dirty="0"/>
              <a:t>материализуется, пока это не является необходимым, и создаётся сразу на месте </a:t>
            </a:r>
            <a:r>
              <a:rPr lang="en-US" dirty="0"/>
              <a:t>“</a:t>
            </a:r>
            <a:r>
              <a:rPr lang="ru-RU" dirty="0"/>
              <a:t>нужного</a:t>
            </a:r>
            <a:r>
              <a:rPr lang="en-US" dirty="0"/>
              <a:t>”</a:t>
            </a:r>
            <a:r>
              <a:rPr lang="ru-RU" dirty="0"/>
              <a:t> объекта</a:t>
            </a:r>
            <a:endParaRPr lang="en-US" dirty="0"/>
          </a:p>
          <a:p>
            <a:r>
              <a:rPr lang="ru-RU" dirty="0"/>
              <a:t>Если </a:t>
            </a:r>
            <a:r>
              <a:rPr lang="en-US" dirty="0"/>
              <a:t>initializer expression </a:t>
            </a:r>
            <a:r>
              <a:rPr lang="ru-RU" dirty="0"/>
              <a:t>является </a:t>
            </a:r>
            <a:r>
              <a:rPr lang="en-US" dirty="0" err="1"/>
              <a:t>prvalue</a:t>
            </a:r>
            <a:r>
              <a:rPr lang="en-US" dirty="0"/>
              <a:t> </a:t>
            </a:r>
            <a:r>
              <a:rPr lang="ru-RU" dirty="0"/>
              <a:t>того же типа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 x = T(T(f())); // T </a:t>
            </a:r>
            <a:r>
              <a:rPr lang="ru-RU" dirty="0"/>
              <a:t>инициализируется сразу результатом </a:t>
            </a:r>
            <a:r>
              <a:rPr lang="en-US" dirty="0"/>
              <a:t>f</a:t>
            </a:r>
            <a:endParaRPr lang="ru-RU" dirty="0"/>
          </a:p>
          <a:p>
            <a:r>
              <a:rPr lang="ru-RU" dirty="0">
                <a:hlinkClick r:id="rId2"/>
              </a:rPr>
              <a:t>Подробнее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2776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A7D86-90A6-4D42-9709-E87DB3C85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RVO (return value optimization)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67837-4ADC-44E0-BD88-0A89F79D9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возвращается не локальная переменная, то </a:t>
            </a:r>
            <a:r>
              <a:rPr lang="en-US" dirty="0"/>
              <a:t>RVO </a:t>
            </a:r>
            <a:r>
              <a:rPr lang="ru-RU" dirty="0"/>
              <a:t>не срабатывает, но всё равно переменная перемещается.</a:t>
            </a:r>
            <a:endParaRPr lang="en-US" dirty="0"/>
          </a:p>
          <a:p>
            <a:r>
              <a:rPr lang="ru-RU" dirty="0"/>
              <a:t>Не нужно писать </a:t>
            </a:r>
            <a:r>
              <a:rPr lang="en-US" dirty="0"/>
              <a:t>return std::move</a:t>
            </a:r>
            <a:r>
              <a:rPr lang="ru-RU" dirty="0"/>
              <a:t>(локальный объект)</a:t>
            </a:r>
          </a:p>
          <a:p>
            <a:r>
              <a:rPr lang="ru-RU" dirty="0"/>
              <a:t>Однако, если перемещается аргумент, принятый по </a:t>
            </a:r>
            <a:r>
              <a:rPr lang="en-US" dirty="0" err="1"/>
              <a:t>rvalue</a:t>
            </a:r>
            <a:r>
              <a:rPr lang="en-US" dirty="0"/>
              <a:t> </a:t>
            </a:r>
            <a:r>
              <a:rPr lang="ru-RU" dirty="0"/>
              <a:t>ссылке, то для него есть смысл писать </a:t>
            </a:r>
            <a:r>
              <a:rPr lang="en-US" dirty="0"/>
              <a:t>return std::move, </a:t>
            </a:r>
            <a:r>
              <a:rPr lang="ru-RU" dirty="0"/>
              <a:t>потому что иначе копирование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4269443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11808</TotalTime>
  <Words>739</Words>
  <Application>Microsoft Office PowerPoint</Application>
  <DocSecurity>0</DocSecurity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Семинар №8  Move-семантика. Продолжение</vt:lpstr>
      <vt:lpstr>Передача объекта дальше</vt:lpstr>
      <vt:lpstr>std::forward</vt:lpstr>
      <vt:lpstr>Универсальные ссылки</vt:lpstr>
      <vt:lpstr>Type deduction  (без универсальных ссылок, напоминание)</vt:lpstr>
      <vt:lpstr>Type deduction  (с универсальными ссылками)</vt:lpstr>
      <vt:lpstr>Reference collapsing</vt:lpstr>
      <vt:lpstr>std::move &amp; std::forward</vt:lpstr>
      <vt:lpstr>Copy elision</vt:lpstr>
      <vt:lpstr>RVO (return value optimization)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№3  Итераторы. Продолжение</dc:title>
  <dc:subject/>
  <dc:creator>Konstantin Dragun</dc:creator>
  <cp:keywords/>
  <dc:description/>
  <cp:lastModifiedBy>Konstantin Dragun</cp:lastModifiedBy>
  <cp:revision>82</cp:revision>
  <dcterms:created xsi:type="dcterms:W3CDTF">2012-12-03T06:56:55Z</dcterms:created>
  <dcterms:modified xsi:type="dcterms:W3CDTF">2025-04-01T21:35:53Z</dcterms:modified>
  <cp:category/>
  <dc:identifier/>
  <cp:contentStatus/>
  <dc:language/>
  <cp:version/>
</cp:coreProperties>
</file>