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3" r:id="rId6"/>
    <p:sldId id="264" r:id="rId7"/>
    <p:sldId id="259" r:id="rId8"/>
    <p:sldId id="267" r:id="rId9"/>
    <p:sldId id="265" r:id="rId10"/>
    <p:sldId id="266" r:id="rId11"/>
    <p:sldId id="262" r:id="rId12"/>
    <p:sldId id="261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2" y="-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3376-159D-47C3-B291-409775C1A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508732-9ED1-49A5-A450-AC6B67653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69ABD-196C-43AA-A79F-01E02113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409D-8CAA-4690-8437-187E44A01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3F9B8-FD11-42FF-B1C2-BD417B5B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61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E56E-5622-43D1-8ABF-984222BE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34E3C-B433-4BEF-839A-D7B732393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0BC63-C5D4-4F17-BA25-D30234EF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5CA7E-A4CE-40DC-A064-2787FA955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49FDB-FAAC-43AD-91FB-C190A64B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111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3FA8-4BF5-49DA-BA8B-05B2E091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2F020-B6EC-4EBE-8065-D7E99C599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3F2A5-A378-4C90-95D0-E73C974E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E949-AA9C-4C2A-A956-50CD6D17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69431-E47C-45E9-8D40-1D23E984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8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85B3-960F-47DA-8A66-244B17CA0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EE4C-1C26-4354-9036-B58B9DB7C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D1E4F-A881-4C48-B534-003AAA574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D6BC7-76F6-4A19-8F8B-0FCAE031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FD1B4-8885-464E-92B8-F37450C8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EB731-98BC-4B36-A4BC-78E81B26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28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F734-2417-4A26-9EF2-86DAF17B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FDEEC-8764-47A9-87CA-E7598E393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63471-8EC5-40F4-9295-4DAF91A17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7206A-A428-493D-9048-B081376B0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08E99-F6C1-4819-BBAB-ACA65AF86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5CB533-D0EC-4E97-8247-5BB13480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3B6A9-4487-4101-B37F-6AFE201B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4E000-4D94-428B-AAA5-F6808AA59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67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DEF1-76A8-408A-AB63-AC6E5FC8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7CF608-A691-4C25-9B0B-62C59601F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33E41-DE44-41DB-B1E7-2E715547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C3038-32E6-45B3-82C5-B5AA335A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63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2AF9A-C81C-494F-A464-886E781D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D5ECD-020F-4F1A-A140-519A2F36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C2B-9AE4-43D8-96CE-9E2550D0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75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1602-B15B-444A-AFC7-9EBA0FF65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D63A-7BCE-4F3B-B8A6-FC0C577F7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D1B01-14FE-4CEA-BE09-91DA8DE5A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6C448-EF16-4394-98F0-24DAD644F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479FE-D405-48BF-BBE8-5793A207D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A3694-D0DF-44DA-899F-E67AFC72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DE1A-C1C4-4E6B-A1BA-55595C85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F327C-A2CC-481B-B899-B2B71E03D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0C654-F8FC-4C08-BDAF-5DC0BF0F5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93A7D-863B-46CA-81BD-A6A4EE4A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32F98-0B9E-4F62-8048-55A5B9E33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14C75-FF0A-474C-A1BF-A12DA6853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89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925D-B61A-4781-B3D0-F5CF3DBF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94529-2E0C-45D5-A145-92093D7B0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01CAF-9C61-49D6-B694-4EC9041B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83271-CFB4-4E33-95E4-FD45E8D2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C56E-1197-4418-BA59-566317CC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180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5228A-4664-436B-801D-ACA59081B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6D5F1-42BA-4409-9A42-702AB4F32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6F462-1872-4AC4-9D1C-83EC2F9F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FC050-59B8-48B2-8F80-1303EAF47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C9173-DD69-4483-9B74-F0CADCF18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28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9E630-F048-4A7D-9370-110BB8457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0608C-4D23-42EB-9894-D047CEF79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56B9A-96B0-4C3E-879F-A493BE7C7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ACF7D-8155-4027-BC32-C5365BF59D0E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57FE3-B818-4BEA-9D6C-2F631129B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13CB1-CF84-4BCA-B640-2F663BD49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263D1-4523-4D3C-B37A-F400CB028F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54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error/excep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noexcept" TargetMode="External"/><Relationship Id="rId2" Type="http://schemas.openxmlformats.org/officeDocument/2006/relationships/hyperlink" Target="https://en.cppreference.com/w/cpp/language/noexcept_spec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error/terminat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6982158/function-scope-static-objects-constructor-throws-an-exceptio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filesystem/renam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post/279111/" TargetMode="External"/><Relationship Id="rId2" Type="http://schemas.openxmlformats.org/officeDocument/2006/relationships/hyperlink" Target="https://tproger.ru/articles/isklyucheniya-v-c-garantii-bezopasnosti-i-specifikacii/#part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6611880/when-i-throw-something-where-is-it-stored-in-memo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ABB9-1DC8-47ED-B81C-A495B1AE7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Семинар по </a:t>
            </a:r>
            <a:r>
              <a:rPr lang="en-US" dirty="0"/>
              <a:t>C++ </a:t>
            </a:r>
            <a:r>
              <a:rPr lang="ru-RU" dirty="0"/>
              <a:t>№</a:t>
            </a:r>
            <a:r>
              <a:rPr lang="en-US" dirty="0"/>
              <a:t>1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9128C-F351-4270-87BB-84EECC287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Исключения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279037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65B7-1285-4DE7-96DB-4CD2C917E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F67A-11DB-49AD-BF96-26F3ACA59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Механизм обработки исключительных ситуаций</a:t>
            </a:r>
            <a:endParaRPr lang="ru-RU" sz="32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Stack</a:t>
            </a: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3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unwinding</a:t>
            </a:r>
            <a:endParaRPr lang="ru-RU" sz="32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Не путать с RE</a:t>
            </a:r>
            <a:endParaRPr lang="ru-RU" sz="32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Нужно следить за копированиями</a:t>
            </a:r>
            <a:endParaRPr lang="ru-RU" sz="32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Два исключения одновременно приводят к RE</a:t>
            </a:r>
            <a:endParaRPr lang="ru-RU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0117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FFD7-D760-45F1-8122-BBC0B3DE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Иерархия исключений</a:t>
            </a:r>
          </a:p>
        </p:txBody>
      </p:sp>
      <p:pic>
        <p:nvPicPr>
          <p:cNvPr id="1028" name="Picture 4" descr="18.1.5. Иерархии классов исключений . Язык программирования C++. Пятое  издание">
            <a:extLst>
              <a:ext uri="{FF2B5EF4-FFF2-40B4-BE49-F238E27FC236}">
                <a16:creationId xmlns:a16="http://schemas.microsoft.com/office/drawing/2014/main" id="{A81C0EBE-08EC-47C7-ADF7-749E85318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891" y="1495206"/>
            <a:ext cx="5584218" cy="386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655778-8807-4F31-97C5-102120FA710A}"/>
              </a:ext>
            </a:extLst>
          </p:cNvPr>
          <p:cNvSpPr txBox="1"/>
          <p:nvPr/>
        </p:nvSpPr>
        <p:spPr>
          <a:xfrm flipH="1">
            <a:off x="651894" y="6339155"/>
            <a:ext cx="238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Иерархия исключений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7D86F-F53B-474A-966B-BAB60982B028}"/>
              </a:ext>
            </a:extLst>
          </p:cNvPr>
          <p:cNvSpPr txBox="1"/>
          <p:nvPr/>
        </p:nvSpPr>
        <p:spPr>
          <a:xfrm>
            <a:off x="4174733" y="5475494"/>
            <a:ext cx="3842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Разрешается каст вверх в блоке </a:t>
            </a:r>
            <a:r>
              <a:rPr lang="en-US" dirty="0"/>
              <a:t>catch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383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4D2C-B9AC-46AE-A583-ED693351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noexcept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D9883-AAB7-4FCB-A90C-D31DFB3EF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Noexcept specifier </a:t>
            </a:r>
            <a:r>
              <a:rPr lang="en-US" dirty="0"/>
              <a:t>– </a:t>
            </a:r>
            <a:r>
              <a:rPr lang="ru-RU" dirty="0"/>
              <a:t>часть сигнатуры функции. Если исключение летит из функции, помеченной </a:t>
            </a:r>
            <a:r>
              <a:rPr lang="en-US" dirty="0" err="1"/>
              <a:t>noexcept</a:t>
            </a:r>
            <a:r>
              <a:rPr lang="en-US" dirty="0"/>
              <a:t>, </a:t>
            </a:r>
            <a:r>
              <a:rPr lang="ru-RU" dirty="0"/>
              <a:t>вызывается </a:t>
            </a:r>
            <a:r>
              <a:rPr lang="en-US" dirty="0"/>
              <a:t>terminate.</a:t>
            </a:r>
          </a:p>
          <a:p>
            <a:r>
              <a:rPr lang="en-US" dirty="0">
                <a:hlinkClick r:id="rId3"/>
              </a:rPr>
              <a:t>Noexcept operator </a:t>
            </a:r>
            <a:r>
              <a:rPr lang="en-US" dirty="0"/>
              <a:t>– </a:t>
            </a:r>
            <a:r>
              <a:rPr lang="ru-RU" dirty="0"/>
              <a:t>оператор, проверяющий, является ли выражение </a:t>
            </a:r>
            <a:r>
              <a:rPr lang="en-US" dirty="0" err="1"/>
              <a:t>noexcept</a:t>
            </a:r>
            <a:r>
              <a:rPr lang="en-US" dirty="0"/>
              <a:t>.</a:t>
            </a:r>
          </a:p>
          <a:p>
            <a:r>
              <a:rPr lang="en-US" dirty="0"/>
              <a:t>[ ] </a:t>
            </a:r>
            <a:r>
              <a:rPr lang="ru-RU" dirty="0"/>
              <a:t>обычно не помечены </a:t>
            </a:r>
            <a:r>
              <a:rPr lang="en-US" dirty="0" err="1"/>
              <a:t>noexcept</a:t>
            </a:r>
            <a:r>
              <a:rPr lang="en-US" dirty="0"/>
              <a:t>, </a:t>
            </a:r>
            <a:r>
              <a:rPr lang="ru-RU" dirty="0"/>
              <a:t>хотя не могут кидать исключение, но могут вести к </a:t>
            </a:r>
            <a:r>
              <a:rPr lang="en-US" dirty="0" err="1"/>
              <a:t>SegFault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340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DCDA-6443-4CA2-A25F-D86322CC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std::terminate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A19E7-C8E0-4D11-B93B-1767D259A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</a:t>
            </a: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ru-RU" sz="3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terminate</a:t>
            </a: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вызывается при необработанном исключении (и ещё в </a:t>
            </a:r>
            <a:r>
              <a:rPr lang="ru-RU" sz="32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 tooltip="https://en.cppreference.com/w/cpp/error/terminate"/>
              </a:rPr>
              <a:t>11 случаях</a:t>
            </a: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endParaRPr lang="ru-RU" sz="32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set_terminate</a:t>
            </a: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/ </a:t>
            </a:r>
            <a:r>
              <a:rPr lang="ru-RU" sz="320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get_terminate</a:t>
            </a: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– установить/получить обработчик</a:t>
            </a:r>
            <a:endParaRPr lang="ru-RU" sz="32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Сигнатура обработчика:</a:t>
            </a:r>
            <a:endParaRPr lang="ru-RU" sz="3200" dirty="0">
              <a:effectLst/>
            </a:endParaRPr>
          </a:p>
          <a:p>
            <a:r>
              <a:rPr lang="en-US" sz="3200" b="0" i="0" dirty="0">
                <a:solidFill>
                  <a:srgbClr val="0000FF"/>
                </a:solidFill>
                <a:effectLst/>
                <a:latin typeface="DejaVuSansMono"/>
              </a:rPr>
              <a:t>void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DejaVuSansMono"/>
              </a:rPr>
              <a:t> </a:t>
            </a:r>
            <a:r>
              <a:rPr lang="en-US" sz="3200" b="0" i="0" dirty="0">
                <a:solidFill>
                  <a:srgbClr val="008000"/>
                </a:solidFill>
                <a:effectLst/>
                <a:latin typeface="DejaVuSansMono"/>
              </a:rPr>
              <a:t>(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DejaVuSansMono"/>
              </a:rPr>
              <a:t> </a:t>
            </a:r>
            <a:r>
              <a:rPr lang="en-US" sz="3200" b="0" i="0" dirty="0">
                <a:solidFill>
                  <a:srgbClr val="000040"/>
                </a:solidFill>
                <a:effectLst/>
                <a:latin typeface="DejaVuSansMono"/>
              </a:rPr>
              <a:t>*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DejaVuSansMono"/>
              </a:rPr>
              <a:t>terminate_handler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DejaVuSansMono"/>
              </a:rPr>
              <a:t> </a:t>
            </a:r>
            <a:r>
              <a:rPr lang="en-US" sz="3200" b="0" i="0" dirty="0">
                <a:solidFill>
                  <a:srgbClr val="008000"/>
                </a:solidFill>
                <a:effectLst/>
                <a:latin typeface="DejaVuSansMono"/>
              </a:rPr>
              <a:t>)()</a:t>
            </a:r>
            <a:endParaRPr lang="ru-RU" sz="3200" b="0" i="0" dirty="0">
              <a:solidFill>
                <a:srgbClr val="008000"/>
              </a:solidFill>
              <a:effectLst/>
              <a:latin typeface="DejaVuSansMono"/>
            </a:endParaRPr>
          </a:p>
          <a:p>
            <a:r>
              <a:rPr lang="en-US" sz="3200" dirty="0"/>
              <a:t>std::</a:t>
            </a:r>
            <a:r>
              <a:rPr lang="en-US" sz="3200" dirty="0" err="1"/>
              <a:t>current_exception</a:t>
            </a:r>
            <a:r>
              <a:rPr lang="en-US" sz="3200" dirty="0"/>
              <a:t>()</a:t>
            </a:r>
            <a:r>
              <a:rPr lang="ru-RU" sz="3200" dirty="0"/>
              <a:t>, </a:t>
            </a:r>
            <a:r>
              <a:rPr lang="en-US" sz="3200" dirty="0"/>
              <a:t>std::</a:t>
            </a:r>
            <a:r>
              <a:rPr lang="en-US" sz="3200" dirty="0" err="1"/>
              <a:t>rethrow_exception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72583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47AC-2235-4966-B780-25AE7C92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uncaught_exception</a:t>
            </a:r>
            <a:r>
              <a:rPr lang="en-US" dirty="0"/>
              <a:t>(s)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0C8B9-DB6D-43B8-897B-515934D7A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узнать, есть ли непойманное исключение (</a:t>
            </a:r>
            <a:r>
              <a:rPr lang="en-US" dirty="0"/>
              <a:t>std::</a:t>
            </a:r>
            <a:r>
              <a:rPr lang="en-US" dirty="0" err="1"/>
              <a:t>uncaught_exception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или количество непойманных исключений (</a:t>
            </a:r>
            <a:r>
              <a:rPr lang="en-US" dirty="0"/>
              <a:t>std::</a:t>
            </a:r>
            <a:r>
              <a:rPr lang="en-US" dirty="0" err="1"/>
              <a:t>uncaught_exceptions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Исключений может быть одновременно несколько, если деструктор вызывает функцию, которая кидает исключение, но деструктор сам его обрабатывает.</a:t>
            </a:r>
          </a:p>
        </p:txBody>
      </p:sp>
    </p:spTree>
    <p:extLst>
      <p:ext uri="{BB962C8B-B14F-4D97-AF65-F5344CB8AC3E}">
        <p14:creationId xmlns:p14="http://schemas.microsoft.com/office/powerpoint/2010/main" val="31097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CD64-8E0E-4619-BAE6-E5383AA90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Гарантии безопасности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6B8B6-B464-44E0-A03B-48E659EAC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Гарантия отсутствия исключения</a:t>
            </a:r>
            <a:endParaRPr lang="ru-RU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Строгая гарантия безопасности</a:t>
            </a: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исключение может возникнуть, но в этом случае всё будет возвращено к тому, как было до вызова соответствующей функции</a:t>
            </a:r>
            <a:endParaRPr lang="ru-RU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Слабая гарантия безопасности</a:t>
            </a: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при возникновении ошибки мы не можем вернуть всё как было, но всё равно останемся в корректном состоянии</a:t>
            </a:r>
            <a:endParaRPr lang="ru-RU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Отсутствие безопасности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5535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C6D5F-50C8-4C48-9EF4-DE51AA6C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59" y="0"/>
            <a:ext cx="10515600" cy="1325563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AF227-35F0-4B21-A1AF-41C8DB173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9" y="1376736"/>
            <a:ext cx="11784458" cy="528091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Реализуйте функцию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TransformIf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p, f)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которая принимает 2 указателя, задающие последовательность, унарный предикат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 функцию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и применяет данную функцию ко всем элементам последовательности, для которых выполнен заданный предикат. Считается, что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модифицирует переданный элемент (принимает по ссылке), поэтому данная функция в отличие от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std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::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transform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работает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in-place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ru-RU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Обозначим за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тип элементов последовательности. Для упрощения в этой задаче не используется </a:t>
            </a:r>
            <a:r>
              <a:rPr lang="ru-RU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move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-семантика. Вы можете считать, что у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определен конструктор копирования и оператор присваивания.</a:t>
            </a:r>
            <a:endParaRPr lang="ru-RU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Ваша функция должна вести себя атомарно —- либо полностью модифицировать последовательность, либо оставлять ее в исходном состоянии (при возникновении исключений). Для этого держите лог всех измененных элементов (для которых выполнен предикат) и при исключении восстанавливайте последовательность в исходное состояние при помощи лога. Не копируйте всю последовательность заранее.</a:t>
            </a:r>
            <a:endParaRPr lang="ru-RU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Если точнее, функция должна гарантировать следующее:</a:t>
            </a:r>
            <a:endParaRPr lang="ru-RU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Если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и/или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бросает исключение, то функция должна оставить последовательность в первоначальном виде (и бросить то же исключение).</a:t>
            </a:r>
            <a:endParaRPr lang="ru-RU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Если при копировании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возникает исключение, а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исключений не бросают, то функция должна отрабатывать полностью (и не бросать исключений).</a:t>
            </a:r>
            <a:endParaRPr lang="ru-RU" sz="1800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Если исключения возникают и при копировании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и в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и/или </a:t>
            </a:r>
            <a:r>
              <a:rPr lang="ru-RU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функция оставляет последовательность в неопределенном состоянии и бросает одно из исключений.</a:t>
            </a:r>
            <a:endParaRPr lang="ru-RU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92809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BC04-48EE-4610-B1C6-B9CBB520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try block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3EAC-B7BF-49BE-B392-DEA703C26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63463"/>
          </a:xfrm>
        </p:spPr>
        <p:txBody>
          <a:bodyPr/>
          <a:lstStyle/>
          <a:p>
            <a:r>
              <a:rPr lang="ru-RU" dirty="0"/>
              <a:t>Можно оборачивать целую функцию в </a:t>
            </a:r>
            <a:r>
              <a:rPr lang="en-US" dirty="0"/>
              <a:t>try block: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DC3E0-2175-4FAF-85E1-B6AE246D75C7}"/>
              </a:ext>
            </a:extLst>
          </p:cNvPr>
          <p:cNvSpPr txBox="1"/>
          <p:nvPr/>
        </p:nvSpPr>
        <p:spPr>
          <a:xfrm>
            <a:off x="2599362" y="3429000"/>
            <a:ext cx="7839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effectLst/>
                <a:latin typeface="Consolas" panose="020B0609020204030204" pitchFamily="49" charset="0"/>
              </a:rPr>
              <a:t>int main() </a:t>
            </a: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    throw 1;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 (int x) {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    std::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 &lt;&lt; "Caught int " &lt;&lt; x &lt;&lt; '\n'; 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79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7327-E4B7-474B-A182-CA820DC9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Статический объект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CDC61-A9B9-422A-81BE-5A84DE213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деструктор бросается в конструкторе статического объекта внутри функции, то конструктор будет вызываться каждый раз при вызове функции до тех пор, пока конструктор не завершится без исключения.</a:t>
            </a:r>
          </a:p>
          <a:p>
            <a:r>
              <a:rPr lang="ru-RU" dirty="0"/>
              <a:t>Посмотреть </a:t>
            </a:r>
            <a:r>
              <a:rPr lang="ru-RU" dirty="0">
                <a:hlinkClick r:id="rId2"/>
              </a:rPr>
              <a:t>тут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201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7A65-ABB2-40CF-9F68-DFD1DA78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Альтернативы исключениям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938DE-3034-4F02-A7AC-2849A0C12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Возвращать код ошибки</a:t>
            </a:r>
            <a:endParaRPr lang="ru-RU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Передавать ссылку на объект ошибки в функцию (как в </a:t>
            </a:r>
            <a:r>
              <a:rPr lang="ru-RU" u="sng" dirty="0" err="1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 tooltip="https://en.cppreference.com/w/cpp/filesystem/rename"/>
              </a:rPr>
              <a:t>std</a:t>
            </a:r>
            <a:r>
              <a:rPr lang="ru-RU" u="sng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 tooltip="https://en.cppreference.com/w/cpp/filesystem/rename"/>
              </a:rPr>
              <a:t>::</a:t>
            </a:r>
            <a:r>
              <a:rPr lang="ru-RU" u="sng" dirty="0" err="1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 tooltip="https://en.cppreference.com/w/cpp/filesystem/rename"/>
              </a:rPr>
              <a:t>filesystem</a:t>
            </a: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endParaRPr lang="en-US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Выставлять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errno</a:t>
            </a:r>
            <a:endParaRPr lang="ru-RU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</a:t>
            </a: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ru-RU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optional</a:t>
            </a: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/ </a:t>
            </a:r>
            <a:r>
              <a:rPr lang="ru-RU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</a:t>
            </a: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::</a:t>
            </a:r>
            <a:r>
              <a:rPr lang="ru-RU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variant</a:t>
            </a: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ru-RU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Писать на </a:t>
            </a:r>
            <a:r>
              <a:rPr lang="ru-RU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Rust</a:t>
            </a: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-е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C++23 expected</a:t>
            </a:r>
            <a:endParaRPr lang="ru-RU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7505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8227-FB5C-4386-B3A0-10F939F6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почитать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970C6-5B5F-4500-B4EE-81B43676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u="sng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 tooltip="https://tproger.ru/articles/isklyucheniya-v-c-garantii-bezopasnosti-i-specifikacii/#part1"/>
              </a:rPr>
              <a:t>https://tproger.ru/articles/isklyucheniya-v-c-garantii-bezopasnosti-i-specifikacii/#part1</a:t>
            </a:r>
            <a:endParaRPr lang="ru-RU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u="sng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 tooltip="https://habr.com/ru/post/279111/"/>
              </a:rPr>
              <a:t>Исключения изнутри</a:t>
            </a:r>
            <a:endParaRPr lang="en-US" u="sng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u="sng" dirty="0">
                <a:solidFill>
                  <a:srgbClr val="000000"/>
                </a:solidFill>
                <a:latin typeface="Arial" panose="020B0604020202020204" pitchFamily="34" charset="0"/>
                <a:hlinkClick r:id="rId4"/>
              </a:rPr>
              <a:t>Как исключения хранятся в памяти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2285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623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Courier New</vt:lpstr>
      <vt:lpstr>DejaVuSansMono</vt:lpstr>
      <vt:lpstr>Times New Roman</vt:lpstr>
      <vt:lpstr>Office Theme</vt:lpstr>
      <vt:lpstr>Семинар по C++ №1</vt:lpstr>
      <vt:lpstr>База</vt:lpstr>
      <vt:lpstr>Иерархия исключений</vt:lpstr>
      <vt:lpstr>noexcept</vt:lpstr>
      <vt:lpstr>std::terminate</vt:lpstr>
      <vt:lpstr>std::uncaught_exception(s)</vt:lpstr>
      <vt:lpstr>Гарантии безопасности</vt:lpstr>
      <vt:lpstr>Задача</vt:lpstr>
      <vt:lpstr>Function try block</vt:lpstr>
      <vt:lpstr>Статический объект</vt:lpstr>
      <vt:lpstr>Альтернативы исключениям</vt:lpstr>
      <vt:lpstr>Что почитать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C++ №1</dc:title>
  <dc:creator>Konstantin Dragun</dc:creator>
  <cp:lastModifiedBy>Konstantin Dragun</cp:lastModifiedBy>
  <cp:revision>10</cp:revision>
  <dcterms:created xsi:type="dcterms:W3CDTF">2025-02-04T21:14:56Z</dcterms:created>
  <dcterms:modified xsi:type="dcterms:W3CDTF">2025-02-05T08:06:39Z</dcterms:modified>
</cp:coreProperties>
</file>