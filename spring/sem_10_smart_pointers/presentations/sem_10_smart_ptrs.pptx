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onstantin Dragun" initials="KD" lastIdx="1" clrIdx="0">
    <p:extLst>
      <p:ext uri="{19B8F6BF-5375-455C-9EA6-DF929625EA0E}">
        <p15:presenceInfo xmlns:p15="http://schemas.microsoft.com/office/powerpoint/2012/main" userId="Konstantin Dragu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75" autoAdjust="0"/>
    <p:restoredTop sz="94660"/>
  </p:normalViewPr>
  <p:slideViewPr>
    <p:cSldViewPr>
      <p:cViewPr varScale="1">
        <p:scale>
          <a:sx n="67" d="100"/>
          <a:sy n="67" d="100"/>
        </p:scale>
        <p:origin x="568" y="4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23.04.2025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Fifth level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23.04.2025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23.04.2025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23.04.2025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Click to edit Master text styles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23.04.2025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23.04.2025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23.04.2025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23.04.2025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 noChangeAspect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Click icon to add picture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23.04.2025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23.04.2025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Fifth level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ru-RU"/>
              <a:t>23.04.2025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Click to edit Master text styles</a:t>
            </a:r>
            <a:endParaRPr/>
          </a:p>
          <a:p>
            <a:pPr lvl="1">
              <a:defRPr/>
            </a:pPr>
            <a:r>
              <a:rPr lang="ru-RU"/>
              <a:t>Second level</a:t>
            </a:r>
            <a:endParaRPr/>
          </a:p>
          <a:p>
            <a:pPr lvl="2">
              <a:defRPr/>
            </a:pPr>
            <a:r>
              <a:rPr lang="ru-RU"/>
              <a:t>Third level</a:t>
            </a:r>
            <a:endParaRPr/>
          </a:p>
          <a:p>
            <a:pPr lvl="3">
              <a:defRPr/>
            </a:pPr>
            <a:r>
              <a:rPr lang="ru-RU"/>
              <a:t>Fourth level</a:t>
            </a:r>
            <a:endParaRPr/>
          </a:p>
          <a:p>
            <a:pPr lvl="4">
              <a:defRPr/>
            </a:pPr>
            <a:r>
              <a:rPr lang="ru-RU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ru-RU"/>
              <a:t>23.04.2025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auto">
          <a:xfrm>
            <a:off x="1334892" y="1700892"/>
            <a:ext cx="9333106" cy="3002869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Семинар №</a:t>
            </a:r>
            <a:r>
              <a:rPr lang="en-US" dirty="0"/>
              <a:t>10</a:t>
            </a:r>
            <a:br>
              <a:rPr lang="en-US" dirty="0"/>
            </a:br>
            <a:br>
              <a:rPr lang="ru-RU" dirty="0"/>
            </a:br>
            <a:r>
              <a:rPr lang="ru-RU" dirty="0"/>
              <a:t>Умные указатели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8D0FB-57CC-44A0-B407-862EF229E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Мотивация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7FF93B-D342-4616-9052-07509AF466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Хотим более аккуратное использования памяти (и вообще разделяемых ресурсов)</a:t>
            </a:r>
          </a:p>
          <a:p>
            <a:r>
              <a:rPr lang="ru-RU" dirty="0"/>
              <a:t>Можем забыть написать </a:t>
            </a:r>
            <a:r>
              <a:rPr lang="en-US" dirty="0"/>
              <a:t>delete </a:t>
            </a:r>
            <a:r>
              <a:rPr lang="ru-RU" dirty="0"/>
              <a:t>или вылетит исключение – избегаем утечек памяти с помощью </a:t>
            </a:r>
            <a:r>
              <a:rPr lang="en-US" dirty="0"/>
              <a:t>RAII</a:t>
            </a:r>
          </a:p>
          <a:p>
            <a:r>
              <a:rPr lang="ru-RU" dirty="0"/>
              <a:t>Хотим следить за тем, кто владеет ресурсами</a:t>
            </a:r>
          </a:p>
          <a:p>
            <a:r>
              <a:rPr lang="en-US" dirty="0"/>
              <a:t>std::</a:t>
            </a:r>
            <a:r>
              <a:rPr lang="en-US" dirty="0" err="1"/>
              <a:t>unique_ptr</a:t>
            </a:r>
            <a:r>
              <a:rPr lang="en-US" dirty="0"/>
              <a:t> – </a:t>
            </a:r>
            <a:r>
              <a:rPr lang="ru-RU" dirty="0"/>
              <a:t>уникальное владение ресурсами</a:t>
            </a:r>
          </a:p>
          <a:p>
            <a:r>
              <a:rPr lang="en-US" dirty="0"/>
              <a:t>std::</a:t>
            </a:r>
            <a:r>
              <a:rPr lang="en-US" dirty="0" err="1"/>
              <a:t>shared_ptr</a:t>
            </a:r>
            <a:r>
              <a:rPr lang="en-US" dirty="0"/>
              <a:t> – </a:t>
            </a:r>
            <a:r>
              <a:rPr lang="ru-RU" dirty="0"/>
              <a:t>разделяемое владение ресурсами</a:t>
            </a:r>
          </a:p>
        </p:txBody>
      </p:sp>
    </p:spTree>
    <p:extLst>
      <p:ext uri="{BB962C8B-B14F-4D97-AF65-F5344CB8AC3E}">
        <p14:creationId xmlns:p14="http://schemas.microsoft.com/office/powerpoint/2010/main" val="3034333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0744F-A460-4551-AF21-526734DBE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shared_ptr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387A4-894D-407C-8873-A786E0481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Можем создать от указателя</a:t>
            </a:r>
            <a:r>
              <a:rPr lang="en-US" dirty="0"/>
              <a:t>, </a:t>
            </a:r>
            <a:r>
              <a:rPr lang="ru-RU" dirty="0"/>
              <a:t>на который уже выделена память</a:t>
            </a:r>
            <a:endParaRPr lang="en-US" dirty="0"/>
          </a:p>
          <a:p>
            <a:r>
              <a:rPr lang="ru-RU" dirty="0"/>
              <a:t>Нельзя создавать два умных указателя от одного обычного указателя, иначе – </a:t>
            </a:r>
            <a:r>
              <a:rPr lang="en-US" dirty="0"/>
              <a:t>double free</a:t>
            </a:r>
          </a:p>
          <a:p>
            <a:r>
              <a:rPr lang="ru-RU" dirty="0"/>
              <a:t>При копировании увеличивается счетчик ссылок</a:t>
            </a:r>
          </a:p>
          <a:p>
            <a:r>
              <a:rPr lang="ru-RU" dirty="0"/>
              <a:t>При разрушении объекта счетчик ссылок уменьшается</a:t>
            </a:r>
          </a:p>
          <a:p>
            <a:r>
              <a:rPr lang="ru-RU" dirty="0"/>
              <a:t>Когда счетчик ссылок опускается до нуля, вызывается деструктор объекта</a:t>
            </a:r>
          </a:p>
        </p:txBody>
      </p:sp>
    </p:spTree>
    <p:extLst>
      <p:ext uri="{BB962C8B-B14F-4D97-AF65-F5344CB8AC3E}">
        <p14:creationId xmlns:p14="http://schemas.microsoft.com/office/powerpoint/2010/main" val="1758580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E62F8-86AA-46A1-BE08-7CCC29C32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Deleter</a:t>
            </a:r>
            <a:r>
              <a:rPr lang="ru-RU" dirty="0"/>
              <a:t> и </a:t>
            </a:r>
            <a:r>
              <a:rPr lang="en-US" dirty="0"/>
              <a:t>Allocator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81678B-1096-402A-9A21-49D0F03DE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Можно установить </a:t>
            </a:r>
            <a:r>
              <a:rPr lang="ru-RU" dirty="0" err="1"/>
              <a:t>кастомный</a:t>
            </a:r>
            <a:r>
              <a:rPr lang="ru-RU" dirty="0"/>
              <a:t> </a:t>
            </a:r>
            <a:r>
              <a:rPr lang="ru-RU" dirty="0" err="1"/>
              <a:t>делитер</a:t>
            </a:r>
            <a:r>
              <a:rPr lang="ru-RU" dirty="0"/>
              <a:t> – механизм освобождения памяти</a:t>
            </a:r>
            <a:endParaRPr lang="en-US" dirty="0"/>
          </a:p>
          <a:p>
            <a:r>
              <a:rPr lang="ru-RU" dirty="0"/>
              <a:t>Также можно установить </a:t>
            </a:r>
            <a:r>
              <a:rPr lang="ru-RU" dirty="0" err="1"/>
              <a:t>кастомный</a:t>
            </a:r>
            <a:r>
              <a:rPr lang="ru-RU" dirty="0"/>
              <a:t> </a:t>
            </a:r>
            <a:r>
              <a:rPr lang="ru-RU" dirty="0" err="1"/>
              <a:t>аллокатор</a:t>
            </a:r>
            <a:endParaRPr lang="ru-RU" dirty="0"/>
          </a:p>
          <a:p>
            <a:r>
              <a:rPr lang="ru-RU" dirty="0"/>
              <a:t>Можно использовать для контроля за другими ресурсами (файловые дескрипторы, сокеты и др.), а также для </a:t>
            </a:r>
            <a:r>
              <a:rPr lang="ru-RU" dirty="0" err="1"/>
              <a:t>кастомного</a:t>
            </a:r>
            <a:r>
              <a:rPr lang="ru-RU" dirty="0"/>
              <a:t> контроля памяти (например, использовать </a:t>
            </a:r>
            <a:r>
              <a:rPr lang="en-US" dirty="0"/>
              <a:t>malloc/</a:t>
            </a:r>
            <a:r>
              <a:rPr lang="en-US" dirty="0" err="1"/>
              <a:t>calloc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free</a:t>
            </a:r>
            <a:r>
              <a:rPr lang="ru-RU" dirty="0"/>
              <a:t>)</a:t>
            </a:r>
            <a:r>
              <a:rPr lang="en-US" dirty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88803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66290-402B-4698-9C2E-7C1538569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make_shared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F5818D-9FB3-4087-A373-AFF489E28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392" y="1825624"/>
            <a:ext cx="10730408" cy="5032375"/>
          </a:xfrm>
        </p:spPr>
        <p:txBody>
          <a:bodyPr/>
          <a:lstStyle/>
          <a:p>
            <a:r>
              <a:rPr lang="en-US" dirty="0" err="1"/>
              <a:t>make_shared</a:t>
            </a:r>
            <a:r>
              <a:rPr lang="en-US" dirty="0"/>
              <a:t> </a:t>
            </a:r>
            <a:r>
              <a:rPr lang="ru-RU" dirty="0"/>
              <a:t>принимает аргументы конструктора и сразу создаёт объект, возвращая </a:t>
            </a:r>
            <a:r>
              <a:rPr lang="en-US" dirty="0" err="1"/>
              <a:t>shared_ptr</a:t>
            </a:r>
            <a:endParaRPr lang="en-US" dirty="0"/>
          </a:p>
          <a:p>
            <a:r>
              <a:rPr lang="ru-RU" dirty="0"/>
              <a:t>Решает проблемы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Нельзя случайно создать два набора умных указателей по одному </a:t>
            </a:r>
            <a:r>
              <a:rPr lang="ru-RU" dirty="0" err="1"/>
              <a:t>сишному</a:t>
            </a:r>
            <a:r>
              <a:rPr lang="ru-RU" dirty="0"/>
              <a:t> указателю</a:t>
            </a:r>
          </a:p>
          <a:p>
            <a:pPr lvl="1"/>
            <a:r>
              <a:rPr lang="ru-RU" dirty="0"/>
              <a:t>Избавляемся от необходимости работать с указателями вовсе (например, указатель мог быть испорчен)</a:t>
            </a:r>
          </a:p>
          <a:p>
            <a:pPr lvl="1"/>
            <a:r>
              <a:rPr lang="ru-RU" dirty="0"/>
              <a:t>Экономим на выделениях памяти (можем одной </a:t>
            </a:r>
            <a:r>
              <a:rPr lang="ru-RU" dirty="0" err="1"/>
              <a:t>аллокацией</a:t>
            </a:r>
            <a:r>
              <a:rPr lang="ru-RU" dirty="0"/>
              <a:t> выделить и </a:t>
            </a:r>
            <a:r>
              <a:rPr lang="en-US" dirty="0"/>
              <a:t>control block</a:t>
            </a:r>
            <a:r>
              <a:rPr lang="ru-RU" dirty="0"/>
              <a:t> (счетчик)</a:t>
            </a:r>
            <a:r>
              <a:rPr lang="en-US" dirty="0"/>
              <a:t>, </a:t>
            </a:r>
            <a:r>
              <a:rPr lang="ru-RU" dirty="0"/>
              <a:t>и сам объект)</a:t>
            </a:r>
          </a:p>
          <a:p>
            <a:pPr lvl="1"/>
            <a:r>
              <a:rPr lang="ru-RU" dirty="0"/>
              <a:t>На </a:t>
            </a:r>
            <a:r>
              <a:rPr lang="ru-RU" dirty="0" err="1"/>
              <a:t>деаллокациях</a:t>
            </a:r>
            <a:r>
              <a:rPr lang="ru-RU" dirty="0"/>
              <a:t> тоже экономим</a:t>
            </a:r>
          </a:p>
          <a:p>
            <a:pPr lvl="1"/>
            <a:r>
              <a:rPr lang="ru-RU" dirty="0"/>
              <a:t>Лучше кэш-локальность</a:t>
            </a:r>
          </a:p>
          <a:p>
            <a:pPr lvl="1"/>
            <a:r>
              <a:rPr lang="ru-RU" dirty="0"/>
              <a:t>Лучше при работе с исключениями</a:t>
            </a:r>
          </a:p>
        </p:txBody>
      </p:sp>
    </p:spTree>
    <p:extLst>
      <p:ext uri="{BB962C8B-B14F-4D97-AF65-F5344CB8AC3E}">
        <p14:creationId xmlns:p14="http://schemas.microsoft.com/office/powerpoint/2010/main" val="3502492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9A7FC-1D7E-43E5-8C5B-44A6CFDF1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Счетчик ссылок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15B69-D191-4A3E-9A49-0B3532E5D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Как хранить счетчик ссылок?</a:t>
            </a:r>
          </a:p>
          <a:p>
            <a:r>
              <a:rPr lang="ru-RU" dirty="0"/>
              <a:t>Точно не статической переменной класса и не полем </a:t>
            </a:r>
            <a:r>
              <a:rPr lang="en-US" dirty="0" err="1"/>
              <a:t>size_t</a:t>
            </a:r>
            <a:endParaRPr lang="en-US" dirty="0"/>
          </a:p>
          <a:p>
            <a:r>
              <a:rPr lang="ru-RU" dirty="0"/>
              <a:t>Можно хранить указатель на выделенный на куче счетчик</a:t>
            </a:r>
          </a:p>
          <a:p>
            <a:r>
              <a:rPr lang="ru-RU" dirty="0"/>
              <a:t>Но как реализовать </a:t>
            </a:r>
            <a:r>
              <a:rPr lang="en-US" dirty="0" err="1"/>
              <a:t>make_shared</a:t>
            </a:r>
            <a:r>
              <a:rPr lang="en-US" dirty="0"/>
              <a:t>?</a:t>
            </a:r>
          </a:p>
          <a:p>
            <a:r>
              <a:rPr lang="ru-RU" dirty="0"/>
              <a:t>Нужен </a:t>
            </a:r>
            <a:r>
              <a:rPr lang="en-US" dirty="0" err="1"/>
              <a:t>ControlBlock</a:t>
            </a:r>
            <a:r>
              <a:rPr lang="ru-RU" dirty="0"/>
              <a:t>, который будет хранить счетчик и сам объект</a:t>
            </a:r>
            <a:endParaRPr lang="en-US" dirty="0"/>
          </a:p>
          <a:p>
            <a:r>
              <a:rPr lang="ru-RU" dirty="0"/>
              <a:t>Как различать ситуацию между наличие и отсутствием </a:t>
            </a:r>
            <a:r>
              <a:rPr lang="en-US" dirty="0" err="1"/>
              <a:t>ControlBlock</a:t>
            </a:r>
            <a:r>
              <a:rPr lang="en-US" dirty="0"/>
              <a:t>?</a:t>
            </a:r>
          </a:p>
          <a:p>
            <a:r>
              <a:rPr lang="ru-RU" dirty="0"/>
              <a:t>Можно хранить </a:t>
            </a:r>
            <a:r>
              <a:rPr lang="en-US" dirty="0"/>
              <a:t>bool </a:t>
            </a:r>
            <a:r>
              <a:rPr lang="ru-RU" dirty="0"/>
              <a:t>или использовать биты указателя</a:t>
            </a:r>
          </a:p>
        </p:txBody>
      </p:sp>
    </p:spTree>
    <p:extLst>
      <p:ext uri="{BB962C8B-B14F-4D97-AF65-F5344CB8AC3E}">
        <p14:creationId xmlns:p14="http://schemas.microsoft.com/office/powerpoint/2010/main" val="1809521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4649-B85E-4D6F-BAFC-BFFAA6612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6075"/>
            <a:ext cx="10515600" cy="1325563"/>
          </a:xfrm>
        </p:spPr>
        <p:txBody>
          <a:bodyPr/>
          <a:lstStyle/>
          <a:p>
            <a:r>
              <a:rPr lang="ru-RU" dirty="0"/>
              <a:t>Дерево на умных указателях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9CE1A1C-6239-44B6-8066-E6F530A44CE7}"/>
              </a:ext>
            </a:extLst>
          </p:cNvPr>
          <p:cNvGrpSpPr/>
          <p:nvPr/>
        </p:nvGrpSpPr>
        <p:grpSpPr>
          <a:xfrm>
            <a:off x="4583832" y="1772816"/>
            <a:ext cx="2664296" cy="1152128"/>
            <a:chOff x="4583832" y="1772816"/>
            <a:chExt cx="2664296" cy="1152128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3F17BE8-F3A2-439D-A4D9-D05BC140118E}"/>
                </a:ext>
              </a:extLst>
            </p:cNvPr>
            <p:cNvGrpSpPr/>
            <p:nvPr/>
          </p:nvGrpSpPr>
          <p:grpSpPr>
            <a:xfrm>
              <a:off x="4583832" y="1772816"/>
              <a:ext cx="2664296" cy="1152128"/>
              <a:chOff x="4583832" y="1772816"/>
              <a:chExt cx="2029949" cy="864096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C02EC18-8C61-4AB4-BCE8-DDF88D43D1C0}"/>
                  </a:ext>
                </a:extLst>
              </p:cNvPr>
              <p:cNvSpPr/>
              <p:nvPr/>
            </p:nvSpPr>
            <p:spPr>
              <a:xfrm>
                <a:off x="4583832" y="1772816"/>
                <a:ext cx="1944216" cy="86409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  <a:p>
                <a:pPr algn="ctr"/>
                <a:endParaRPr lang="ru-RU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070F28DF-C5DB-41BB-9784-3497FC44914B}"/>
                  </a:ext>
                </a:extLst>
              </p:cNvPr>
              <p:cNvCxnSpPr>
                <a:stCxn id="4" idx="1"/>
                <a:endCxn id="4" idx="3"/>
              </p:cNvCxnSpPr>
              <p:nvPr/>
            </p:nvCxnSpPr>
            <p:spPr>
              <a:xfrm>
                <a:off x="4583832" y="2204864"/>
                <a:ext cx="1944216" cy="0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216A7B2F-5409-4366-BCCB-D2C71849513A}"/>
                  </a:ext>
                </a:extLst>
              </p:cNvPr>
              <p:cNvCxnSpPr>
                <a:stCxn id="4" idx="2"/>
              </p:cNvCxnSpPr>
              <p:nvPr/>
            </p:nvCxnSpPr>
            <p:spPr>
              <a:xfrm flipV="1">
                <a:off x="5555940" y="2204864"/>
                <a:ext cx="0" cy="432048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F6B06AC-FA0A-4ED5-A078-60FDBBC6A99F}"/>
                  </a:ext>
                </a:extLst>
              </p:cNvPr>
              <p:cNvSpPr txBox="1"/>
              <p:nvPr/>
            </p:nvSpPr>
            <p:spPr>
              <a:xfrm>
                <a:off x="4587109" y="2288084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left</a:t>
                </a:r>
                <a:endParaRPr lang="ru-RU" sz="1200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395AD60-EF90-434A-B392-53325631019A}"/>
                  </a:ext>
                </a:extLst>
              </p:cNvPr>
              <p:cNvSpPr txBox="1"/>
              <p:nvPr/>
            </p:nvSpPr>
            <p:spPr>
              <a:xfrm>
                <a:off x="5533661" y="2282388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right</a:t>
                </a:r>
                <a:endParaRPr lang="ru-RU" sz="1200" dirty="0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C0B24F2-030E-413D-98D5-4F5147982F42}"/>
                </a:ext>
              </a:extLst>
            </p:cNvPr>
            <p:cNvSpPr txBox="1"/>
            <p:nvPr/>
          </p:nvSpPr>
          <p:spPr>
            <a:xfrm flipH="1">
              <a:off x="5488583" y="1883776"/>
              <a:ext cx="103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Data</a:t>
              </a:r>
              <a:endParaRPr lang="ru-RU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24C7091-560F-4A54-9011-4EA19D6C28FC}"/>
              </a:ext>
            </a:extLst>
          </p:cNvPr>
          <p:cNvGrpSpPr/>
          <p:nvPr/>
        </p:nvGrpSpPr>
        <p:grpSpPr>
          <a:xfrm>
            <a:off x="2705126" y="3308747"/>
            <a:ext cx="2664296" cy="1152128"/>
            <a:chOff x="4583832" y="1772816"/>
            <a:chExt cx="2664296" cy="1152128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2DCF6DB-2A90-44D2-990B-36C189A02367}"/>
                </a:ext>
              </a:extLst>
            </p:cNvPr>
            <p:cNvGrpSpPr/>
            <p:nvPr/>
          </p:nvGrpSpPr>
          <p:grpSpPr>
            <a:xfrm>
              <a:off x="4583832" y="1772816"/>
              <a:ext cx="2664296" cy="1152128"/>
              <a:chOff x="4583832" y="1772816"/>
              <a:chExt cx="2029949" cy="864096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9E23ED75-36B6-4E97-A0A6-1E92B7BA7A59}"/>
                  </a:ext>
                </a:extLst>
              </p:cNvPr>
              <p:cNvSpPr/>
              <p:nvPr/>
            </p:nvSpPr>
            <p:spPr>
              <a:xfrm>
                <a:off x="4583832" y="1772816"/>
                <a:ext cx="1944216" cy="86409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  <a:p>
                <a:pPr algn="ctr"/>
                <a:endParaRPr lang="ru-RU" dirty="0"/>
              </a:p>
            </p:txBody>
          </p: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76287C8-3FC0-464B-A288-EA78B1EAFCD4}"/>
                  </a:ext>
                </a:extLst>
              </p:cNvPr>
              <p:cNvCxnSpPr>
                <a:stCxn id="30" idx="1"/>
                <a:endCxn id="30" idx="3"/>
              </p:cNvCxnSpPr>
              <p:nvPr/>
            </p:nvCxnSpPr>
            <p:spPr>
              <a:xfrm>
                <a:off x="4583832" y="2204864"/>
                <a:ext cx="1944216" cy="0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20496562-9D62-4530-820A-F3DC601E0B19}"/>
                  </a:ext>
                </a:extLst>
              </p:cNvPr>
              <p:cNvCxnSpPr>
                <a:stCxn id="30" idx="2"/>
              </p:cNvCxnSpPr>
              <p:nvPr/>
            </p:nvCxnSpPr>
            <p:spPr>
              <a:xfrm flipV="1">
                <a:off x="5555940" y="2204864"/>
                <a:ext cx="0" cy="432048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9B46173-83B9-4245-B81A-A3FB1B0792D2}"/>
                  </a:ext>
                </a:extLst>
              </p:cNvPr>
              <p:cNvSpPr txBox="1"/>
              <p:nvPr/>
            </p:nvSpPr>
            <p:spPr>
              <a:xfrm>
                <a:off x="4587109" y="2288084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left</a:t>
                </a:r>
                <a:endParaRPr lang="ru-RU" sz="1200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2C33F3D-AD49-40FC-A134-CC498596FC26}"/>
                  </a:ext>
                </a:extLst>
              </p:cNvPr>
              <p:cNvSpPr txBox="1"/>
              <p:nvPr/>
            </p:nvSpPr>
            <p:spPr>
              <a:xfrm>
                <a:off x="5533661" y="2282388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right</a:t>
                </a:r>
                <a:endParaRPr lang="ru-RU" sz="1200" dirty="0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F33591F-4932-4796-BE29-C656387B15A2}"/>
                </a:ext>
              </a:extLst>
            </p:cNvPr>
            <p:cNvSpPr txBox="1"/>
            <p:nvPr/>
          </p:nvSpPr>
          <p:spPr>
            <a:xfrm flipH="1">
              <a:off x="5488583" y="1883776"/>
              <a:ext cx="103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Data</a:t>
              </a:r>
              <a:endParaRPr lang="ru-RU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B2A43F6-D639-4594-A21F-8FDDC59533AB}"/>
              </a:ext>
            </a:extLst>
          </p:cNvPr>
          <p:cNvGrpSpPr/>
          <p:nvPr/>
        </p:nvGrpSpPr>
        <p:grpSpPr>
          <a:xfrm>
            <a:off x="6468746" y="3308747"/>
            <a:ext cx="2664296" cy="1152128"/>
            <a:chOff x="4583832" y="1772816"/>
            <a:chExt cx="2664296" cy="1152128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64712658-D0EF-4E6D-8D80-0743EFA79100}"/>
                </a:ext>
              </a:extLst>
            </p:cNvPr>
            <p:cNvGrpSpPr/>
            <p:nvPr/>
          </p:nvGrpSpPr>
          <p:grpSpPr>
            <a:xfrm>
              <a:off x="4583832" y="1772816"/>
              <a:ext cx="2664296" cy="1152128"/>
              <a:chOff x="4583832" y="1772816"/>
              <a:chExt cx="2029949" cy="86409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5DD7778-5043-40E8-9D9F-BAADDABBFF58}"/>
                  </a:ext>
                </a:extLst>
              </p:cNvPr>
              <p:cNvSpPr/>
              <p:nvPr/>
            </p:nvSpPr>
            <p:spPr>
              <a:xfrm>
                <a:off x="4583832" y="1772816"/>
                <a:ext cx="1944216" cy="86409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  <a:p>
                <a:pPr algn="ctr"/>
                <a:endParaRPr lang="ru-RU" dirty="0"/>
              </a:p>
            </p:txBody>
          </p: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8562999E-FD62-4115-B6C9-ABEF865E9D3E}"/>
                  </a:ext>
                </a:extLst>
              </p:cNvPr>
              <p:cNvCxnSpPr>
                <a:stCxn id="38" idx="1"/>
                <a:endCxn id="38" idx="3"/>
              </p:cNvCxnSpPr>
              <p:nvPr/>
            </p:nvCxnSpPr>
            <p:spPr>
              <a:xfrm>
                <a:off x="4583832" y="2204864"/>
                <a:ext cx="1944216" cy="0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948D62-A82C-4A9C-AE98-655816504EF6}"/>
                  </a:ext>
                </a:extLst>
              </p:cNvPr>
              <p:cNvCxnSpPr>
                <a:stCxn id="38" idx="2"/>
              </p:cNvCxnSpPr>
              <p:nvPr/>
            </p:nvCxnSpPr>
            <p:spPr>
              <a:xfrm flipV="1">
                <a:off x="5555940" y="2204864"/>
                <a:ext cx="0" cy="432048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33167C-352D-4DDE-A745-9767BACE2B27}"/>
                  </a:ext>
                </a:extLst>
              </p:cNvPr>
              <p:cNvSpPr txBox="1"/>
              <p:nvPr/>
            </p:nvSpPr>
            <p:spPr>
              <a:xfrm>
                <a:off x="4587109" y="2288084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left</a:t>
                </a:r>
                <a:endParaRPr lang="ru-RU" sz="12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BBED9C5-3078-4CA1-BA3E-008E13CD48BA}"/>
                  </a:ext>
                </a:extLst>
              </p:cNvPr>
              <p:cNvSpPr txBox="1"/>
              <p:nvPr/>
            </p:nvSpPr>
            <p:spPr>
              <a:xfrm>
                <a:off x="5533661" y="2282388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right</a:t>
                </a:r>
                <a:endParaRPr lang="ru-RU" sz="1200" dirty="0"/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4DEC617-C6E6-4551-A620-FA35C7320DB2}"/>
                </a:ext>
              </a:extLst>
            </p:cNvPr>
            <p:cNvSpPr txBox="1"/>
            <p:nvPr/>
          </p:nvSpPr>
          <p:spPr>
            <a:xfrm flipH="1">
              <a:off x="5488583" y="1883776"/>
              <a:ext cx="103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Data</a:t>
              </a:r>
              <a:endParaRPr lang="ru-RU" dirty="0"/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441A3F73-D20B-4E4F-AF09-BCFD96A0B31E}"/>
              </a:ext>
            </a:extLst>
          </p:cNvPr>
          <p:cNvCxnSpPr>
            <a:stCxn id="9" idx="1"/>
            <a:endCxn id="30" idx="0"/>
          </p:cNvCxnSpPr>
          <p:nvPr/>
        </p:nvCxnSpPr>
        <p:spPr>
          <a:xfrm flipH="1">
            <a:off x="3981012" y="2644506"/>
            <a:ext cx="607121" cy="66424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7472A72-BC68-4246-9590-8468B6731E5F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7105108" y="2541139"/>
            <a:ext cx="639524" cy="76760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E57B4FD9-99CC-446B-94B9-8EDEA166A7D6}"/>
              </a:ext>
            </a:extLst>
          </p:cNvPr>
          <p:cNvGrpSpPr/>
          <p:nvPr/>
        </p:nvGrpSpPr>
        <p:grpSpPr>
          <a:xfrm>
            <a:off x="1055440" y="4844678"/>
            <a:ext cx="2664296" cy="1152128"/>
            <a:chOff x="4583832" y="1772816"/>
            <a:chExt cx="2664296" cy="1152128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3534A70E-2E34-4AAF-A691-BC5A38CD5255}"/>
                </a:ext>
              </a:extLst>
            </p:cNvPr>
            <p:cNvGrpSpPr/>
            <p:nvPr/>
          </p:nvGrpSpPr>
          <p:grpSpPr>
            <a:xfrm>
              <a:off x="4583832" y="1772816"/>
              <a:ext cx="2664296" cy="1152128"/>
              <a:chOff x="4583832" y="1772816"/>
              <a:chExt cx="2029949" cy="86409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D8910956-A30B-4B47-9043-3D02D76906A1}"/>
                  </a:ext>
                </a:extLst>
              </p:cNvPr>
              <p:cNvSpPr/>
              <p:nvPr/>
            </p:nvSpPr>
            <p:spPr>
              <a:xfrm>
                <a:off x="4583832" y="1772816"/>
                <a:ext cx="1944216" cy="86409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  <a:p>
                <a:pPr algn="ctr"/>
                <a:endParaRPr lang="ru-RU" dirty="0"/>
              </a:p>
            </p:txBody>
          </p: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80B3105E-5606-46B9-BB49-9DAD8CB1B4E7}"/>
                  </a:ext>
                </a:extLst>
              </p:cNvPr>
              <p:cNvCxnSpPr>
                <a:stCxn id="53" idx="1"/>
                <a:endCxn id="53" idx="3"/>
              </p:cNvCxnSpPr>
              <p:nvPr/>
            </p:nvCxnSpPr>
            <p:spPr>
              <a:xfrm>
                <a:off x="4583832" y="2204864"/>
                <a:ext cx="1944216" cy="0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0DF90BA3-F47F-4C6A-A5C6-917CF8C14451}"/>
                  </a:ext>
                </a:extLst>
              </p:cNvPr>
              <p:cNvCxnSpPr>
                <a:stCxn id="53" idx="2"/>
              </p:cNvCxnSpPr>
              <p:nvPr/>
            </p:nvCxnSpPr>
            <p:spPr>
              <a:xfrm flipV="1">
                <a:off x="5555940" y="2204864"/>
                <a:ext cx="0" cy="432048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F507BC7-B791-476C-863C-62E833BE96C4}"/>
                  </a:ext>
                </a:extLst>
              </p:cNvPr>
              <p:cNvSpPr txBox="1"/>
              <p:nvPr/>
            </p:nvSpPr>
            <p:spPr>
              <a:xfrm>
                <a:off x="4587109" y="2288084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left</a:t>
                </a:r>
                <a:endParaRPr lang="ru-RU" sz="1200" dirty="0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D51A7DE-A002-45DA-A835-74A06C48510E}"/>
                  </a:ext>
                </a:extLst>
              </p:cNvPr>
              <p:cNvSpPr txBox="1"/>
              <p:nvPr/>
            </p:nvSpPr>
            <p:spPr>
              <a:xfrm>
                <a:off x="5533661" y="2282388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right</a:t>
                </a:r>
                <a:endParaRPr lang="ru-RU" sz="1200" dirty="0"/>
              </a:p>
            </p:txBody>
          </p: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8C373B08-A859-43ED-AF3E-6B837A8A7674}"/>
                </a:ext>
              </a:extLst>
            </p:cNvPr>
            <p:cNvSpPr txBox="1"/>
            <p:nvPr/>
          </p:nvSpPr>
          <p:spPr>
            <a:xfrm flipH="1">
              <a:off x="5488583" y="1883776"/>
              <a:ext cx="103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Data</a:t>
              </a:r>
              <a:endParaRPr lang="ru-RU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8044EA2-61D0-43ED-8BBD-BF2FEE0235B7}"/>
              </a:ext>
            </a:extLst>
          </p:cNvPr>
          <p:cNvGrpSpPr/>
          <p:nvPr/>
        </p:nvGrpSpPr>
        <p:grpSpPr>
          <a:xfrm>
            <a:off x="4037274" y="4829813"/>
            <a:ext cx="2664296" cy="1152128"/>
            <a:chOff x="4583832" y="1772816"/>
            <a:chExt cx="2664296" cy="1152128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00AC6341-CE87-4A24-9982-1EF90BB410EA}"/>
                </a:ext>
              </a:extLst>
            </p:cNvPr>
            <p:cNvGrpSpPr/>
            <p:nvPr/>
          </p:nvGrpSpPr>
          <p:grpSpPr>
            <a:xfrm>
              <a:off x="4583832" y="1772816"/>
              <a:ext cx="2664296" cy="1152128"/>
              <a:chOff x="4583832" y="1772816"/>
              <a:chExt cx="2029949" cy="864096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5AD6D41-2DC4-43B6-A913-541996ADB4DF}"/>
                  </a:ext>
                </a:extLst>
              </p:cNvPr>
              <p:cNvSpPr/>
              <p:nvPr/>
            </p:nvSpPr>
            <p:spPr>
              <a:xfrm>
                <a:off x="4583832" y="1772816"/>
                <a:ext cx="1944216" cy="86409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  <a:p>
                <a:pPr algn="ctr"/>
                <a:endParaRPr lang="ru-RU" dirty="0"/>
              </a:p>
            </p:txBody>
          </p: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7E8929A0-A944-43A1-A405-F70F759CA201}"/>
                  </a:ext>
                </a:extLst>
              </p:cNvPr>
              <p:cNvCxnSpPr>
                <a:stCxn id="61" idx="1"/>
                <a:endCxn id="61" idx="3"/>
              </p:cNvCxnSpPr>
              <p:nvPr/>
            </p:nvCxnSpPr>
            <p:spPr>
              <a:xfrm>
                <a:off x="4583832" y="2204864"/>
                <a:ext cx="1944216" cy="0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0CDCD82B-CCEA-4F29-A9D1-A9165A11F870}"/>
                  </a:ext>
                </a:extLst>
              </p:cNvPr>
              <p:cNvCxnSpPr>
                <a:stCxn id="61" idx="2"/>
              </p:cNvCxnSpPr>
              <p:nvPr/>
            </p:nvCxnSpPr>
            <p:spPr>
              <a:xfrm flipV="1">
                <a:off x="5555940" y="2204864"/>
                <a:ext cx="0" cy="432048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1AC17F26-A679-4E90-AEF8-1D186D91F5A9}"/>
                  </a:ext>
                </a:extLst>
              </p:cNvPr>
              <p:cNvSpPr txBox="1"/>
              <p:nvPr/>
            </p:nvSpPr>
            <p:spPr>
              <a:xfrm>
                <a:off x="4587109" y="2288084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left</a:t>
                </a:r>
                <a:endParaRPr lang="ru-RU" sz="1200" dirty="0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B805612-272D-4369-A8C2-A4D7E73710D9}"/>
                  </a:ext>
                </a:extLst>
              </p:cNvPr>
              <p:cNvSpPr txBox="1"/>
              <p:nvPr/>
            </p:nvSpPr>
            <p:spPr>
              <a:xfrm>
                <a:off x="5533661" y="2282388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right</a:t>
                </a:r>
                <a:endParaRPr lang="ru-RU" sz="1200" dirty="0"/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21E6EFC-30D8-4CAA-828C-49FD4B8395C8}"/>
                </a:ext>
              </a:extLst>
            </p:cNvPr>
            <p:cNvSpPr txBox="1"/>
            <p:nvPr/>
          </p:nvSpPr>
          <p:spPr>
            <a:xfrm flipH="1">
              <a:off x="5488583" y="1883776"/>
              <a:ext cx="103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Data</a:t>
              </a:r>
              <a:endParaRPr lang="ru-RU" dirty="0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8CEE7B23-1CEA-491B-A3FA-9AD89A928148}"/>
              </a:ext>
            </a:extLst>
          </p:cNvPr>
          <p:cNvGrpSpPr/>
          <p:nvPr/>
        </p:nvGrpSpPr>
        <p:grpSpPr>
          <a:xfrm>
            <a:off x="7831390" y="4829813"/>
            <a:ext cx="2664296" cy="1152128"/>
            <a:chOff x="4583832" y="1772816"/>
            <a:chExt cx="2664296" cy="1152128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A35344B-AEF6-4262-89E6-CF6043B4C8C7}"/>
                </a:ext>
              </a:extLst>
            </p:cNvPr>
            <p:cNvGrpSpPr/>
            <p:nvPr/>
          </p:nvGrpSpPr>
          <p:grpSpPr>
            <a:xfrm>
              <a:off x="4583832" y="1772816"/>
              <a:ext cx="2664296" cy="1152128"/>
              <a:chOff x="4583832" y="1772816"/>
              <a:chExt cx="2029949" cy="864096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AA5CA5DA-FB58-469D-8F2A-3ED7F6FF5CBF}"/>
                  </a:ext>
                </a:extLst>
              </p:cNvPr>
              <p:cNvSpPr/>
              <p:nvPr/>
            </p:nvSpPr>
            <p:spPr>
              <a:xfrm>
                <a:off x="4583832" y="1772816"/>
                <a:ext cx="1944216" cy="86409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  <a:p>
                <a:pPr algn="ctr"/>
                <a:endParaRPr lang="ru-RU" dirty="0"/>
              </a:p>
            </p:txBody>
          </p: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12FCA172-A028-4A7B-B170-EB8E6E60CC3B}"/>
                  </a:ext>
                </a:extLst>
              </p:cNvPr>
              <p:cNvCxnSpPr>
                <a:stCxn id="69" idx="1"/>
                <a:endCxn id="69" idx="3"/>
              </p:cNvCxnSpPr>
              <p:nvPr/>
            </p:nvCxnSpPr>
            <p:spPr>
              <a:xfrm>
                <a:off x="4583832" y="2204864"/>
                <a:ext cx="1944216" cy="0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6784F007-83DA-40C9-B206-82F41106586D}"/>
                  </a:ext>
                </a:extLst>
              </p:cNvPr>
              <p:cNvCxnSpPr>
                <a:stCxn id="69" idx="2"/>
              </p:cNvCxnSpPr>
              <p:nvPr/>
            </p:nvCxnSpPr>
            <p:spPr>
              <a:xfrm flipV="1">
                <a:off x="5555940" y="2204864"/>
                <a:ext cx="0" cy="432048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A27B4E6B-EB9E-42BB-A0DE-3C122A099B83}"/>
                  </a:ext>
                </a:extLst>
              </p:cNvPr>
              <p:cNvSpPr txBox="1"/>
              <p:nvPr/>
            </p:nvSpPr>
            <p:spPr>
              <a:xfrm>
                <a:off x="4587109" y="2288084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left</a:t>
                </a:r>
                <a:endParaRPr lang="ru-RU" sz="12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40DE390-46E7-43AA-B67C-96B2A1407B15}"/>
                  </a:ext>
                </a:extLst>
              </p:cNvPr>
              <p:cNvSpPr txBox="1"/>
              <p:nvPr/>
            </p:nvSpPr>
            <p:spPr>
              <a:xfrm>
                <a:off x="5533661" y="2282388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right</a:t>
                </a:r>
                <a:endParaRPr lang="ru-RU" sz="1200" dirty="0"/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6BC3C50-068B-4CCE-AA5C-E687368702FC}"/>
                </a:ext>
              </a:extLst>
            </p:cNvPr>
            <p:cNvSpPr txBox="1"/>
            <p:nvPr/>
          </p:nvSpPr>
          <p:spPr>
            <a:xfrm flipH="1">
              <a:off x="5488583" y="1883776"/>
              <a:ext cx="103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Data</a:t>
              </a:r>
              <a:endParaRPr lang="ru-RU" dirty="0"/>
            </a:p>
          </p:txBody>
        </p:sp>
      </p:grp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5E8012A1-27F4-4D0B-8F75-CE00734F80C2}"/>
              </a:ext>
            </a:extLst>
          </p:cNvPr>
          <p:cNvCxnSpPr>
            <a:stCxn id="33" idx="1"/>
            <a:endCxn id="53" idx="0"/>
          </p:cNvCxnSpPr>
          <p:nvPr/>
        </p:nvCxnSpPr>
        <p:spPr>
          <a:xfrm flipH="1">
            <a:off x="2331326" y="4180437"/>
            <a:ext cx="378101" cy="66424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2CCA2E60-7A1C-4209-86FD-4D5C4E92CE4C}"/>
              </a:ext>
            </a:extLst>
          </p:cNvPr>
          <p:cNvCxnSpPr>
            <a:cxnSpLocks/>
            <a:endCxn id="61" idx="0"/>
          </p:cNvCxnSpPr>
          <p:nvPr/>
        </p:nvCxnSpPr>
        <p:spPr>
          <a:xfrm>
            <a:off x="5242277" y="4172842"/>
            <a:ext cx="70883" cy="65697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13C40810-5D47-4A6C-A2D1-813E9CB247CB}"/>
              </a:ext>
            </a:extLst>
          </p:cNvPr>
          <p:cNvCxnSpPr>
            <a:cxnSpLocks/>
            <a:endCxn id="69" idx="0"/>
          </p:cNvCxnSpPr>
          <p:nvPr/>
        </p:nvCxnSpPr>
        <p:spPr>
          <a:xfrm>
            <a:off x="8986977" y="4172842"/>
            <a:ext cx="120299" cy="65697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92025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4649-B85E-4D6F-BAFC-BFFAA6612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6075"/>
            <a:ext cx="10515600" cy="1325563"/>
          </a:xfrm>
        </p:spPr>
        <p:txBody>
          <a:bodyPr/>
          <a:lstStyle/>
          <a:p>
            <a:r>
              <a:rPr lang="ru-RU" dirty="0"/>
              <a:t>Дерево на умных указателях</a:t>
            </a:r>
            <a:r>
              <a:rPr lang="en-US" dirty="0"/>
              <a:t> </a:t>
            </a:r>
            <a:r>
              <a:rPr lang="ru-RU" dirty="0"/>
              <a:t>со ссылкой на родителя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9CE1A1C-6239-44B6-8066-E6F530A44CE7}"/>
              </a:ext>
            </a:extLst>
          </p:cNvPr>
          <p:cNvGrpSpPr/>
          <p:nvPr/>
        </p:nvGrpSpPr>
        <p:grpSpPr>
          <a:xfrm>
            <a:off x="4583832" y="1772816"/>
            <a:ext cx="2664296" cy="1152128"/>
            <a:chOff x="4583832" y="1772816"/>
            <a:chExt cx="2664296" cy="1152128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3F17BE8-F3A2-439D-A4D9-D05BC140118E}"/>
                </a:ext>
              </a:extLst>
            </p:cNvPr>
            <p:cNvGrpSpPr/>
            <p:nvPr/>
          </p:nvGrpSpPr>
          <p:grpSpPr>
            <a:xfrm>
              <a:off x="4583832" y="1772816"/>
              <a:ext cx="2664296" cy="1152128"/>
              <a:chOff x="4583832" y="1772816"/>
              <a:chExt cx="2029949" cy="864096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C02EC18-8C61-4AB4-BCE8-DDF88D43D1C0}"/>
                  </a:ext>
                </a:extLst>
              </p:cNvPr>
              <p:cNvSpPr/>
              <p:nvPr/>
            </p:nvSpPr>
            <p:spPr>
              <a:xfrm>
                <a:off x="4583832" y="1772816"/>
                <a:ext cx="1944216" cy="86409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  <a:p>
                <a:pPr algn="ctr"/>
                <a:endParaRPr lang="ru-RU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070F28DF-C5DB-41BB-9784-3497FC44914B}"/>
                  </a:ext>
                </a:extLst>
              </p:cNvPr>
              <p:cNvCxnSpPr>
                <a:stCxn id="4" idx="1"/>
                <a:endCxn id="4" idx="3"/>
              </p:cNvCxnSpPr>
              <p:nvPr/>
            </p:nvCxnSpPr>
            <p:spPr>
              <a:xfrm>
                <a:off x="4583832" y="2204864"/>
                <a:ext cx="1944216" cy="0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216A7B2F-5409-4366-BCCB-D2C71849513A}"/>
                  </a:ext>
                </a:extLst>
              </p:cNvPr>
              <p:cNvCxnSpPr>
                <a:stCxn id="4" idx="2"/>
              </p:cNvCxnSpPr>
              <p:nvPr/>
            </p:nvCxnSpPr>
            <p:spPr>
              <a:xfrm flipV="1">
                <a:off x="5555940" y="2204864"/>
                <a:ext cx="0" cy="432048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F6B06AC-FA0A-4ED5-A078-60FDBBC6A99F}"/>
                  </a:ext>
                </a:extLst>
              </p:cNvPr>
              <p:cNvSpPr txBox="1"/>
              <p:nvPr/>
            </p:nvSpPr>
            <p:spPr>
              <a:xfrm>
                <a:off x="4587109" y="2288084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left</a:t>
                </a:r>
                <a:endParaRPr lang="ru-RU" sz="1200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395AD60-EF90-434A-B392-53325631019A}"/>
                  </a:ext>
                </a:extLst>
              </p:cNvPr>
              <p:cNvSpPr txBox="1"/>
              <p:nvPr/>
            </p:nvSpPr>
            <p:spPr>
              <a:xfrm>
                <a:off x="5533661" y="2282388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right</a:t>
                </a:r>
                <a:endParaRPr lang="ru-RU" sz="1200" dirty="0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C0B24F2-030E-413D-98D5-4F5147982F42}"/>
                </a:ext>
              </a:extLst>
            </p:cNvPr>
            <p:cNvSpPr txBox="1"/>
            <p:nvPr/>
          </p:nvSpPr>
          <p:spPr>
            <a:xfrm flipH="1">
              <a:off x="5488583" y="1883776"/>
              <a:ext cx="103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Data</a:t>
              </a:r>
              <a:endParaRPr lang="ru-RU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24C7091-560F-4A54-9011-4EA19D6C28FC}"/>
              </a:ext>
            </a:extLst>
          </p:cNvPr>
          <p:cNvGrpSpPr/>
          <p:nvPr/>
        </p:nvGrpSpPr>
        <p:grpSpPr>
          <a:xfrm>
            <a:off x="2705126" y="3308747"/>
            <a:ext cx="2664296" cy="1152128"/>
            <a:chOff x="4583832" y="1772816"/>
            <a:chExt cx="2664296" cy="1152128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2DCF6DB-2A90-44D2-990B-36C189A02367}"/>
                </a:ext>
              </a:extLst>
            </p:cNvPr>
            <p:cNvGrpSpPr/>
            <p:nvPr/>
          </p:nvGrpSpPr>
          <p:grpSpPr>
            <a:xfrm>
              <a:off x="4583832" y="1772816"/>
              <a:ext cx="2664296" cy="1152128"/>
              <a:chOff x="4583832" y="1772816"/>
              <a:chExt cx="2029949" cy="864096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9E23ED75-36B6-4E97-A0A6-1E92B7BA7A59}"/>
                  </a:ext>
                </a:extLst>
              </p:cNvPr>
              <p:cNvSpPr/>
              <p:nvPr/>
            </p:nvSpPr>
            <p:spPr>
              <a:xfrm>
                <a:off x="4583832" y="1772816"/>
                <a:ext cx="1944216" cy="86409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  <a:p>
                <a:pPr algn="ctr"/>
                <a:endParaRPr lang="ru-RU" dirty="0"/>
              </a:p>
            </p:txBody>
          </p: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76287C8-3FC0-464B-A288-EA78B1EAFCD4}"/>
                  </a:ext>
                </a:extLst>
              </p:cNvPr>
              <p:cNvCxnSpPr>
                <a:stCxn id="30" idx="1"/>
                <a:endCxn id="30" idx="3"/>
              </p:cNvCxnSpPr>
              <p:nvPr/>
            </p:nvCxnSpPr>
            <p:spPr>
              <a:xfrm>
                <a:off x="4583832" y="2204864"/>
                <a:ext cx="1944216" cy="0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20496562-9D62-4530-820A-F3DC601E0B19}"/>
                  </a:ext>
                </a:extLst>
              </p:cNvPr>
              <p:cNvCxnSpPr>
                <a:stCxn id="30" idx="2"/>
              </p:cNvCxnSpPr>
              <p:nvPr/>
            </p:nvCxnSpPr>
            <p:spPr>
              <a:xfrm flipV="1">
                <a:off x="5555940" y="2204864"/>
                <a:ext cx="0" cy="432048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9B46173-83B9-4245-B81A-A3FB1B0792D2}"/>
                  </a:ext>
                </a:extLst>
              </p:cNvPr>
              <p:cNvSpPr txBox="1"/>
              <p:nvPr/>
            </p:nvSpPr>
            <p:spPr>
              <a:xfrm>
                <a:off x="4587109" y="2288084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left</a:t>
                </a:r>
                <a:endParaRPr lang="ru-RU" sz="1200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2C33F3D-AD49-40FC-A134-CC498596FC26}"/>
                  </a:ext>
                </a:extLst>
              </p:cNvPr>
              <p:cNvSpPr txBox="1"/>
              <p:nvPr/>
            </p:nvSpPr>
            <p:spPr>
              <a:xfrm>
                <a:off x="5533661" y="2282388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right</a:t>
                </a:r>
                <a:endParaRPr lang="ru-RU" sz="1200" dirty="0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F33591F-4932-4796-BE29-C656387B15A2}"/>
                </a:ext>
              </a:extLst>
            </p:cNvPr>
            <p:cNvSpPr txBox="1"/>
            <p:nvPr/>
          </p:nvSpPr>
          <p:spPr>
            <a:xfrm flipH="1">
              <a:off x="5488583" y="1883776"/>
              <a:ext cx="103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Data</a:t>
              </a:r>
              <a:endParaRPr lang="ru-RU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B2A43F6-D639-4594-A21F-8FDDC59533AB}"/>
              </a:ext>
            </a:extLst>
          </p:cNvPr>
          <p:cNvGrpSpPr/>
          <p:nvPr/>
        </p:nvGrpSpPr>
        <p:grpSpPr>
          <a:xfrm>
            <a:off x="6468746" y="3308747"/>
            <a:ext cx="2664296" cy="1152128"/>
            <a:chOff x="4583832" y="1772816"/>
            <a:chExt cx="2664296" cy="1152128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64712658-D0EF-4E6D-8D80-0743EFA79100}"/>
                </a:ext>
              </a:extLst>
            </p:cNvPr>
            <p:cNvGrpSpPr/>
            <p:nvPr/>
          </p:nvGrpSpPr>
          <p:grpSpPr>
            <a:xfrm>
              <a:off x="4583832" y="1772816"/>
              <a:ext cx="2664296" cy="1152128"/>
              <a:chOff x="4583832" y="1772816"/>
              <a:chExt cx="2029949" cy="86409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5DD7778-5043-40E8-9D9F-BAADDABBFF58}"/>
                  </a:ext>
                </a:extLst>
              </p:cNvPr>
              <p:cNvSpPr/>
              <p:nvPr/>
            </p:nvSpPr>
            <p:spPr>
              <a:xfrm>
                <a:off x="4583832" y="1772816"/>
                <a:ext cx="1944216" cy="86409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  <a:p>
                <a:pPr algn="ctr"/>
                <a:endParaRPr lang="ru-RU" dirty="0"/>
              </a:p>
            </p:txBody>
          </p: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8562999E-FD62-4115-B6C9-ABEF865E9D3E}"/>
                  </a:ext>
                </a:extLst>
              </p:cNvPr>
              <p:cNvCxnSpPr>
                <a:stCxn id="38" idx="1"/>
                <a:endCxn id="38" idx="3"/>
              </p:cNvCxnSpPr>
              <p:nvPr/>
            </p:nvCxnSpPr>
            <p:spPr>
              <a:xfrm>
                <a:off x="4583832" y="2204864"/>
                <a:ext cx="1944216" cy="0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E5948D62-A82C-4A9C-AE98-655816504EF6}"/>
                  </a:ext>
                </a:extLst>
              </p:cNvPr>
              <p:cNvCxnSpPr>
                <a:stCxn id="38" idx="2"/>
              </p:cNvCxnSpPr>
              <p:nvPr/>
            </p:nvCxnSpPr>
            <p:spPr>
              <a:xfrm flipV="1">
                <a:off x="5555940" y="2204864"/>
                <a:ext cx="0" cy="432048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33167C-352D-4DDE-A745-9767BACE2B27}"/>
                  </a:ext>
                </a:extLst>
              </p:cNvPr>
              <p:cNvSpPr txBox="1"/>
              <p:nvPr/>
            </p:nvSpPr>
            <p:spPr>
              <a:xfrm>
                <a:off x="4587109" y="2288084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left</a:t>
                </a:r>
                <a:endParaRPr lang="ru-RU" sz="12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BBED9C5-3078-4CA1-BA3E-008E13CD48BA}"/>
                  </a:ext>
                </a:extLst>
              </p:cNvPr>
              <p:cNvSpPr txBox="1"/>
              <p:nvPr/>
            </p:nvSpPr>
            <p:spPr>
              <a:xfrm>
                <a:off x="5533661" y="2282388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right</a:t>
                </a:r>
                <a:endParaRPr lang="ru-RU" sz="1200" dirty="0"/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4DEC617-C6E6-4551-A620-FA35C7320DB2}"/>
                </a:ext>
              </a:extLst>
            </p:cNvPr>
            <p:cNvSpPr txBox="1"/>
            <p:nvPr/>
          </p:nvSpPr>
          <p:spPr>
            <a:xfrm flipH="1">
              <a:off x="5488583" y="1883776"/>
              <a:ext cx="103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Data</a:t>
              </a:r>
              <a:endParaRPr lang="ru-RU" dirty="0"/>
            </a:p>
          </p:txBody>
        </p:sp>
      </p:grp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441A3F73-D20B-4E4F-AF09-BCFD96A0B31E}"/>
              </a:ext>
            </a:extLst>
          </p:cNvPr>
          <p:cNvCxnSpPr>
            <a:stCxn id="9" idx="1"/>
            <a:endCxn id="30" idx="0"/>
          </p:cNvCxnSpPr>
          <p:nvPr/>
        </p:nvCxnSpPr>
        <p:spPr>
          <a:xfrm flipH="1">
            <a:off x="3981012" y="2644506"/>
            <a:ext cx="607121" cy="66424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7472A72-BC68-4246-9590-8468B6731E5F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7105108" y="2541139"/>
            <a:ext cx="639524" cy="76760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E57B4FD9-99CC-446B-94B9-8EDEA166A7D6}"/>
              </a:ext>
            </a:extLst>
          </p:cNvPr>
          <p:cNvGrpSpPr/>
          <p:nvPr/>
        </p:nvGrpSpPr>
        <p:grpSpPr>
          <a:xfrm>
            <a:off x="1055440" y="4844678"/>
            <a:ext cx="2664296" cy="1152128"/>
            <a:chOff x="4583832" y="1772816"/>
            <a:chExt cx="2664296" cy="1152128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3534A70E-2E34-4AAF-A691-BC5A38CD5255}"/>
                </a:ext>
              </a:extLst>
            </p:cNvPr>
            <p:cNvGrpSpPr/>
            <p:nvPr/>
          </p:nvGrpSpPr>
          <p:grpSpPr>
            <a:xfrm>
              <a:off x="4583832" y="1772816"/>
              <a:ext cx="2664296" cy="1152128"/>
              <a:chOff x="4583832" y="1772816"/>
              <a:chExt cx="2029949" cy="86409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D8910956-A30B-4B47-9043-3D02D76906A1}"/>
                  </a:ext>
                </a:extLst>
              </p:cNvPr>
              <p:cNvSpPr/>
              <p:nvPr/>
            </p:nvSpPr>
            <p:spPr>
              <a:xfrm>
                <a:off x="4583832" y="1772816"/>
                <a:ext cx="1944216" cy="86409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  <a:p>
                <a:pPr algn="ctr"/>
                <a:endParaRPr lang="ru-RU" dirty="0"/>
              </a:p>
            </p:txBody>
          </p: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80B3105E-5606-46B9-BB49-9DAD8CB1B4E7}"/>
                  </a:ext>
                </a:extLst>
              </p:cNvPr>
              <p:cNvCxnSpPr>
                <a:stCxn id="53" idx="1"/>
                <a:endCxn id="53" idx="3"/>
              </p:cNvCxnSpPr>
              <p:nvPr/>
            </p:nvCxnSpPr>
            <p:spPr>
              <a:xfrm>
                <a:off x="4583832" y="2204864"/>
                <a:ext cx="1944216" cy="0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0DF90BA3-F47F-4C6A-A5C6-917CF8C14451}"/>
                  </a:ext>
                </a:extLst>
              </p:cNvPr>
              <p:cNvCxnSpPr>
                <a:stCxn id="53" idx="2"/>
              </p:cNvCxnSpPr>
              <p:nvPr/>
            </p:nvCxnSpPr>
            <p:spPr>
              <a:xfrm flipV="1">
                <a:off x="5555940" y="2204864"/>
                <a:ext cx="0" cy="432048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F507BC7-B791-476C-863C-62E833BE96C4}"/>
                  </a:ext>
                </a:extLst>
              </p:cNvPr>
              <p:cNvSpPr txBox="1"/>
              <p:nvPr/>
            </p:nvSpPr>
            <p:spPr>
              <a:xfrm>
                <a:off x="4587109" y="2288084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left</a:t>
                </a:r>
                <a:endParaRPr lang="ru-RU" sz="1200" dirty="0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D51A7DE-A002-45DA-A835-74A06C48510E}"/>
                  </a:ext>
                </a:extLst>
              </p:cNvPr>
              <p:cNvSpPr txBox="1"/>
              <p:nvPr/>
            </p:nvSpPr>
            <p:spPr>
              <a:xfrm>
                <a:off x="5533661" y="2282388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right</a:t>
                </a:r>
                <a:endParaRPr lang="ru-RU" sz="1200" dirty="0"/>
              </a:p>
            </p:txBody>
          </p: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8C373B08-A859-43ED-AF3E-6B837A8A7674}"/>
                </a:ext>
              </a:extLst>
            </p:cNvPr>
            <p:cNvSpPr txBox="1"/>
            <p:nvPr/>
          </p:nvSpPr>
          <p:spPr>
            <a:xfrm flipH="1">
              <a:off x="5488583" y="1883776"/>
              <a:ext cx="103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Data</a:t>
              </a:r>
              <a:endParaRPr lang="ru-RU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8044EA2-61D0-43ED-8BBD-BF2FEE0235B7}"/>
              </a:ext>
            </a:extLst>
          </p:cNvPr>
          <p:cNvGrpSpPr/>
          <p:nvPr/>
        </p:nvGrpSpPr>
        <p:grpSpPr>
          <a:xfrm>
            <a:off x="4037274" y="4829813"/>
            <a:ext cx="2664296" cy="1152128"/>
            <a:chOff x="4583832" y="1772816"/>
            <a:chExt cx="2664296" cy="1152128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00AC6341-CE87-4A24-9982-1EF90BB410EA}"/>
                </a:ext>
              </a:extLst>
            </p:cNvPr>
            <p:cNvGrpSpPr/>
            <p:nvPr/>
          </p:nvGrpSpPr>
          <p:grpSpPr>
            <a:xfrm>
              <a:off x="4583832" y="1772816"/>
              <a:ext cx="2664296" cy="1152128"/>
              <a:chOff x="4583832" y="1772816"/>
              <a:chExt cx="2029949" cy="864096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5AD6D41-2DC4-43B6-A913-541996ADB4DF}"/>
                  </a:ext>
                </a:extLst>
              </p:cNvPr>
              <p:cNvSpPr/>
              <p:nvPr/>
            </p:nvSpPr>
            <p:spPr>
              <a:xfrm>
                <a:off x="4583832" y="1772816"/>
                <a:ext cx="1944216" cy="86409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  <a:p>
                <a:pPr algn="ctr"/>
                <a:endParaRPr lang="ru-RU" dirty="0"/>
              </a:p>
            </p:txBody>
          </p: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7E8929A0-A944-43A1-A405-F70F759CA201}"/>
                  </a:ext>
                </a:extLst>
              </p:cNvPr>
              <p:cNvCxnSpPr>
                <a:stCxn id="61" idx="1"/>
                <a:endCxn id="61" idx="3"/>
              </p:cNvCxnSpPr>
              <p:nvPr/>
            </p:nvCxnSpPr>
            <p:spPr>
              <a:xfrm>
                <a:off x="4583832" y="2204864"/>
                <a:ext cx="1944216" cy="0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0CDCD82B-CCEA-4F29-A9D1-A9165A11F870}"/>
                  </a:ext>
                </a:extLst>
              </p:cNvPr>
              <p:cNvCxnSpPr>
                <a:stCxn id="61" idx="2"/>
              </p:cNvCxnSpPr>
              <p:nvPr/>
            </p:nvCxnSpPr>
            <p:spPr>
              <a:xfrm flipV="1">
                <a:off x="5555940" y="2204864"/>
                <a:ext cx="0" cy="432048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1AC17F26-A679-4E90-AEF8-1D186D91F5A9}"/>
                  </a:ext>
                </a:extLst>
              </p:cNvPr>
              <p:cNvSpPr txBox="1"/>
              <p:nvPr/>
            </p:nvSpPr>
            <p:spPr>
              <a:xfrm>
                <a:off x="4587109" y="2288084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left</a:t>
                </a:r>
                <a:endParaRPr lang="ru-RU" sz="1200" dirty="0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B805612-272D-4369-A8C2-A4D7E73710D9}"/>
                  </a:ext>
                </a:extLst>
              </p:cNvPr>
              <p:cNvSpPr txBox="1"/>
              <p:nvPr/>
            </p:nvSpPr>
            <p:spPr>
              <a:xfrm>
                <a:off x="5533661" y="2282388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right</a:t>
                </a:r>
                <a:endParaRPr lang="ru-RU" sz="1200" dirty="0"/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21E6EFC-30D8-4CAA-828C-49FD4B8395C8}"/>
                </a:ext>
              </a:extLst>
            </p:cNvPr>
            <p:cNvSpPr txBox="1"/>
            <p:nvPr/>
          </p:nvSpPr>
          <p:spPr>
            <a:xfrm flipH="1">
              <a:off x="5488583" y="1883776"/>
              <a:ext cx="103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Data</a:t>
              </a:r>
              <a:endParaRPr lang="ru-RU" dirty="0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8CEE7B23-1CEA-491B-A3FA-9AD89A928148}"/>
              </a:ext>
            </a:extLst>
          </p:cNvPr>
          <p:cNvGrpSpPr/>
          <p:nvPr/>
        </p:nvGrpSpPr>
        <p:grpSpPr>
          <a:xfrm>
            <a:off x="7831390" y="4829813"/>
            <a:ext cx="2664296" cy="1152128"/>
            <a:chOff x="4583832" y="1772816"/>
            <a:chExt cx="2664296" cy="1152128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A35344B-AEF6-4262-89E6-CF6043B4C8C7}"/>
                </a:ext>
              </a:extLst>
            </p:cNvPr>
            <p:cNvGrpSpPr/>
            <p:nvPr/>
          </p:nvGrpSpPr>
          <p:grpSpPr>
            <a:xfrm>
              <a:off x="4583832" y="1772816"/>
              <a:ext cx="2664296" cy="1152128"/>
              <a:chOff x="4583832" y="1772816"/>
              <a:chExt cx="2029949" cy="864096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AA5CA5DA-FB58-469D-8F2A-3ED7F6FF5CBF}"/>
                  </a:ext>
                </a:extLst>
              </p:cNvPr>
              <p:cNvSpPr/>
              <p:nvPr/>
            </p:nvSpPr>
            <p:spPr>
              <a:xfrm>
                <a:off x="4583832" y="1772816"/>
                <a:ext cx="1944216" cy="86409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  <a:p>
                <a:pPr algn="ctr"/>
                <a:endParaRPr lang="ru-RU" dirty="0"/>
              </a:p>
            </p:txBody>
          </p: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12FCA172-A028-4A7B-B170-EB8E6E60CC3B}"/>
                  </a:ext>
                </a:extLst>
              </p:cNvPr>
              <p:cNvCxnSpPr>
                <a:stCxn id="69" idx="1"/>
                <a:endCxn id="69" idx="3"/>
              </p:cNvCxnSpPr>
              <p:nvPr/>
            </p:nvCxnSpPr>
            <p:spPr>
              <a:xfrm>
                <a:off x="4583832" y="2204864"/>
                <a:ext cx="1944216" cy="0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6784F007-83DA-40C9-B206-82F41106586D}"/>
                  </a:ext>
                </a:extLst>
              </p:cNvPr>
              <p:cNvCxnSpPr>
                <a:stCxn id="69" idx="2"/>
              </p:cNvCxnSpPr>
              <p:nvPr/>
            </p:nvCxnSpPr>
            <p:spPr>
              <a:xfrm flipV="1">
                <a:off x="5555940" y="2204864"/>
                <a:ext cx="0" cy="432048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A27B4E6B-EB9E-42BB-A0DE-3C122A099B83}"/>
                  </a:ext>
                </a:extLst>
              </p:cNvPr>
              <p:cNvSpPr txBox="1"/>
              <p:nvPr/>
            </p:nvSpPr>
            <p:spPr>
              <a:xfrm>
                <a:off x="4587109" y="2288084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left</a:t>
                </a:r>
                <a:endParaRPr lang="ru-RU" sz="12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40DE390-46E7-43AA-B67C-96B2A1407B15}"/>
                  </a:ext>
                </a:extLst>
              </p:cNvPr>
              <p:cNvSpPr txBox="1"/>
              <p:nvPr/>
            </p:nvSpPr>
            <p:spPr>
              <a:xfrm>
                <a:off x="5533661" y="2282388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 err="1"/>
                  <a:t>NodePtr</a:t>
                </a:r>
                <a:r>
                  <a:rPr lang="en-US" sz="1200" dirty="0"/>
                  <a:t> right</a:t>
                </a:r>
                <a:endParaRPr lang="ru-RU" sz="1200" dirty="0"/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6BC3C50-068B-4CCE-AA5C-E687368702FC}"/>
                </a:ext>
              </a:extLst>
            </p:cNvPr>
            <p:cNvSpPr txBox="1"/>
            <p:nvPr/>
          </p:nvSpPr>
          <p:spPr>
            <a:xfrm flipH="1">
              <a:off x="5488583" y="1883776"/>
              <a:ext cx="103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Data</a:t>
              </a:r>
              <a:endParaRPr lang="ru-RU" dirty="0"/>
            </a:p>
          </p:txBody>
        </p:sp>
      </p:grp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5E8012A1-27F4-4D0B-8F75-CE00734F80C2}"/>
              </a:ext>
            </a:extLst>
          </p:cNvPr>
          <p:cNvCxnSpPr>
            <a:stCxn id="33" idx="1"/>
            <a:endCxn id="53" idx="0"/>
          </p:cNvCxnSpPr>
          <p:nvPr/>
        </p:nvCxnSpPr>
        <p:spPr>
          <a:xfrm flipH="1">
            <a:off x="2331326" y="4180437"/>
            <a:ext cx="378101" cy="66424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2CCA2E60-7A1C-4209-86FD-4D5C4E92CE4C}"/>
              </a:ext>
            </a:extLst>
          </p:cNvPr>
          <p:cNvCxnSpPr>
            <a:cxnSpLocks/>
            <a:endCxn id="61" idx="0"/>
          </p:cNvCxnSpPr>
          <p:nvPr/>
        </p:nvCxnSpPr>
        <p:spPr>
          <a:xfrm>
            <a:off x="5242277" y="4172842"/>
            <a:ext cx="70883" cy="65697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13C40810-5D47-4A6C-A2D1-813E9CB247CB}"/>
              </a:ext>
            </a:extLst>
          </p:cNvPr>
          <p:cNvCxnSpPr>
            <a:cxnSpLocks/>
            <a:endCxn id="69" idx="0"/>
          </p:cNvCxnSpPr>
          <p:nvPr/>
        </p:nvCxnSpPr>
        <p:spPr>
          <a:xfrm>
            <a:off x="8986977" y="4172842"/>
            <a:ext cx="120299" cy="65697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8AC9FD6-1C53-4D78-98D0-9978A896DC7C}"/>
              </a:ext>
            </a:extLst>
          </p:cNvPr>
          <p:cNvCxnSpPr>
            <a:stCxn id="30" idx="3"/>
            <a:endCxn id="4" idx="2"/>
          </p:cNvCxnSpPr>
          <p:nvPr/>
        </p:nvCxnSpPr>
        <p:spPr>
          <a:xfrm flipV="1">
            <a:off x="5256898" y="2924944"/>
            <a:ext cx="602820" cy="959867"/>
          </a:xfrm>
          <a:prstGeom prst="straightConnector1">
            <a:avLst/>
          </a:prstGeom>
          <a:ln w="1270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A085D41F-266B-4F08-BC7E-BCB4A7684F63}"/>
              </a:ext>
            </a:extLst>
          </p:cNvPr>
          <p:cNvCxnSpPr>
            <a:cxnSpLocks/>
            <a:stCxn id="38" idx="1"/>
            <a:endCxn id="4" idx="2"/>
          </p:cNvCxnSpPr>
          <p:nvPr/>
        </p:nvCxnSpPr>
        <p:spPr>
          <a:xfrm flipH="1" flipV="1">
            <a:off x="5859718" y="2924944"/>
            <a:ext cx="609028" cy="959867"/>
          </a:xfrm>
          <a:prstGeom prst="straightConnector1">
            <a:avLst/>
          </a:prstGeom>
          <a:ln w="1270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6255845C-A059-4365-993D-AEEF6256D697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3607212" y="4460875"/>
            <a:ext cx="373800" cy="985652"/>
          </a:xfrm>
          <a:prstGeom prst="straightConnector1">
            <a:avLst/>
          </a:prstGeom>
          <a:ln w="1270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87A50928-A6CF-4883-8298-4FF57D6A8129}"/>
              </a:ext>
            </a:extLst>
          </p:cNvPr>
          <p:cNvCxnSpPr>
            <a:cxnSpLocks/>
            <a:stCxn id="61" idx="1"/>
            <a:endCxn id="30" idx="2"/>
          </p:cNvCxnSpPr>
          <p:nvPr/>
        </p:nvCxnSpPr>
        <p:spPr>
          <a:xfrm flipH="1" flipV="1">
            <a:off x="3981012" y="4460875"/>
            <a:ext cx="56262" cy="945002"/>
          </a:xfrm>
          <a:prstGeom prst="straightConnector1">
            <a:avLst/>
          </a:prstGeom>
          <a:ln w="1270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1A3FC0E-08D0-418C-9823-E943AB87D4AA}"/>
              </a:ext>
            </a:extLst>
          </p:cNvPr>
          <p:cNvCxnSpPr>
            <a:cxnSpLocks/>
            <a:stCxn id="69" idx="1"/>
            <a:endCxn id="38" idx="2"/>
          </p:cNvCxnSpPr>
          <p:nvPr/>
        </p:nvCxnSpPr>
        <p:spPr>
          <a:xfrm flipH="1" flipV="1">
            <a:off x="7744632" y="4460875"/>
            <a:ext cx="86758" cy="945002"/>
          </a:xfrm>
          <a:prstGeom prst="straightConnector1">
            <a:avLst/>
          </a:prstGeom>
          <a:ln w="1270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341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07737-69D1-4335-AB52-57A342397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weak_ptr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D8EBE-3E2D-4E67-A104-BA891AC96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Получились циклические зависимости</a:t>
            </a:r>
          </a:p>
          <a:p>
            <a:r>
              <a:rPr lang="ru-RU" dirty="0"/>
              <a:t>Память никогда не освободится, потому что счетчик ссылок не станет равным нулю</a:t>
            </a:r>
          </a:p>
          <a:p>
            <a:r>
              <a:rPr lang="ru-RU" dirty="0"/>
              <a:t>Можно использовать </a:t>
            </a:r>
            <a:r>
              <a:rPr lang="en-US" dirty="0" err="1"/>
              <a:t>weak_ptr</a:t>
            </a:r>
            <a:r>
              <a:rPr lang="en-US" dirty="0"/>
              <a:t> </a:t>
            </a:r>
            <a:r>
              <a:rPr lang="ru-RU" dirty="0"/>
              <a:t>в качестве указателя на родителя</a:t>
            </a:r>
          </a:p>
          <a:p>
            <a:r>
              <a:rPr lang="ru-RU" dirty="0"/>
              <a:t>Он не будет учитываться при подсчете ссылок при уничтожении объекта</a:t>
            </a:r>
          </a:p>
        </p:txBody>
      </p:sp>
    </p:spTree>
    <p:extLst>
      <p:ext uri="{BB962C8B-B14F-4D97-AF65-F5344CB8AC3E}">
        <p14:creationId xmlns:p14="http://schemas.microsoft.com/office/powerpoint/2010/main" val="3822397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6F845-7693-40F7-8ADD-86D699653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weak_ptr</a:t>
            </a:r>
            <a:r>
              <a:rPr lang="en-US" dirty="0"/>
              <a:t> - </a:t>
            </a:r>
            <a:r>
              <a:rPr lang="ru-RU" dirty="0"/>
              <a:t>реализация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C282D2-865F-4822-8E94-2F1C072BA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weak_ptr</a:t>
            </a:r>
            <a:r>
              <a:rPr lang="en-US" dirty="0"/>
              <a:t> </a:t>
            </a:r>
            <a:r>
              <a:rPr lang="ru-RU" dirty="0"/>
              <a:t>должен уметь понимать, жив ли ещё объект</a:t>
            </a:r>
          </a:p>
          <a:p>
            <a:r>
              <a:rPr lang="ru-RU" dirty="0"/>
              <a:t>Но сейчас мы освобождаем память после смерти объекта, тогда обращение к счетчику – </a:t>
            </a:r>
            <a:r>
              <a:rPr lang="en-US" dirty="0"/>
              <a:t>UB</a:t>
            </a:r>
          </a:p>
          <a:p>
            <a:r>
              <a:rPr lang="ru-RU" dirty="0"/>
              <a:t>Решение – освобождать память только когда закончатся </a:t>
            </a:r>
            <a:r>
              <a:rPr lang="en-US" dirty="0" err="1"/>
              <a:t>weak_ptr</a:t>
            </a:r>
            <a:r>
              <a:rPr lang="ru-RU" dirty="0"/>
              <a:t>, а разрушать объект, когда закончатся </a:t>
            </a:r>
            <a:r>
              <a:rPr lang="en-US" dirty="0" err="1"/>
              <a:t>shared_ptr</a:t>
            </a:r>
            <a:endParaRPr lang="en-US" dirty="0"/>
          </a:p>
          <a:p>
            <a:r>
              <a:rPr lang="ru-RU" dirty="0"/>
              <a:t>Для этого в </a:t>
            </a:r>
            <a:r>
              <a:rPr lang="en-US" dirty="0" err="1"/>
              <a:t>ControlBlock</a:t>
            </a:r>
            <a:r>
              <a:rPr lang="en-US" dirty="0"/>
              <a:t> </a:t>
            </a:r>
            <a:r>
              <a:rPr lang="ru-RU" dirty="0"/>
              <a:t>поддержим счётчик </a:t>
            </a:r>
            <a:r>
              <a:rPr lang="en-US" dirty="0" err="1"/>
              <a:t>weak_ptr</a:t>
            </a:r>
            <a:r>
              <a:rPr lang="en-US" dirty="0"/>
              <a:t>-</a:t>
            </a:r>
            <a:r>
              <a:rPr lang="ru-RU" dirty="0" err="1"/>
              <a:t>ов</a:t>
            </a:r>
            <a:endParaRPr lang="ru-RU" dirty="0"/>
          </a:p>
          <a:p>
            <a:r>
              <a:rPr lang="ru-RU" dirty="0"/>
              <a:t>Тогда можем сделать два </a:t>
            </a:r>
            <a:r>
              <a:rPr lang="en-US" dirty="0" err="1"/>
              <a:t>ControlBlock</a:t>
            </a:r>
            <a:r>
              <a:rPr lang="en-US" dirty="0"/>
              <a:t> – </a:t>
            </a:r>
            <a:r>
              <a:rPr lang="ru-RU" dirty="0"/>
              <a:t>с двумя указателями и с объектом или без него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76104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26449-14A8-48BD-AB60-85F1A704F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Deleter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Allocator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65FFD-EA84-4189-9BD3-57A781480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Хотим конструировать </a:t>
            </a:r>
            <a:r>
              <a:rPr lang="en-US" dirty="0" err="1"/>
              <a:t>shared_ptr</a:t>
            </a:r>
            <a:r>
              <a:rPr lang="en-US" dirty="0"/>
              <a:t> </a:t>
            </a:r>
            <a:r>
              <a:rPr lang="ru-RU" dirty="0"/>
              <a:t>от </a:t>
            </a:r>
            <a:r>
              <a:rPr lang="ru-RU" dirty="0" err="1"/>
              <a:t>кастомных</a:t>
            </a:r>
            <a:r>
              <a:rPr lang="ru-RU" dirty="0"/>
              <a:t> </a:t>
            </a:r>
            <a:r>
              <a:rPr lang="ru-RU" dirty="0" err="1"/>
              <a:t>делитера</a:t>
            </a:r>
            <a:r>
              <a:rPr lang="ru-RU" dirty="0"/>
              <a:t> и </a:t>
            </a:r>
            <a:r>
              <a:rPr lang="ru-RU" dirty="0" err="1"/>
              <a:t>аллокатора</a:t>
            </a:r>
            <a:endParaRPr lang="ru-RU" dirty="0"/>
          </a:p>
          <a:p>
            <a:r>
              <a:rPr lang="ru-RU" dirty="0"/>
              <a:t>Но у </a:t>
            </a:r>
            <a:r>
              <a:rPr lang="en-US" dirty="0" err="1"/>
              <a:t>shared_ptr</a:t>
            </a:r>
            <a:r>
              <a:rPr lang="en-US" dirty="0"/>
              <a:t> </a:t>
            </a:r>
            <a:r>
              <a:rPr lang="ru-RU" dirty="0"/>
              <a:t>только один шаблонный параметр – </a:t>
            </a:r>
            <a:r>
              <a:rPr lang="en-US" dirty="0"/>
              <a:t>T</a:t>
            </a:r>
          </a:p>
          <a:p>
            <a:r>
              <a:rPr lang="ru-RU" dirty="0"/>
              <a:t>Хотим уметь хранить разные типы и динамически их подменять</a:t>
            </a:r>
          </a:p>
          <a:p>
            <a:r>
              <a:rPr lang="ru-RU" dirty="0"/>
              <a:t>Будем использовать </a:t>
            </a:r>
            <a:r>
              <a:rPr lang="en-US" dirty="0"/>
              <a:t>type erasure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504244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DA061-D344-49B4-AC44-F708FE8B7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Erasure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CDF5B-720D-413A-991E-A24C9E310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Иногда хотим стирать тип (например, тип </a:t>
            </a:r>
            <a:r>
              <a:rPr lang="ru-RU" dirty="0" err="1"/>
              <a:t>делитера</a:t>
            </a:r>
            <a:r>
              <a:rPr lang="ru-RU" dirty="0"/>
              <a:t>)</a:t>
            </a:r>
          </a:p>
          <a:p>
            <a:r>
              <a:rPr lang="ru-RU" dirty="0"/>
              <a:t>Хотим уметь понимать, какой всё же тип был на самом деле</a:t>
            </a:r>
          </a:p>
          <a:p>
            <a:r>
              <a:rPr lang="ru-RU" dirty="0"/>
              <a:t>На самом деле это уже умеет делать механизм виртуальных функций</a:t>
            </a:r>
          </a:p>
          <a:p>
            <a:r>
              <a:rPr lang="ru-RU" dirty="0"/>
              <a:t>Воспользуемся таким трюком</a:t>
            </a:r>
            <a:r>
              <a:rPr lang="en-US" dirty="0"/>
              <a:t>: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Создадим базовый класс с виртуальными методами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Создадим шаблонного наследника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Определим необходимые виртуальные методы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Будем создавать на куче объект наследника с нужным шаблонным параметром, но хранить указатель на родителя</a:t>
            </a:r>
          </a:p>
        </p:txBody>
      </p:sp>
    </p:spTree>
    <p:extLst>
      <p:ext uri="{BB962C8B-B14F-4D97-AF65-F5344CB8AC3E}">
        <p14:creationId xmlns:p14="http://schemas.microsoft.com/office/powerpoint/2010/main" val="7317565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5AE20-7E73-4998-B587-22D6935B0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Наследование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3E7A55-4753-4D95-B349-889F10F7B3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 наследовании в </a:t>
            </a:r>
            <a:r>
              <a:rPr lang="en-US" dirty="0" err="1"/>
              <a:t>shared_ptr</a:t>
            </a:r>
            <a:r>
              <a:rPr lang="en-US" dirty="0"/>
              <a:t> </a:t>
            </a:r>
            <a:r>
              <a:rPr lang="ru-RU" dirty="0"/>
              <a:t>все будет корректно и без виртуального деструктора – благодаря </a:t>
            </a:r>
            <a:r>
              <a:rPr lang="en-US" dirty="0" err="1"/>
              <a:t>ControlBlock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type erasure</a:t>
            </a:r>
          </a:p>
          <a:p>
            <a:r>
              <a:rPr lang="ru-RU" dirty="0"/>
              <a:t>Для </a:t>
            </a:r>
            <a:r>
              <a:rPr lang="en-US" dirty="0" err="1"/>
              <a:t>unique_ptr</a:t>
            </a:r>
            <a:r>
              <a:rPr lang="en-US" dirty="0"/>
              <a:t> </a:t>
            </a:r>
            <a:r>
              <a:rPr lang="ru-RU" dirty="0"/>
              <a:t>это не сработает – у него </a:t>
            </a:r>
            <a:r>
              <a:rPr lang="en-US" dirty="0" err="1"/>
              <a:t>Deleter</a:t>
            </a:r>
            <a:r>
              <a:rPr lang="en-US" dirty="0"/>
              <a:t> </a:t>
            </a:r>
            <a:r>
              <a:rPr lang="ru-RU" dirty="0"/>
              <a:t>зашит в шаблонный параметр</a:t>
            </a:r>
            <a:r>
              <a:rPr lang="en-US" dirty="0"/>
              <a:t>. </a:t>
            </a:r>
            <a:r>
              <a:rPr lang="ru-RU" dirty="0"/>
              <a:t>Нужно делать деструктор виртуальным.</a:t>
            </a:r>
          </a:p>
        </p:txBody>
      </p:sp>
    </p:spTree>
    <p:extLst>
      <p:ext uri="{BB962C8B-B14F-4D97-AF65-F5344CB8AC3E}">
        <p14:creationId xmlns:p14="http://schemas.microsoft.com/office/powerpoint/2010/main" val="2643450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D002E-A5D0-4F8F-9D13-B8DFFB865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Aliasing constructor 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09D1-3EF6-46F1-A0DD-CE12F2006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Иногда хотим иметь </a:t>
            </a:r>
            <a:r>
              <a:rPr lang="en-US" dirty="0" err="1"/>
              <a:t>shared_ptr</a:t>
            </a:r>
            <a:r>
              <a:rPr lang="en-US" dirty="0"/>
              <a:t> </a:t>
            </a:r>
            <a:r>
              <a:rPr lang="ru-RU" dirty="0"/>
              <a:t>на некоторую часть разделяемого объекта, например, на поле</a:t>
            </a:r>
          </a:p>
          <a:p>
            <a:r>
              <a:rPr lang="en-US" dirty="0"/>
              <a:t> </a:t>
            </a:r>
            <a:r>
              <a:rPr lang="en-US" dirty="0" err="1"/>
              <a:t>shared_ptr</a:t>
            </a:r>
            <a:r>
              <a:rPr lang="en-US" dirty="0"/>
              <a:t>( const </a:t>
            </a:r>
            <a:r>
              <a:rPr lang="en-US" dirty="0" err="1"/>
              <a:t>shared_ptr</a:t>
            </a:r>
            <a:r>
              <a:rPr lang="en-US" dirty="0"/>
              <a:t>&lt;Y&gt;&amp; r, </a:t>
            </a:r>
            <a:r>
              <a:rPr lang="en-US" dirty="0" err="1"/>
              <a:t>element_type</a:t>
            </a:r>
            <a:r>
              <a:rPr lang="en-US" dirty="0"/>
              <a:t>* </a:t>
            </a:r>
            <a:r>
              <a:rPr lang="en-US" dirty="0" err="1"/>
              <a:t>ptr</a:t>
            </a:r>
            <a:r>
              <a:rPr lang="en-US" dirty="0"/>
              <a:t> );</a:t>
            </a:r>
          </a:p>
          <a:p>
            <a:r>
              <a:rPr lang="ru-RU" dirty="0"/>
              <a:t>При уничтожении объекта, если нет больше ссылок, вызывается </a:t>
            </a:r>
            <a:r>
              <a:rPr lang="en-US" dirty="0" err="1"/>
              <a:t>Deleter</a:t>
            </a:r>
            <a:endParaRPr lang="en-US" dirty="0"/>
          </a:p>
          <a:p>
            <a:r>
              <a:rPr lang="ru-RU" dirty="0"/>
              <a:t>При вызове </a:t>
            </a:r>
            <a:r>
              <a:rPr lang="en-US" dirty="0"/>
              <a:t>get (</a:t>
            </a:r>
            <a:r>
              <a:rPr lang="ru-RU" dirty="0"/>
              <a:t>а также разыменовании</a:t>
            </a:r>
            <a:r>
              <a:rPr lang="en-US" dirty="0"/>
              <a:t>) </a:t>
            </a:r>
            <a:r>
              <a:rPr lang="ru-RU" dirty="0"/>
              <a:t>возвращается </a:t>
            </a:r>
            <a:r>
              <a:rPr lang="en-US" dirty="0" err="1"/>
              <a:t>ptr</a:t>
            </a:r>
            <a:endParaRPr lang="ru-RU" dirty="0"/>
          </a:p>
          <a:p>
            <a:r>
              <a:rPr lang="ru-RU" dirty="0"/>
              <a:t>Обязанностью пользователя является следить, чтобы время жизнь объекта под </a:t>
            </a:r>
            <a:r>
              <a:rPr lang="en-US" dirty="0" err="1"/>
              <a:t>ptr</a:t>
            </a:r>
            <a:r>
              <a:rPr lang="en-US" dirty="0"/>
              <a:t> </a:t>
            </a:r>
            <a:r>
              <a:rPr lang="ru-RU" dirty="0"/>
              <a:t>совпадало с временем жизни разделяемого объекта</a:t>
            </a:r>
          </a:p>
        </p:txBody>
      </p:sp>
    </p:spTree>
    <p:extLst>
      <p:ext uri="{BB962C8B-B14F-4D97-AF65-F5344CB8AC3E}">
        <p14:creationId xmlns:p14="http://schemas.microsoft.com/office/powerpoint/2010/main" val="22138691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04768-B365-480C-9FB0-BCE09514E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Касты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7D7B1-AA76-400A-B830-FCEF633596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Существуют касты </a:t>
            </a:r>
            <a:r>
              <a:rPr lang="en-US" dirty="0" err="1"/>
              <a:t>shared_ptr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static_pointer_cast</a:t>
            </a:r>
            <a:endParaRPr lang="en-US" dirty="0"/>
          </a:p>
          <a:p>
            <a:pPr lvl="1"/>
            <a:r>
              <a:rPr lang="en-US" dirty="0" err="1"/>
              <a:t>dynamic_pointer_cast</a:t>
            </a:r>
            <a:endParaRPr lang="en-US" dirty="0"/>
          </a:p>
          <a:p>
            <a:pPr lvl="1"/>
            <a:r>
              <a:rPr lang="en-US" dirty="0" err="1"/>
              <a:t>const_pointer_cast</a:t>
            </a:r>
            <a:endParaRPr lang="en-US" dirty="0"/>
          </a:p>
          <a:p>
            <a:pPr lvl="1"/>
            <a:r>
              <a:rPr lang="en-US" dirty="0" err="1"/>
              <a:t>reinterpret_pointer_cast</a:t>
            </a:r>
            <a:endParaRPr lang="en-US" dirty="0"/>
          </a:p>
          <a:p>
            <a:r>
              <a:rPr lang="ru-RU" dirty="0"/>
              <a:t>Ведут себя как обычные касты</a:t>
            </a:r>
          </a:p>
          <a:p>
            <a:r>
              <a:rPr lang="ru-RU" dirty="0"/>
              <a:t>Создаются новые </a:t>
            </a:r>
            <a:r>
              <a:rPr lang="en-US" dirty="0" err="1"/>
              <a:t>shared_ptr</a:t>
            </a:r>
            <a:r>
              <a:rPr lang="en-US" dirty="0"/>
              <a:t> </a:t>
            </a:r>
            <a:r>
              <a:rPr lang="ru-RU" dirty="0"/>
              <a:t>с помощью </a:t>
            </a:r>
            <a:r>
              <a:rPr lang="en-US" dirty="0"/>
              <a:t>aliasing constructor </a:t>
            </a:r>
            <a:r>
              <a:rPr lang="ru-RU" dirty="0"/>
              <a:t>и преобразованного с помощью обычного каста указателя</a:t>
            </a:r>
          </a:p>
        </p:txBody>
      </p:sp>
    </p:spTree>
    <p:extLst>
      <p:ext uri="{BB962C8B-B14F-4D97-AF65-F5344CB8AC3E}">
        <p14:creationId xmlns:p14="http://schemas.microsoft.com/office/powerpoint/2010/main" val="7024340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14700</TotalTime>
  <Words>752</Words>
  <Application>Microsoft Office PowerPoint</Application>
  <DocSecurity>0</DocSecurity>
  <PresentationFormat>Widescreen</PresentationFormat>
  <Paragraphs>114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7" baseType="lpstr">
      <vt:lpstr>Arial</vt:lpstr>
      <vt:lpstr>Office Theme</vt:lpstr>
      <vt:lpstr>Семинар №10  Умные указатели</vt:lpstr>
      <vt:lpstr>Мотивация</vt:lpstr>
      <vt:lpstr>std::shared_ptr</vt:lpstr>
      <vt:lpstr>Deleter и Allocator</vt:lpstr>
      <vt:lpstr>std::make_shared</vt:lpstr>
      <vt:lpstr>Счетчик ссылок</vt:lpstr>
      <vt:lpstr>Дерево на умных указателях</vt:lpstr>
      <vt:lpstr>Дерево на умных указателях со ссылкой на родителя</vt:lpstr>
      <vt:lpstr>weak_ptr</vt:lpstr>
      <vt:lpstr>weak_ptr - реализация</vt:lpstr>
      <vt:lpstr>Deleter и Allocator</vt:lpstr>
      <vt:lpstr>Type Erasure</vt:lpstr>
      <vt:lpstr>Наследование</vt:lpstr>
      <vt:lpstr>Aliasing constructor </vt:lpstr>
      <vt:lpstr>Касты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sem_9</dc:title>
  <dc:subject/>
  <dc:creator>Konstantin Dragun</dc:creator>
  <cp:keywords/>
  <dc:description/>
  <cp:lastModifiedBy>Konstantin Dragun</cp:lastModifiedBy>
  <cp:revision>116</cp:revision>
  <dcterms:created xsi:type="dcterms:W3CDTF">2012-12-03T06:56:55Z</dcterms:created>
  <dcterms:modified xsi:type="dcterms:W3CDTF">2025-04-22T22:35:39Z</dcterms:modified>
  <cp:category/>
  <dc:identifier/>
  <cp:contentStatus/>
  <dc:language/>
  <cp:version/>
</cp:coreProperties>
</file>