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23.04.2025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10</a:t>
            </a:r>
            <a:br>
              <a:rPr lang="en-US" dirty="0"/>
            </a:br>
            <a:br>
              <a:rPr lang="ru-RU" dirty="0"/>
            </a:br>
            <a:r>
              <a:rPr lang="ru-RU" dirty="0"/>
              <a:t>Умные указатели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D0FB-57CC-44A0-B407-862EF229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Мотивация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F93B-D342-4616-9052-07509AF46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Хотим более аккуратное использования памяти (и вообще разделяемых ресурсов)</a:t>
            </a:r>
          </a:p>
          <a:p>
            <a:r>
              <a:rPr lang="ru-RU" dirty="0"/>
              <a:t>Можем забыть написать </a:t>
            </a:r>
            <a:r>
              <a:rPr lang="en-US" dirty="0"/>
              <a:t>delete </a:t>
            </a:r>
            <a:r>
              <a:rPr lang="ru-RU" dirty="0"/>
              <a:t>или вылетит исключение – избегаем утечек памяти с помощью </a:t>
            </a:r>
            <a:r>
              <a:rPr lang="en-US" dirty="0"/>
              <a:t>RAII</a:t>
            </a:r>
          </a:p>
          <a:p>
            <a:r>
              <a:rPr lang="ru-RU" dirty="0"/>
              <a:t>Хотим следить за тем, кто владеет ресурсами</a:t>
            </a:r>
          </a:p>
          <a:p>
            <a:r>
              <a:rPr lang="en-US" dirty="0"/>
              <a:t>std::</a:t>
            </a:r>
            <a:r>
              <a:rPr lang="en-US" dirty="0" err="1"/>
              <a:t>unique_ptr</a:t>
            </a:r>
            <a:r>
              <a:rPr lang="en-US" dirty="0"/>
              <a:t> – </a:t>
            </a:r>
            <a:r>
              <a:rPr lang="ru-RU" dirty="0"/>
              <a:t>уникальное владение ресурсами</a:t>
            </a:r>
          </a:p>
          <a:p>
            <a:r>
              <a:rPr lang="en-US" dirty="0"/>
              <a:t>std::</a:t>
            </a:r>
            <a:r>
              <a:rPr lang="en-US" dirty="0" err="1"/>
              <a:t>shared_ptr</a:t>
            </a:r>
            <a:r>
              <a:rPr lang="en-US" dirty="0"/>
              <a:t> – </a:t>
            </a:r>
            <a:r>
              <a:rPr lang="ru-RU" dirty="0"/>
              <a:t>разделяемое владение ресурсами</a:t>
            </a:r>
          </a:p>
        </p:txBody>
      </p:sp>
    </p:spTree>
    <p:extLst>
      <p:ext uri="{BB962C8B-B14F-4D97-AF65-F5344CB8AC3E}">
        <p14:creationId xmlns:p14="http://schemas.microsoft.com/office/powerpoint/2010/main" val="303433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744F-A460-4551-AF21-526734DB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shared_ptr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387A4-894D-407C-8873-A786E048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Можем создать от указателя</a:t>
            </a:r>
            <a:r>
              <a:rPr lang="en-US" dirty="0"/>
              <a:t>, </a:t>
            </a:r>
            <a:r>
              <a:rPr lang="ru-RU" dirty="0"/>
              <a:t>на который уже выделена память</a:t>
            </a:r>
            <a:endParaRPr lang="en-US" dirty="0"/>
          </a:p>
          <a:p>
            <a:r>
              <a:rPr lang="ru-RU" dirty="0"/>
              <a:t>Нельзя создавать два умных указателя от одного обычного указателя, иначе – </a:t>
            </a:r>
            <a:r>
              <a:rPr lang="en-US" dirty="0"/>
              <a:t>double free</a:t>
            </a:r>
          </a:p>
          <a:p>
            <a:r>
              <a:rPr lang="ru-RU" dirty="0"/>
              <a:t>При копировании увеличивается счетчик ссылок</a:t>
            </a:r>
          </a:p>
          <a:p>
            <a:r>
              <a:rPr lang="ru-RU" dirty="0"/>
              <a:t>При разрушении объекта счетчик ссылок уменьшается</a:t>
            </a:r>
          </a:p>
          <a:p>
            <a:r>
              <a:rPr lang="ru-RU" dirty="0"/>
              <a:t>Когда счетчик ссылок опускается до нуля, вызывается деструктор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75858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62F8-86AA-46A1-BE08-7CCC29C3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Deleter</a:t>
            </a:r>
            <a:r>
              <a:rPr lang="ru-RU" dirty="0"/>
              <a:t> и </a:t>
            </a:r>
            <a:r>
              <a:rPr lang="en-US" dirty="0"/>
              <a:t>Allocator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1678B-1096-402A-9A21-49D0F03DE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установить </a:t>
            </a:r>
            <a:r>
              <a:rPr lang="ru-RU" dirty="0" err="1"/>
              <a:t>кастомный</a:t>
            </a:r>
            <a:r>
              <a:rPr lang="ru-RU" dirty="0"/>
              <a:t> </a:t>
            </a:r>
            <a:r>
              <a:rPr lang="ru-RU" dirty="0" err="1"/>
              <a:t>делитер</a:t>
            </a:r>
            <a:r>
              <a:rPr lang="ru-RU" dirty="0"/>
              <a:t> – механизм освобождения памяти</a:t>
            </a:r>
            <a:endParaRPr lang="en-US" dirty="0"/>
          </a:p>
          <a:p>
            <a:r>
              <a:rPr lang="ru-RU" dirty="0"/>
              <a:t>Также можно установить </a:t>
            </a:r>
            <a:r>
              <a:rPr lang="ru-RU" dirty="0" err="1"/>
              <a:t>кастомный</a:t>
            </a:r>
            <a:r>
              <a:rPr lang="ru-RU" dirty="0"/>
              <a:t> </a:t>
            </a:r>
            <a:r>
              <a:rPr lang="ru-RU" dirty="0" err="1"/>
              <a:t>аллокатор</a:t>
            </a:r>
            <a:endParaRPr lang="ru-RU" dirty="0"/>
          </a:p>
          <a:p>
            <a:r>
              <a:rPr lang="ru-RU" dirty="0"/>
              <a:t>Можно использовать для контроля за другими ресурсами (файловые дескрипторы, сокеты и др.), а также для </a:t>
            </a:r>
            <a:r>
              <a:rPr lang="ru-RU" dirty="0" err="1"/>
              <a:t>кастомного</a:t>
            </a:r>
            <a:r>
              <a:rPr lang="ru-RU" dirty="0"/>
              <a:t> контроля памяти (например, использовать </a:t>
            </a:r>
            <a:r>
              <a:rPr lang="en-US" dirty="0"/>
              <a:t>malloc/</a:t>
            </a:r>
            <a:r>
              <a:rPr lang="en-US" dirty="0" err="1"/>
              <a:t>calloc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free</a:t>
            </a:r>
            <a:r>
              <a:rPr lang="ru-RU" dirty="0"/>
              <a:t>)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880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6290-402B-4698-9C2E-7C153856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make_shared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818D-9FB3-4087-A373-AFF489E28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825624"/>
            <a:ext cx="10730408" cy="5032375"/>
          </a:xfrm>
        </p:spPr>
        <p:txBody>
          <a:bodyPr/>
          <a:lstStyle/>
          <a:p>
            <a:r>
              <a:rPr lang="en-US" dirty="0" err="1"/>
              <a:t>make_shared</a:t>
            </a:r>
            <a:r>
              <a:rPr lang="en-US" dirty="0"/>
              <a:t> </a:t>
            </a:r>
            <a:r>
              <a:rPr lang="ru-RU" dirty="0"/>
              <a:t>принимает аргументы конструктора и сразу создаёт объект, возвращая </a:t>
            </a:r>
            <a:r>
              <a:rPr lang="en-US" dirty="0" err="1"/>
              <a:t>shared_ptr</a:t>
            </a:r>
            <a:endParaRPr lang="en-US" dirty="0"/>
          </a:p>
          <a:p>
            <a:r>
              <a:rPr lang="ru-RU" dirty="0"/>
              <a:t>Решает проблемы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Нельзя случайно создать два набора умных указателей по одному </a:t>
            </a:r>
            <a:r>
              <a:rPr lang="ru-RU" dirty="0" err="1"/>
              <a:t>сишному</a:t>
            </a:r>
            <a:r>
              <a:rPr lang="ru-RU" dirty="0"/>
              <a:t> указателю</a:t>
            </a:r>
          </a:p>
          <a:p>
            <a:pPr lvl="1"/>
            <a:r>
              <a:rPr lang="ru-RU" dirty="0"/>
              <a:t>Избавляемся от необходимости работать с указателями вовсе (например, указатель мог быть испорчен)</a:t>
            </a:r>
          </a:p>
          <a:p>
            <a:pPr lvl="1"/>
            <a:r>
              <a:rPr lang="ru-RU" dirty="0"/>
              <a:t>Экономим на выделениях памяти (можем одной </a:t>
            </a:r>
            <a:r>
              <a:rPr lang="ru-RU" dirty="0" err="1"/>
              <a:t>аллокацией</a:t>
            </a:r>
            <a:r>
              <a:rPr lang="ru-RU" dirty="0"/>
              <a:t> выделить и </a:t>
            </a:r>
            <a:r>
              <a:rPr lang="en-US" dirty="0"/>
              <a:t>control block</a:t>
            </a:r>
            <a:r>
              <a:rPr lang="ru-RU" dirty="0"/>
              <a:t> (счетчик)</a:t>
            </a:r>
            <a:r>
              <a:rPr lang="en-US" dirty="0"/>
              <a:t>, </a:t>
            </a:r>
            <a:r>
              <a:rPr lang="ru-RU" dirty="0"/>
              <a:t>и сам объект)</a:t>
            </a:r>
          </a:p>
          <a:p>
            <a:pPr lvl="1"/>
            <a:r>
              <a:rPr lang="ru-RU" dirty="0"/>
              <a:t>На </a:t>
            </a:r>
            <a:r>
              <a:rPr lang="ru-RU" dirty="0" err="1"/>
              <a:t>деаллокациях</a:t>
            </a:r>
            <a:r>
              <a:rPr lang="ru-RU" dirty="0"/>
              <a:t> тоже экономим</a:t>
            </a:r>
          </a:p>
          <a:p>
            <a:pPr lvl="1"/>
            <a:r>
              <a:rPr lang="ru-RU" dirty="0"/>
              <a:t>Лучше кэш-локальность</a:t>
            </a:r>
          </a:p>
          <a:p>
            <a:pPr lvl="1"/>
            <a:r>
              <a:rPr lang="ru-RU" dirty="0"/>
              <a:t>Лучше при работе с исключениями</a:t>
            </a:r>
          </a:p>
        </p:txBody>
      </p:sp>
    </p:spTree>
    <p:extLst>
      <p:ext uri="{BB962C8B-B14F-4D97-AF65-F5344CB8AC3E}">
        <p14:creationId xmlns:p14="http://schemas.microsoft.com/office/powerpoint/2010/main" val="350249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9A7FC-1D7E-43E5-8C5B-44A6CFDF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Счетчик ссылок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5B69-D191-4A3E-9A49-0B3532E5D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хранить счетчик ссылок?</a:t>
            </a:r>
          </a:p>
          <a:p>
            <a:r>
              <a:rPr lang="ru-RU" dirty="0"/>
              <a:t>Точно не статической переменной класса и не полем </a:t>
            </a:r>
            <a:r>
              <a:rPr lang="en-US" dirty="0" err="1"/>
              <a:t>size_t</a:t>
            </a:r>
            <a:endParaRPr lang="en-US" dirty="0"/>
          </a:p>
          <a:p>
            <a:r>
              <a:rPr lang="ru-RU" dirty="0"/>
              <a:t>Можно хранить указатель на выделенный на куче счетчик</a:t>
            </a:r>
          </a:p>
          <a:p>
            <a:r>
              <a:rPr lang="ru-RU" dirty="0"/>
              <a:t>Но как реализовать </a:t>
            </a:r>
            <a:r>
              <a:rPr lang="en-US" dirty="0" err="1"/>
              <a:t>make_shared</a:t>
            </a:r>
            <a:r>
              <a:rPr lang="en-US" dirty="0"/>
              <a:t>?</a:t>
            </a:r>
          </a:p>
          <a:p>
            <a:r>
              <a:rPr lang="ru-RU" dirty="0"/>
              <a:t>Нужен </a:t>
            </a:r>
            <a:r>
              <a:rPr lang="en-US" dirty="0" err="1"/>
              <a:t>ControlBlock</a:t>
            </a:r>
            <a:r>
              <a:rPr lang="ru-RU" dirty="0"/>
              <a:t>, который будет хранить счетчик и сам объект</a:t>
            </a:r>
            <a:endParaRPr lang="en-US" dirty="0"/>
          </a:p>
          <a:p>
            <a:r>
              <a:rPr lang="ru-RU" dirty="0"/>
              <a:t>Как различать ситуацию между наличие и отсутствием </a:t>
            </a:r>
            <a:r>
              <a:rPr lang="en-US" dirty="0" err="1"/>
              <a:t>ControlBlock</a:t>
            </a:r>
            <a:r>
              <a:rPr lang="en-US" dirty="0"/>
              <a:t>?</a:t>
            </a:r>
          </a:p>
          <a:p>
            <a:r>
              <a:rPr lang="ru-RU" dirty="0"/>
              <a:t>Можно хранить </a:t>
            </a:r>
            <a:r>
              <a:rPr lang="en-US" dirty="0"/>
              <a:t>bool </a:t>
            </a:r>
            <a:r>
              <a:rPr lang="ru-RU" dirty="0"/>
              <a:t>или использовать биты указателя</a:t>
            </a:r>
          </a:p>
        </p:txBody>
      </p:sp>
    </p:spTree>
    <p:extLst>
      <p:ext uri="{BB962C8B-B14F-4D97-AF65-F5344CB8AC3E}">
        <p14:creationId xmlns:p14="http://schemas.microsoft.com/office/powerpoint/2010/main" val="180952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4649-B85E-4D6F-BAFC-BFFAA661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ru-RU" dirty="0"/>
              <a:t>Дерево на умных указателях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CE1A1C-6239-44B6-8066-E6F530A44CE7}"/>
              </a:ext>
            </a:extLst>
          </p:cNvPr>
          <p:cNvGrpSpPr/>
          <p:nvPr/>
        </p:nvGrpSpPr>
        <p:grpSpPr>
          <a:xfrm>
            <a:off x="4583832" y="1772816"/>
            <a:ext cx="2664296" cy="1152128"/>
            <a:chOff x="4583832" y="1772816"/>
            <a:chExt cx="2664296" cy="11521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3F17BE8-F3A2-439D-A4D9-D05BC140118E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02EC18-8C61-4AB4-BCE8-DDF88D43D1C0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70F28DF-C5DB-41BB-9784-3497FC44914B}"/>
                  </a:ext>
                </a:extLst>
              </p:cNvPr>
              <p:cNvCxnSpPr>
                <a:stCxn id="4" idx="1"/>
                <a:endCxn id="4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16A7B2F-5409-4366-BCCB-D2C71849513A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6B06AC-FA0A-4ED5-A078-60FDBBC6A99F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95AD60-EF90-434A-B392-53325631019A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0B24F2-030E-413D-98D5-4F5147982F42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4C7091-560F-4A54-9011-4EA19D6C28FC}"/>
              </a:ext>
            </a:extLst>
          </p:cNvPr>
          <p:cNvGrpSpPr/>
          <p:nvPr/>
        </p:nvGrpSpPr>
        <p:grpSpPr>
          <a:xfrm>
            <a:off x="2705126" y="3308747"/>
            <a:ext cx="2664296" cy="1152128"/>
            <a:chOff x="4583832" y="1772816"/>
            <a:chExt cx="2664296" cy="11521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2DCF6DB-2A90-44D2-990B-36C189A02367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23ED75-36B6-4E97-A0A6-1E92B7BA7A59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76287C8-3FC0-464B-A288-EA78B1EAFCD4}"/>
                  </a:ext>
                </a:extLst>
              </p:cNvPr>
              <p:cNvCxnSpPr>
                <a:stCxn id="30" idx="1"/>
                <a:endCxn id="30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0496562-9D62-4530-820A-F3DC601E0B19}"/>
                  </a:ext>
                </a:extLst>
              </p:cNvPr>
              <p:cNvCxnSpPr>
                <a:stCxn id="30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B46173-83B9-4245-B81A-A3FB1B0792D2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33F3D-AD49-40FC-A134-CC498596FC26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F33591F-4932-4796-BE29-C656387B15A2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2A43F6-D639-4594-A21F-8FDDC59533AB}"/>
              </a:ext>
            </a:extLst>
          </p:cNvPr>
          <p:cNvGrpSpPr/>
          <p:nvPr/>
        </p:nvGrpSpPr>
        <p:grpSpPr>
          <a:xfrm>
            <a:off x="6468746" y="3308747"/>
            <a:ext cx="2664296" cy="1152128"/>
            <a:chOff x="4583832" y="1772816"/>
            <a:chExt cx="2664296" cy="115212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4712658-D0EF-4E6D-8D80-0743EFA79100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5DD7778-5043-40E8-9D9F-BAADDABBFF58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562999E-FD62-4115-B6C9-ABEF865E9D3E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948D62-A82C-4A9C-AE98-655816504EF6}"/>
                  </a:ext>
                </a:extLst>
              </p:cNvPr>
              <p:cNvCxnSpPr>
                <a:stCxn id="38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33167C-352D-4DDE-A745-9767BACE2B27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BBED9C5-3078-4CA1-BA3E-008E13CD48BA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EC617-C6E6-4551-A620-FA35C7320DB2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1A3F73-D20B-4E4F-AF09-BCFD96A0B31E}"/>
              </a:ext>
            </a:extLst>
          </p:cNvPr>
          <p:cNvCxnSpPr>
            <a:stCxn id="9" idx="1"/>
            <a:endCxn id="30" idx="0"/>
          </p:cNvCxnSpPr>
          <p:nvPr/>
        </p:nvCxnSpPr>
        <p:spPr>
          <a:xfrm flipH="1">
            <a:off x="3981012" y="2644506"/>
            <a:ext cx="607121" cy="6642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7472A72-BC68-4246-9590-8468B6731E5F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105108" y="2541139"/>
            <a:ext cx="639524" cy="7676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57B4FD9-99CC-446B-94B9-8EDEA166A7D6}"/>
              </a:ext>
            </a:extLst>
          </p:cNvPr>
          <p:cNvGrpSpPr/>
          <p:nvPr/>
        </p:nvGrpSpPr>
        <p:grpSpPr>
          <a:xfrm>
            <a:off x="1055440" y="4844678"/>
            <a:ext cx="2664296" cy="1152128"/>
            <a:chOff x="4583832" y="1772816"/>
            <a:chExt cx="2664296" cy="115212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534A70E-2E34-4AAF-A691-BC5A38CD5255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8910956-A30B-4B47-9043-3D02D76906A1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0B3105E-5606-46B9-BB49-9DAD8CB1B4E7}"/>
                  </a:ext>
                </a:extLst>
              </p:cNvPr>
              <p:cNvCxnSpPr>
                <a:stCxn id="53" idx="1"/>
                <a:endCxn id="53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DF90BA3-F47F-4C6A-A5C6-917CF8C14451}"/>
                  </a:ext>
                </a:extLst>
              </p:cNvPr>
              <p:cNvCxnSpPr>
                <a:stCxn id="53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F507BC7-B791-476C-863C-62E833BE96C4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D51A7DE-A002-45DA-A835-74A06C48510E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373B08-A859-43ED-AF3E-6B837A8A7674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8044EA2-61D0-43ED-8BBD-BF2FEE0235B7}"/>
              </a:ext>
            </a:extLst>
          </p:cNvPr>
          <p:cNvGrpSpPr/>
          <p:nvPr/>
        </p:nvGrpSpPr>
        <p:grpSpPr>
          <a:xfrm>
            <a:off x="4037274" y="4829813"/>
            <a:ext cx="2664296" cy="1152128"/>
            <a:chOff x="4583832" y="1772816"/>
            <a:chExt cx="2664296" cy="115212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0AC6341-CE87-4A24-9982-1EF90BB410EA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5AD6D41-2DC4-43B6-A913-541996ADB4DF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E8929A0-A944-43A1-A405-F70F759CA201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CDCD82B-CCEA-4F29-A9D1-A9165A11F870}"/>
                  </a:ext>
                </a:extLst>
              </p:cNvPr>
              <p:cNvCxnSpPr>
                <a:stCxn id="61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AC17F26-A679-4E90-AEF8-1D186D91F5A9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B805612-272D-4369-A8C2-A4D7E73710D9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21E6EFC-30D8-4CAA-828C-49FD4B8395C8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CEE7B23-1CEA-491B-A3FA-9AD89A928148}"/>
              </a:ext>
            </a:extLst>
          </p:cNvPr>
          <p:cNvGrpSpPr/>
          <p:nvPr/>
        </p:nvGrpSpPr>
        <p:grpSpPr>
          <a:xfrm>
            <a:off x="7831390" y="4829813"/>
            <a:ext cx="2664296" cy="1152128"/>
            <a:chOff x="4583832" y="1772816"/>
            <a:chExt cx="2664296" cy="1152128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A35344B-AEF6-4262-89E6-CF6043B4C8C7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A5CA5DA-FB58-469D-8F2A-3ED7F6FF5CBF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2FCA172-A028-4A7B-B170-EB8E6E60CC3B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6784F007-83DA-40C9-B206-82F41106586D}"/>
                  </a:ext>
                </a:extLst>
              </p:cNvPr>
              <p:cNvCxnSpPr>
                <a:stCxn id="69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27B4E6B-EB9E-42BB-A0DE-3C122A099B83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40DE390-46E7-43AA-B67C-96B2A1407B15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6BC3C50-068B-4CCE-AA5C-E687368702FC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E8012A1-27F4-4D0B-8F75-CE00734F80C2}"/>
              </a:ext>
            </a:extLst>
          </p:cNvPr>
          <p:cNvCxnSpPr>
            <a:stCxn id="33" idx="1"/>
            <a:endCxn id="53" idx="0"/>
          </p:cNvCxnSpPr>
          <p:nvPr/>
        </p:nvCxnSpPr>
        <p:spPr>
          <a:xfrm flipH="1">
            <a:off x="2331326" y="4180437"/>
            <a:ext cx="378101" cy="6642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CCA2E60-7A1C-4209-86FD-4D5C4E92CE4C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5242277" y="4172842"/>
            <a:ext cx="70883" cy="6569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3C40810-5D47-4A6C-A2D1-813E9CB247CB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8986977" y="4172842"/>
            <a:ext cx="120299" cy="6569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202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4649-B85E-4D6F-BAFC-BFFAA661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ru-RU" dirty="0"/>
              <a:t>Дерево на умных указателях</a:t>
            </a:r>
            <a:r>
              <a:rPr lang="en-US" dirty="0"/>
              <a:t> </a:t>
            </a:r>
            <a:r>
              <a:rPr lang="ru-RU" dirty="0"/>
              <a:t>со ссылкой на родителя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CE1A1C-6239-44B6-8066-E6F530A44CE7}"/>
              </a:ext>
            </a:extLst>
          </p:cNvPr>
          <p:cNvGrpSpPr/>
          <p:nvPr/>
        </p:nvGrpSpPr>
        <p:grpSpPr>
          <a:xfrm>
            <a:off x="4583832" y="1772816"/>
            <a:ext cx="2664296" cy="1152128"/>
            <a:chOff x="4583832" y="1772816"/>
            <a:chExt cx="2664296" cy="11521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3F17BE8-F3A2-439D-A4D9-D05BC140118E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02EC18-8C61-4AB4-BCE8-DDF88D43D1C0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70F28DF-C5DB-41BB-9784-3497FC44914B}"/>
                  </a:ext>
                </a:extLst>
              </p:cNvPr>
              <p:cNvCxnSpPr>
                <a:stCxn id="4" idx="1"/>
                <a:endCxn id="4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16A7B2F-5409-4366-BCCB-D2C71849513A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6B06AC-FA0A-4ED5-A078-60FDBBC6A99F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95AD60-EF90-434A-B392-53325631019A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0B24F2-030E-413D-98D5-4F5147982F42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4C7091-560F-4A54-9011-4EA19D6C28FC}"/>
              </a:ext>
            </a:extLst>
          </p:cNvPr>
          <p:cNvGrpSpPr/>
          <p:nvPr/>
        </p:nvGrpSpPr>
        <p:grpSpPr>
          <a:xfrm>
            <a:off x="2705126" y="3308747"/>
            <a:ext cx="2664296" cy="1152128"/>
            <a:chOff x="4583832" y="1772816"/>
            <a:chExt cx="2664296" cy="11521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2DCF6DB-2A90-44D2-990B-36C189A02367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23ED75-36B6-4E97-A0A6-1E92B7BA7A59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76287C8-3FC0-464B-A288-EA78B1EAFCD4}"/>
                  </a:ext>
                </a:extLst>
              </p:cNvPr>
              <p:cNvCxnSpPr>
                <a:stCxn id="30" idx="1"/>
                <a:endCxn id="30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0496562-9D62-4530-820A-F3DC601E0B19}"/>
                  </a:ext>
                </a:extLst>
              </p:cNvPr>
              <p:cNvCxnSpPr>
                <a:stCxn id="30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B46173-83B9-4245-B81A-A3FB1B0792D2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33F3D-AD49-40FC-A134-CC498596FC26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F33591F-4932-4796-BE29-C656387B15A2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2A43F6-D639-4594-A21F-8FDDC59533AB}"/>
              </a:ext>
            </a:extLst>
          </p:cNvPr>
          <p:cNvGrpSpPr/>
          <p:nvPr/>
        </p:nvGrpSpPr>
        <p:grpSpPr>
          <a:xfrm>
            <a:off x="6468746" y="3308747"/>
            <a:ext cx="2664296" cy="1152128"/>
            <a:chOff x="4583832" y="1772816"/>
            <a:chExt cx="2664296" cy="115212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4712658-D0EF-4E6D-8D80-0743EFA79100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5DD7778-5043-40E8-9D9F-BAADDABBFF58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562999E-FD62-4115-B6C9-ABEF865E9D3E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948D62-A82C-4A9C-AE98-655816504EF6}"/>
                  </a:ext>
                </a:extLst>
              </p:cNvPr>
              <p:cNvCxnSpPr>
                <a:stCxn id="38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33167C-352D-4DDE-A745-9767BACE2B27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BBED9C5-3078-4CA1-BA3E-008E13CD48BA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EC617-C6E6-4551-A620-FA35C7320DB2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1A3F73-D20B-4E4F-AF09-BCFD96A0B31E}"/>
              </a:ext>
            </a:extLst>
          </p:cNvPr>
          <p:cNvCxnSpPr>
            <a:stCxn id="9" idx="1"/>
            <a:endCxn id="30" idx="0"/>
          </p:cNvCxnSpPr>
          <p:nvPr/>
        </p:nvCxnSpPr>
        <p:spPr>
          <a:xfrm flipH="1">
            <a:off x="3981012" y="2644506"/>
            <a:ext cx="607121" cy="6642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7472A72-BC68-4246-9590-8468B6731E5F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105108" y="2541139"/>
            <a:ext cx="639524" cy="7676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57B4FD9-99CC-446B-94B9-8EDEA166A7D6}"/>
              </a:ext>
            </a:extLst>
          </p:cNvPr>
          <p:cNvGrpSpPr/>
          <p:nvPr/>
        </p:nvGrpSpPr>
        <p:grpSpPr>
          <a:xfrm>
            <a:off x="1055440" y="4844678"/>
            <a:ext cx="2664296" cy="1152128"/>
            <a:chOff x="4583832" y="1772816"/>
            <a:chExt cx="2664296" cy="115212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534A70E-2E34-4AAF-A691-BC5A38CD5255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8910956-A30B-4B47-9043-3D02D76906A1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0B3105E-5606-46B9-BB49-9DAD8CB1B4E7}"/>
                  </a:ext>
                </a:extLst>
              </p:cNvPr>
              <p:cNvCxnSpPr>
                <a:stCxn id="53" idx="1"/>
                <a:endCxn id="53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DF90BA3-F47F-4C6A-A5C6-917CF8C14451}"/>
                  </a:ext>
                </a:extLst>
              </p:cNvPr>
              <p:cNvCxnSpPr>
                <a:stCxn id="53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F507BC7-B791-476C-863C-62E833BE96C4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D51A7DE-A002-45DA-A835-74A06C48510E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373B08-A859-43ED-AF3E-6B837A8A7674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8044EA2-61D0-43ED-8BBD-BF2FEE0235B7}"/>
              </a:ext>
            </a:extLst>
          </p:cNvPr>
          <p:cNvGrpSpPr/>
          <p:nvPr/>
        </p:nvGrpSpPr>
        <p:grpSpPr>
          <a:xfrm>
            <a:off x="4037274" y="4829813"/>
            <a:ext cx="2664296" cy="1152128"/>
            <a:chOff x="4583832" y="1772816"/>
            <a:chExt cx="2664296" cy="115212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0AC6341-CE87-4A24-9982-1EF90BB410EA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5AD6D41-2DC4-43B6-A913-541996ADB4DF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E8929A0-A944-43A1-A405-F70F759CA201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CDCD82B-CCEA-4F29-A9D1-A9165A11F870}"/>
                  </a:ext>
                </a:extLst>
              </p:cNvPr>
              <p:cNvCxnSpPr>
                <a:stCxn id="61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AC17F26-A679-4E90-AEF8-1D186D91F5A9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B805612-272D-4369-A8C2-A4D7E73710D9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21E6EFC-30D8-4CAA-828C-49FD4B8395C8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CEE7B23-1CEA-491B-A3FA-9AD89A928148}"/>
              </a:ext>
            </a:extLst>
          </p:cNvPr>
          <p:cNvGrpSpPr/>
          <p:nvPr/>
        </p:nvGrpSpPr>
        <p:grpSpPr>
          <a:xfrm>
            <a:off x="7831390" y="4829813"/>
            <a:ext cx="2664296" cy="1152128"/>
            <a:chOff x="4583832" y="1772816"/>
            <a:chExt cx="2664296" cy="1152128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A35344B-AEF6-4262-89E6-CF6043B4C8C7}"/>
                </a:ext>
              </a:extLst>
            </p:cNvPr>
            <p:cNvGrpSpPr/>
            <p:nvPr/>
          </p:nvGrpSpPr>
          <p:grpSpPr>
            <a:xfrm>
              <a:off x="4583832" y="1772816"/>
              <a:ext cx="2664296" cy="1152128"/>
              <a:chOff x="4583832" y="1772816"/>
              <a:chExt cx="2029949" cy="864096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A5CA5DA-FB58-469D-8F2A-3ED7F6FF5CBF}"/>
                  </a:ext>
                </a:extLst>
              </p:cNvPr>
              <p:cNvSpPr/>
              <p:nvPr/>
            </p:nvSpPr>
            <p:spPr>
              <a:xfrm>
                <a:off x="4583832" y="1772816"/>
                <a:ext cx="1944216" cy="8640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ru-RU" dirty="0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2FCA172-A028-4A7B-B170-EB8E6E60CC3B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4583832" y="2204864"/>
                <a:ext cx="194421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6784F007-83DA-40C9-B206-82F41106586D}"/>
                  </a:ext>
                </a:extLst>
              </p:cNvPr>
              <p:cNvCxnSpPr>
                <a:stCxn id="69" idx="2"/>
              </p:cNvCxnSpPr>
              <p:nvPr/>
            </p:nvCxnSpPr>
            <p:spPr>
              <a:xfrm flipV="1">
                <a:off x="5555940" y="2204864"/>
                <a:ext cx="0" cy="43204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27B4E6B-EB9E-42BB-A0DE-3C122A099B83}"/>
                  </a:ext>
                </a:extLst>
              </p:cNvPr>
              <p:cNvSpPr txBox="1"/>
              <p:nvPr/>
            </p:nvSpPr>
            <p:spPr>
              <a:xfrm>
                <a:off x="4587109" y="2288084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left</a:t>
                </a:r>
                <a:endParaRPr lang="ru-RU" sz="120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40DE390-46E7-43AA-B67C-96B2A1407B15}"/>
                  </a:ext>
                </a:extLst>
              </p:cNvPr>
              <p:cNvSpPr txBox="1"/>
              <p:nvPr/>
            </p:nvSpPr>
            <p:spPr>
              <a:xfrm>
                <a:off x="5533661" y="2282388"/>
                <a:ext cx="10801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NodePtr</a:t>
                </a:r>
                <a:r>
                  <a:rPr lang="en-US" sz="1200" dirty="0"/>
                  <a:t> right</a:t>
                </a:r>
                <a:endParaRPr lang="ru-RU" sz="1200" dirty="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6BC3C50-068B-4CCE-AA5C-E687368702FC}"/>
                </a:ext>
              </a:extLst>
            </p:cNvPr>
            <p:cNvSpPr txBox="1"/>
            <p:nvPr/>
          </p:nvSpPr>
          <p:spPr>
            <a:xfrm flipH="1">
              <a:off x="5488583" y="1883776"/>
              <a:ext cx="103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</a:t>
              </a:r>
              <a:endParaRPr lang="ru-RU" dirty="0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E8012A1-27F4-4D0B-8F75-CE00734F80C2}"/>
              </a:ext>
            </a:extLst>
          </p:cNvPr>
          <p:cNvCxnSpPr>
            <a:stCxn id="33" idx="1"/>
            <a:endCxn id="53" idx="0"/>
          </p:cNvCxnSpPr>
          <p:nvPr/>
        </p:nvCxnSpPr>
        <p:spPr>
          <a:xfrm flipH="1">
            <a:off x="2331326" y="4180437"/>
            <a:ext cx="378101" cy="6642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CCA2E60-7A1C-4209-86FD-4D5C4E92CE4C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5242277" y="4172842"/>
            <a:ext cx="70883" cy="6569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3C40810-5D47-4A6C-A2D1-813E9CB247CB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8986977" y="4172842"/>
            <a:ext cx="120299" cy="6569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AC9FD6-1C53-4D78-98D0-9978A896DC7C}"/>
              </a:ext>
            </a:extLst>
          </p:cNvPr>
          <p:cNvCxnSpPr>
            <a:stCxn id="30" idx="3"/>
            <a:endCxn id="4" idx="2"/>
          </p:cNvCxnSpPr>
          <p:nvPr/>
        </p:nvCxnSpPr>
        <p:spPr>
          <a:xfrm flipV="1">
            <a:off x="5256898" y="2924944"/>
            <a:ext cx="602820" cy="959867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085D41F-266B-4F08-BC7E-BCB4A7684F63}"/>
              </a:ext>
            </a:extLst>
          </p:cNvPr>
          <p:cNvCxnSpPr>
            <a:cxnSpLocks/>
            <a:stCxn id="38" idx="1"/>
            <a:endCxn id="4" idx="2"/>
          </p:cNvCxnSpPr>
          <p:nvPr/>
        </p:nvCxnSpPr>
        <p:spPr>
          <a:xfrm flipH="1" flipV="1">
            <a:off x="5859718" y="2924944"/>
            <a:ext cx="609028" cy="959867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255845C-A059-4365-993D-AEEF6256D697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3607212" y="4460875"/>
            <a:ext cx="373800" cy="985652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7A50928-A6CF-4883-8298-4FF57D6A8129}"/>
              </a:ext>
            </a:extLst>
          </p:cNvPr>
          <p:cNvCxnSpPr>
            <a:cxnSpLocks/>
            <a:stCxn id="61" idx="1"/>
            <a:endCxn id="30" idx="2"/>
          </p:cNvCxnSpPr>
          <p:nvPr/>
        </p:nvCxnSpPr>
        <p:spPr>
          <a:xfrm flipH="1" flipV="1">
            <a:off x="3981012" y="4460875"/>
            <a:ext cx="56262" cy="945002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1A3FC0E-08D0-418C-9823-E943AB87D4AA}"/>
              </a:ext>
            </a:extLst>
          </p:cNvPr>
          <p:cNvCxnSpPr>
            <a:cxnSpLocks/>
            <a:stCxn id="69" idx="1"/>
            <a:endCxn id="38" idx="2"/>
          </p:cNvCxnSpPr>
          <p:nvPr/>
        </p:nvCxnSpPr>
        <p:spPr>
          <a:xfrm flipH="1" flipV="1">
            <a:off x="7744632" y="4460875"/>
            <a:ext cx="86758" cy="945002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4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7737-69D1-4335-AB52-57A34239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weak_ptr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D8EBE-3E2D-4E67-A104-BA891AC96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Получились циклические зависимости</a:t>
            </a:r>
          </a:p>
          <a:p>
            <a:r>
              <a:rPr lang="ru-RU" dirty="0"/>
              <a:t>Память никогда не освободится, потому что счетчик ссылок не станет равным нулю</a:t>
            </a:r>
          </a:p>
          <a:p>
            <a:r>
              <a:rPr lang="ru-RU" dirty="0"/>
              <a:t>Можно использовать </a:t>
            </a:r>
            <a:r>
              <a:rPr lang="en-US" dirty="0" err="1"/>
              <a:t>weak_ptr</a:t>
            </a:r>
            <a:r>
              <a:rPr lang="en-US" dirty="0"/>
              <a:t> </a:t>
            </a:r>
            <a:r>
              <a:rPr lang="ru-RU" dirty="0"/>
              <a:t>в качестве указателя на родителя</a:t>
            </a:r>
          </a:p>
          <a:p>
            <a:r>
              <a:rPr lang="ru-RU" dirty="0"/>
              <a:t>Он не будет учитываться при подсчете ссылок при уничтожении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82239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F845-7693-40F7-8ADD-86D69965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weak_ptr</a:t>
            </a:r>
            <a:r>
              <a:rPr lang="en-US" dirty="0"/>
              <a:t> - </a:t>
            </a:r>
            <a:r>
              <a:rPr lang="ru-RU" dirty="0"/>
              <a:t>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282D2-865F-4822-8E94-2F1C072BA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weak_ptr</a:t>
            </a:r>
            <a:r>
              <a:rPr lang="en-US" dirty="0"/>
              <a:t> </a:t>
            </a:r>
            <a:r>
              <a:rPr lang="ru-RU" dirty="0"/>
              <a:t>должен уметь понимать, жив ли ещё объект</a:t>
            </a:r>
          </a:p>
          <a:p>
            <a:r>
              <a:rPr lang="ru-RU" dirty="0"/>
              <a:t>Но сейчас мы освобождаем память после смерти объекта, тогда обращение к счетчику – </a:t>
            </a:r>
            <a:r>
              <a:rPr lang="en-US" dirty="0"/>
              <a:t>UB</a:t>
            </a:r>
          </a:p>
          <a:p>
            <a:r>
              <a:rPr lang="ru-RU" dirty="0"/>
              <a:t>Решение – освобождать память только когда закончатся </a:t>
            </a:r>
            <a:r>
              <a:rPr lang="en-US" dirty="0" err="1"/>
              <a:t>weak_ptr</a:t>
            </a:r>
            <a:r>
              <a:rPr lang="ru-RU" dirty="0"/>
              <a:t>, а разрушать объект, когда закончатся </a:t>
            </a:r>
            <a:r>
              <a:rPr lang="en-US" dirty="0" err="1"/>
              <a:t>shared_ptr</a:t>
            </a:r>
            <a:endParaRPr lang="en-US" dirty="0"/>
          </a:p>
          <a:p>
            <a:r>
              <a:rPr lang="ru-RU" dirty="0"/>
              <a:t>Для этого в </a:t>
            </a:r>
            <a:r>
              <a:rPr lang="en-US" dirty="0" err="1"/>
              <a:t>ControlBlock</a:t>
            </a:r>
            <a:r>
              <a:rPr lang="en-US" dirty="0"/>
              <a:t> </a:t>
            </a:r>
            <a:r>
              <a:rPr lang="ru-RU" dirty="0"/>
              <a:t>поддержим счётчик </a:t>
            </a:r>
            <a:r>
              <a:rPr lang="en-US" dirty="0" err="1"/>
              <a:t>weak_ptr</a:t>
            </a:r>
            <a:r>
              <a:rPr lang="en-US" dirty="0"/>
              <a:t>-</a:t>
            </a:r>
            <a:r>
              <a:rPr lang="ru-RU" dirty="0" err="1"/>
              <a:t>ов</a:t>
            </a:r>
            <a:endParaRPr lang="ru-RU" dirty="0"/>
          </a:p>
          <a:p>
            <a:r>
              <a:rPr lang="ru-RU" dirty="0"/>
              <a:t>Тогда можем сделать два </a:t>
            </a:r>
            <a:r>
              <a:rPr lang="en-US" dirty="0" err="1"/>
              <a:t>ControlBlock</a:t>
            </a:r>
            <a:r>
              <a:rPr lang="en-US" dirty="0"/>
              <a:t> – </a:t>
            </a:r>
            <a:r>
              <a:rPr lang="ru-RU" dirty="0"/>
              <a:t>с двумя указателями и с объектом или без него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1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6449-14A8-48BD-AB60-85F1A704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Deleter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Allocator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5FFD-EA84-4189-9BD3-57A781480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Хотим конструировать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от </a:t>
            </a:r>
            <a:r>
              <a:rPr lang="ru-RU" dirty="0" err="1"/>
              <a:t>кастомных</a:t>
            </a:r>
            <a:r>
              <a:rPr lang="ru-RU" dirty="0"/>
              <a:t> </a:t>
            </a:r>
            <a:r>
              <a:rPr lang="ru-RU" dirty="0" err="1"/>
              <a:t>делитера</a:t>
            </a:r>
            <a:r>
              <a:rPr lang="ru-RU" dirty="0"/>
              <a:t> и </a:t>
            </a:r>
            <a:r>
              <a:rPr lang="ru-RU" dirty="0" err="1"/>
              <a:t>аллокатора</a:t>
            </a:r>
            <a:endParaRPr lang="ru-RU" dirty="0"/>
          </a:p>
          <a:p>
            <a:r>
              <a:rPr lang="ru-RU" dirty="0"/>
              <a:t>Но у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только один шаблонный параметр – </a:t>
            </a:r>
            <a:r>
              <a:rPr lang="en-US" dirty="0"/>
              <a:t>T</a:t>
            </a:r>
          </a:p>
          <a:p>
            <a:r>
              <a:rPr lang="ru-RU" dirty="0"/>
              <a:t>Хотим уметь хранить разные типы и динамически их подменять</a:t>
            </a:r>
          </a:p>
          <a:p>
            <a:r>
              <a:rPr lang="ru-RU" dirty="0"/>
              <a:t>Будем использовать </a:t>
            </a:r>
            <a:r>
              <a:rPr lang="en-US" dirty="0"/>
              <a:t>type erasure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42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A061-D344-49B4-AC44-F708FE8B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Erasure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CDF5B-720D-413A-991E-A24C9E31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Иногда хотим стирать тип (например, тип </a:t>
            </a:r>
            <a:r>
              <a:rPr lang="ru-RU" dirty="0" err="1"/>
              <a:t>делитера</a:t>
            </a:r>
            <a:r>
              <a:rPr lang="ru-RU" dirty="0"/>
              <a:t>)</a:t>
            </a:r>
          </a:p>
          <a:p>
            <a:r>
              <a:rPr lang="ru-RU" dirty="0"/>
              <a:t>Хотим уметь понимать, какой всё же тип был на самом деле</a:t>
            </a:r>
          </a:p>
          <a:p>
            <a:r>
              <a:rPr lang="ru-RU" dirty="0"/>
              <a:t>На самом деле это уже умеет делать механизм виртуальных функций</a:t>
            </a:r>
          </a:p>
          <a:p>
            <a:r>
              <a:rPr lang="ru-RU" dirty="0"/>
              <a:t>Воспользуемся таким трюком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Создадим базовый класс с виртуальными методами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Создадим шаблонного наследника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Определим необходимые виртуальные методы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Будем создавать на куче объект наследника с нужным шаблонным параметром, но хранить указатель на родителя</a:t>
            </a:r>
          </a:p>
        </p:txBody>
      </p:sp>
    </p:spTree>
    <p:extLst>
      <p:ext uri="{BB962C8B-B14F-4D97-AF65-F5344CB8AC3E}">
        <p14:creationId xmlns:p14="http://schemas.microsoft.com/office/powerpoint/2010/main" val="73175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AE20-7E73-4998-B587-22D6935B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7A55-4753-4D95-B349-889F10F7B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наследовании в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все будет корректно и без виртуального деструктора – благодаря </a:t>
            </a:r>
            <a:r>
              <a:rPr lang="en-US" dirty="0" err="1"/>
              <a:t>ControlBlock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type erasure</a:t>
            </a:r>
          </a:p>
          <a:p>
            <a:r>
              <a:rPr lang="ru-RU" dirty="0"/>
              <a:t>Для </a:t>
            </a:r>
            <a:r>
              <a:rPr lang="en-US" dirty="0" err="1"/>
              <a:t>unique_ptr</a:t>
            </a:r>
            <a:r>
              <a:rPr lang="en-US" dirty="0"/>
              <a:t> </a:t>
            </a:r>
            <a:r>
              <a:rPr lang="ru-RU" dirty="0"/>
              <a:t>это не сработает – у него </a:t>
            </a:r>
            <a:r>
              <a:rPr lang="en-US" dirty="0" err="1"/>
              <a:t>Deleter</a:t>
            </a:r>
            <a:r>
              <a:rPr lang="en-US" dirty="0"/>
              <a:t> </a:t>
            </a:r>
            <a:r>
              <a:rPr lang="ru-RU" dirty="0"/>
              <a:t>зашит в шаблонный параметр</a:t>
            </a:r>
            <a:r>
              <a:rPr lang="en-US" dirty="0"/>
              <a:t>. </a:t>
            </a:r>
            <a:r>
              <a:rPr lang="ru-RU" dirty="0"/>
              <a:t>Нужно делать деструктор виртуальным.</a:t>
            </a:r>
          </a:p>
        </p:txBody>
      </p:sp>
    </p:spTree>
    <p:extLst>
      <p:ext uri="{BB962C8B-B14F-4D97-AF65-F5344CB8AC3E}">
        <p14:creationId xmlns:p14="http://schemas.microsoft.com/office/powerpoint/2010/main" val="264345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002E-A5D0-4F8F-9D13-B8DFFB86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constructor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09D1-3EF6-46F1-A0DD-CE12F2006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Иногда хотим иметь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на некоторую часть разделяемого объекта, например, на поле</a:t>
            </a:r>
          </a:p>
          <a:p>
            <a:r>
              <a:rPr lang="en-US" dirty="0"/>
              <a:t> </a:t>
            </a:r>
            <a:r>
              <a:rPr lang="en-US" dirty="0" err="1"/>
              <a:t>shared_ptr</a:t>
            </a:r>
            <a:r>
              <a:rPr lang="en-US" dirty="0"/>
              <a:t>( const </a:t>
            </a:r>
            <a:r>
              <a:rPr lang="en-US" dirty="0" err="1"/>
              <a:t>shared_ptr</a:t>
            </a:r>
            <a:r>
              <a:rPr lang="en-US" dirty="0"/>
              <a:t>&lt;Y&gt;&amp; r, </a:t>
            </a:r>
            <a:r>
              <a:rPr lang="en-US" dirty="0" err="1"/>
              <a:t>element_type</a:t>
            </a:r>
            <a:r>
              <a:rPr lang="en-US" dirty="0"/>
              <a:t>* </a:t>
            </a:r>
            <a:r>
              <a:rPr lang="en-US" dirty="0" err="1"/>
              <a:t>ptr</a:t>
            </a:r>
            <a:r>
              <a:rPr lang="en-US" dirty="0"/>
              <a:t> );</a:t>
            </a:r>
          </a:p>
          <a:p>
            <a:r>
              <a:rPr lang="ru-RU" dirty="0"/>
              <a:t>При уничтожении объекта, если нет больше ссылок, вызывается </a:t>
            </a:r>
            <a:r>
              <a:rPr lang="en-US" dirty="0" err="1"/>
              <a:t>Deleter</a:t>
            </a:r>
            <a:endParaRPr lang="en-US" dirty="0"/>
          </a:p>
          <a:p>
            <a:r>
              <a:rPr lang="ru-RU" dirty="0"/>
              <a:t>При вызове </a:t>
            </a:r>
            <a:r>
              <a:rPr lang="en-US" dirty="0"/>
              <a:t>get (</a:t>
            </a:r>
            <a:r>
              <a:rPr lang="ru-RU" dirty="0"/>
              <a:t>а также разыменовании</a:t>
            </a:r>
            <a:r>
              <a:rPr lang="en-US" dirty="0"/>
              <a:t>) </a:t>
            </a:r>
            <a:r>
              <a:rPr lang="ru-RU" dirty="0"/>
              <a:t>возвращается </a:t>
            </a:r>
            <a:r>
              <a:rPr lang="en-US" dirty="0" err="1"/>
              <a:t>ptr</a:t>
            </a:r>
            <a:endParaRPr lang="ru-RU" dirty="0"/>
          </a:p>
          <a:p>
            <a:r>
              <a:rPr lang="ru-RU" dirty="0"/>
              <a:t>Обязанностью пользователя является следить, чтобы время жизнь объекта под </a:t>
            </a:r>
            <a:r>
              <a:rPr lang="en-US" dirty="0" err="1"/>
              <a:t>ptr</a:t>
            </a:r>
            <a:r>
              <a:rPr lang="en-US" dirty="0"/>
              <a:t> </a:t>
            </a:r>
            <a:r>
              <a:rPr lang="ru-RU" dirty="0"/>
              <a:t>совпадало с временем жизни разделяемого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21386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4768-B365-480C-9FB0-BCE09514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Касты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7D7B1-AA76-400A-B830-FCEF6335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Существуют касты </a:t>
            </a:r>
            <a:r>
              <a:rPr lang="en-US" dirty="0" err="1"/>
              <a:t>shared_ptr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static_pointer_cast</a:t>
            </a:r>
            <a:endParaRPr lang="en-US" dirty="0"/>
          </a:p>
          <a:p>
            <a:pPr lvl="1"/>
            <a:r>
              <a:rPr lang="en-US" dirty="0" err="1"/>
              <a:t>dynamic_pointer_cast</a:t>
            </a:r>
            <a:endParaRPr lang="en-US" dirty="0"/>
          </a:p>
          <a:p>
            <a:pPr lvl="1"/>
            <a:r>
              <a:rPr lang="en-US" dirty="0" err="1"/>
              <a:t>const_pointer_cast</a:t>
            </a:r>
            <a:endParaRPr lang="en-US" dirty="0"/>
          </a:p>
          <a:p>
            <a:pPr lvl="1"/>
            <a:r>
              <a:rPr lang="en-US" dirty="0" err="1"/>
              <a:t>reinterpret_pointer_cast</a:t>
            </a:r>
            <a:endParaRPr lang="en-US" dirty="0"/>
          </a:p>
          <a:p>
            <a:r>
              <a:rPr lang="ru-RU" dirty="0"/>
              <a:t>Ведут себя как обычные касты</a:t>
            </a:r>
          </a:p>
          <a:p>
            <a:r>
              <a:rPr lang="ru-RU" dirty="0"/>
              <a:t>Создаются новые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с помощью </a:t>
            </a:r>
            <a:r>
              <a:rPr lang="en-US" dirty="0"/>
              <a:t>aliasing constructor </a:t>
            </a:r>
            <a:r>
              <a:rPr lang="ru-RU" dirty="0"/>
              <a:t>и преобразованного с помощью обычного каста указателя</a:t>
            </a:r>
          </a:p>
        </p:txBody>
      </p:sp>
    </p:spTree>
    <p:extLst>
      <p:ext uri="{BB962C8B-B14F-4D97-AF65-F5344CB8AC3E}">
        <p14:creationId xmlns:p14="http://schemas.microsoft.com/office/powerpoint/2010/main" val="70243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4262-E78A-4B75-8E1F-87FB97F0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27"/>
            <a:ext cx="10515600" cy="1325563"/>
          </a:xfrm>
        </p:spPr>
        <p:txBody>
          <a:bodyPr/>
          <a:lstStyle/>
          <a:p>
            <a:r>
              <a:rPr lang="en-US" dirty="0"/>
              <a:t>Garbage Collectors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34FF-22BC-4470-A182-0ECC632B5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1272" y="1350731"/>
            <a:ext cx="4536504" cy="4351338"/>
          </a:xfrm>
        </p:spPr>
        <p:txBody>
          <a:bodyPr/>
          <a:lstStyle/>
          <a:p>
            <a:pPr algn="ctr"/>
            <a:r>
              <a:rPr lang="en-US" b="1" dirty="0"/>
              <a:t>Reference Counting</a:t>
            </a:r>
            <a:endParaRPr lang="ru-RU" b="1" dirty="0"/>
          </a:p>
          <a:p>
            <a:pPr marL="0" indent="0" algn="ctr">
              <a:buNone/>
            </a:pPr>
            <a:r>
              <a:rPr lang="ru-RU" dirty="0"/>
              <a:t>Каждый объект поддерживает счётчик ссылок на него, если счётчик равен нулю – объект удаляется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4BBFF0-7367-40B2-94F0-5D20A585791B}"/>
              </a:ext>
            </a:extLst>
          </p:cNvPr>
          <p:cNvSpPr txBox="1">
            <a:spLocks/>
          </p:cNvSpPr>
          <p:nvPr/>
        </p:nvSpPr>
        <p:spPr bwMode="auto">
          <a:xfrm>
            <a:off x="1127448" y="1364109"/>
            <a:ext cx="51845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Tracing</a:t>
            </a:r>
          </a:p>
          <a:p>
            <a:pPr marL="0" indent="0">
              <a:buNone/>
            </a:pPr>
            <a:r>
              <a:rPr lang="ru-RU" dirty="0"/>
              <a:t>Обходим граф доступности объектов начиная. Все недостижимые объекты считаются мусором и удаляются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A2E58-3D04-4A4C-89AD-0DCB06D2782B}"/>
              </a:ext>
            </a:extLst>
          </p:cNvPr>
          <p:cNvSpPr txBox="1"/>
          <p:nvPr/>
        </p:nvSpPr>
        <p:spPr>
          <a:xfrm>
            <a:off x="6960096" y="6431841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Статья </a:t>
            </a:r>
            <a:r>
              <a:rPr lang="en-US" dirty="0"/>
              <a:t>“A Unified Theory of Garbage Collection”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E2EED-90F2-4A4C-A550-B807ACD59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95" y="4077072"/>
            <a:ext cx="5818209" cy="228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6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15263</TotalTime>
  <Words>794</Words>
  <Application>Microsoft Office PowerPoint</Application>
  <DocSecurity>0</DocSecurity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Семинар №10  Умные указатели</vt:lpstr>
      <vt:lpstr>Мотивация</vt:lpstr>
      <vt:lpstr>std::shared_ptr</vt:lpstr>
      <vt:lpstr>Deleter и Allocator</vt:lpstr>
      <vt:lpstr>std::make_shared</vt:lpstr>
      <vt:lpstr>Счетчик ссылок</vt:lpstr>
      <vt:lpstr>Дерево на умных указателях</vt:lpstr>
      <vt:lpstr>Дерево на умных указателях со ссылкой на родителя</vt:lpstr>
      <vt:lpstr>weak_ptr</vt:lpstr>
      <vt:lpstr>weak_ptr - реализация</vt:lpstr>
      <vt:lpstr>Deleter и Allocator</vt:lpstr>
      <vt:lpstr>Type Erasure</vt:lpstr>
      <vt:lpstr>Наследование</vt:lpstr>
      <vt:lpstr>Aliasing constructor </vt:lpstr>
      <vt:lpstr>Касты</vt:lpstr>
      <vt:lpstr>Garbage Collectors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119</cp:revision>
  <dcterms:created xsi:type="dcterms:W3CDTF">2012-12-03T06:56:55Z</dcterms:created>
  <dcterms:modified xsi:type="dcterms:W3CDTF">2025-04-23T07:57:59Z</dcterms:modified>
  <cp:category/>
  <dc:identifier/>
  <cp:contentStatus/>
  <dc:language/>
  <cp:version/>
</cp:coreProperties>
</file>