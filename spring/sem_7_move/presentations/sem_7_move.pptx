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8" r:id="rId7"/>
    <p:sldId id="267" r:id="rId8"/>
    <p:sldId id="269" r:id="rId9"/>
    <p:sldId id="271" r:id="rId10"/>
    <p:sldId id="270" r:id="rId11"/>
    <p:sldId id="272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value_categor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7</a:t>
            </a:r>
            <a:br>
              <a:rPr lang="en-US" dirty="0"/>
            </a:br>
            <a:br>
              <a:rPr lang="ru-RU" dirty="0"/>
            </a:br>
            <a:r>
              <a:rPr lang="en-US" dirty="0"/>
              <a:t>Move-</a:t>
            </a:r>
            <a:r>
              <a:rPr lang="ru-RU" dirty="0"/>
              <a:t>семантика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6DEA-8D46-48E0-BBF8-E535229B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59"/>
            <a:ext cx="10515600" cy="1325563"/>
          </a:xfrm>
        </p:spPr>
        <p:txBody>
          <a:bodyPr/>
          <a:lstStyle/>
          <a:p>
            <a:r>
              <a:rPr lang="ru-RU" dirty="0"/>
              <a:t>Мотивация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B7F7-F7D1-467A-BB20-10F1DCA7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412776"/>
            <a:ext cx="11017224" cy="5328592"/>
          </a:xfrm>
        </p:spPr>
        <p:txBody>
          <a:bodyPr>
            <a:normAutofit/>
          </a:bodyPr>
          <a:lstStyle/>
          <a:p>
            <a:r>
              <a:rPr lang="ru-RU" dirty="0"/>
              <a:t>До сих пор мы умели только копировать объекты или использовать ссылки на них</a:t>
            </a:r>
          </a:p>
          <a:p>
            <a:r>
              <a:rPr lang="ru-RU" dirty="0"/>
              <a:t>Но часто хотелось бы перемещать объекты</a:t>
            </a:r>
            <a:endParaRPr lang="en-US" dirty="0"/>
          </a:p>
          <a:p>
            <a:r>
              <a:rPr lang="ru-RU" dirty="0"/>
              <a:t>Например, если мы знаем, что объект нам </a:t>
            </a:r>
            <a:r>
              <a:rPr lang="en-US" dirty="0"/>
              <a:t>“</a:t>
            </a:r>
            <a:r>
              <a:rPr lang="ru-RU" dirty="0"/>
              <a:t>больше не нужен</a:t>
            </a:r>
            <a:r>
              <a:rPr lang="en-US" dirty="0"/>
              <a:t>”</a:t>
            </a:r>
            <a:r>
              <a:rPr lang="ru-RU" dirty="0"/>
              <a:t>, мы можем отдать ресурсы, которыми он владеет</a:t>
            </a:r>
            <a:endParaRPr lang="en-US" dirty="0"/>
          </a:p>
          <a:p>
            <a:r>
              <a:rPr lang="ru-RU" dirty="0"/>
              <a:t>Введем операцию перемещения объекта – мы забираем ресурсы у одного объекта и отдаём другому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4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FF7F-4F27-43B3-ADAD-A5CEFBE1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…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6E6B6-8D6D-4119-8B8B-5E068D69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Three: 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If a class requires a user-defined </a:t>
            </a:r>
            <a:r>
              <a:rPr lang="en-US" b="1" i="0" dirty="0">
                <a:solidFill>
                  <a:srgbClr val="000000"/>
                </a:solidFill>
                <a:effectLst/>
                <a:latin typeface="DejaVuSans"/>
              </a:rPr>
              <a:t>destructor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, a user-defined </a:t>
            </a:r>
            <a:r>
              <a:rPr lang="en-US" b="1" i="0" dirty="0">
                <a:solidFill>
                  <a:srgbClr val="000000"/>
                </a:solidFill>
                <a:effectLst/>
                <a:latin typeface="DejaVuSans"/>
              </a:rPr>
              <a:t>copy constructor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, or a user-defined </a:t>
            </a:r>
            <a:r>
              <a:rPr lang="en-US" b="1" i="0" dirty="0">
                <a:solidFill>
                  <a:srgbClr val="000000"/>
                </a:solidFill>
                <a:effectLst/>
                <a:latin typeface="DejaVuSans"/>
              </a:rPr>
              <a:t>copy assignment operator</a:t>
            </a:r>
            <a:r>
              <a:rPr lang="en-US" b="0" i="0" dirty="0">
                <a:solidFill>
                  <a:srgbClr val="000000"/>
                </a:solidFill>
                <a:effectLst/>
                <a:latin typeface="DejaVuSans"/>
              </a:rPr>
              <a:t>, it almost certainly requires all three.</a:t>
            </a:r>
            <a:endParaRPr lang="ru-RU" b="0" i="0" dirty="0">
              <a:solidFill>
                <a:srgbClr val="000000"/>
              </a:solidFill>
              <a:effectLst/>
              <a:latin typeface="DejaVuSans"/>
            </a:endParaRPr>
          </a:p>
          <a:p>
            <a:r>
              <a:rPr lang="en-US" dirty="0">
                <a:solidFill>
                  <a:srgbClr val="000000"/>
                </a:solidFill>
                <a:latin typeface="DejaVuSans"/>
              </a:rPr>
              <a:t>Five: If a class requires a user-defined </a:t>
            </a:r>
            <a:r>
              <a:rPr lang="en-US" b="1" dirty="0">
                <a:solidFill>
                  <a:srgbClr val="000000"/>
                </a:solidFill>
                <a:latin typeface="DejaVuSans"/>
              </a:rPr>
              <a:t>destructor</a:t>
            </a:r>
            <a:r>
              <a:rPr lang="en-US" dirty="0">
                <a:solidFill>
                  <a:srgbClr val="000000"/>
                </a:solidFill>
                <a:latin typeface="DejaVuSans"/>
              </a:rPr>
              <a:t>, a user-defined </a:t>
            </a:r>
            <a:r>
              <a:rPr lang="en-US" b="1" dirty="0">
                <a:solidFill>
                  <a:srgbClr val="000000"/>
                </a:solidFill>
                <a:latin typeface="DejaVuSans"/>
              </a:rPr>
              <a:t>copy constructor</a:t>
            </a:r>
            <a:r>
              <a:rPr lang="en-US" dirty="0">
                <a:solidFill>
                  <a:srgbClr val="000000"/>
                </a:solidFill>
                <a:latin typeface="DejaVuSans"/>
              </a:rPr>
              <a:t>, a user-defined copy </a:t>
            </a:r>
            <a:r>
              <a:rPr lang="en-US" b="1" dirty="0">
                <a:solidFill>
                  <a:srgbClr val="000000"/>
                </a:solidFill>
                <a:latin typeface="DejaVuSans"/>
              </a:rPr>
              <a:t>assignment operator</a:t>
            </a:r>
            <a:r>
              <a:rPr lang="en-US" dirty="0">
                <a:solidFill>
                  <a:srgbClr val="000000"/>
                </a:solidFill>
                <a:latin typeface="DejaVuSans"/>
              </a:rPr>
              <a:t>, a user-defined </a:t>
            </a:r>
            <a:r>
              <a:rPr lang="en-US" b="1" dirty="0">
                <a:solidFill>
                  <a:srgbClr val="000000"/>
                </a:solidFill>
                <a:latin typeface="DejaVuSans"/>
              </a:rPr>
              <a:t>move constructor</a:t>
            </a:r>
            <a:r>
              <a:rPr lang="en-US" dirty="0">
                <a:solidFill>
                  <a:srgbClr val="000000"/>
                </a:solidFill>
                <a:latin typeface="DejaVuSans"/>
              </a:rPr>
              <a:t>, a user-defined </a:t>
            </a:r>
            <a:r>
              <a:rPr lang="en-US" b="1" dirty="0">
                <a:solidFill>
                  <a:srgbClr val="000000"/>
                </a:solidFill>
                <a:latin typeface="DejaVuSans"/>
              </a:rPr>
              <a:t>move assignment operator</a:t>
            </a:r>
            <a:r>
              <a:rPr lang="en-US" dirty="0">
                <a:solidFill>
                  <a:srgbClr val="000000"/>
                </a:solidFill>
                <a:latin typeface="DejaVuSans"/>
              </a:rPr>
              <a:t>, it almost certainly requires all five.</a:t>
            </a:r>
            <a:endParaRPr lang="en-US" b="0" i="0" dirty="0">
              <a:solidFill>
                <a:srgbClr val="000000"/>
              </a:solidFill>
              <a:effectLst/>
              <a:latin typeface="DejaVuSans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72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E30A-11CE-4952-B65E-E15A47BE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74425" cy="1325563"/>
          </a:xfrm>
        </p:spPr>
        <p:txBody>
          <a:bodyPr/>
          <a:lstStyle/>
          <a:p>
            <a:r>
              <a:rPr lang="en-US" dirty="0"/>
              <a:t>Move-constructor and assignment operator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2F7B-41DA-4CE5-8D36-D4513A094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Test(Test&amp;&amp; other) – move constructor</a:t>
            </a:r>
          </a:p>
          <a:p>
            <a:r>
              <a:rPr lang="en-US" dirty="0"/>
              <a:t>Test&amp; operator=(Test&amp;&amp; other) – move assignment operator</a:t>
            </a:r>
          </a:p>
          <a:p>
            <a:r>
              <a:rPr lang="ru-RU" dirty="0"/>
              <a:t>Так как мы хотим забрать владение ресурсами у </a:t>
            </a:r>
            <a:r>
              <a:rPr lang="en-US" dirty="0"/>
              <a:t>other, </a:t>
            </a:r>
            <a:r>
              <a:rPr lang="ru-RU" dirty="0"/>
              <a:t>принимаем его не через </a:t>
            </a:r>
            <a:r>
              <a:rPr lang="en-US" dirty="0"/>
              <a:t>const</a:t>
            </a:r>
            <a:endParaRPr lang="ru-RU" dirty="0"/>
          </a:p>
          <a:p>
            <a:r>
              <a:rPr lang="ru-RU" dirty="0"/>
              <a:t>Двойная ссылка</a:t>
            </a:r>
            <a:r>
              <a:rPr lang="en-US" dirty="0"/>
              <a:t> (&amp;&amp;)</a:t>
            </a:r>
            <a:r>
              <a:rPr lang="ru-RU" dirty="0"/>
              <a:t> требует, чтобы </a:t>
            </a:r>
            <a:r>
              <a:rPr lang="en-US" dirty="0"/>
              <a:t>other </a:t>
            </a:r>
            <a:r>
              <a:rPr lang="ru-RU" dirty="0"/>
              <a:t>можно было </a:t>
            </a:r>
            <a:r>
              <a:rPr lang="en-US" dirty="0"/>
              <a:t>“</a:t>
            </a:r>
            <a:r>
              <a:rPr lang="ru-RU" dirty="0"/>
              <a:t>разобрать на запчасти</a:t>
            </a:r>
            <a:r>
              <a:rPr lang="en-US" dirty="0"/>
              <a:t>”</a:t>
            </a:r>
          </a:p>
          <a:p>
            <a:r>
              <a:rPr lang="ru-RU" dirty="0"/>
              <a:t>У разрушаемого объекта нужно не забыть </a:t>
            </a:r>
            <a:r>
              <a:rPr lang="ru-RU" dirty="0" err="1"/>
              <a:t>занулить</a:t>
            </a:r>
            <a:r>
              <a:rPr lang="ru-RU" dirty="0"/>
              <a:t> указатель (если таковой имеется), чтобы избежать </a:t>
            </a:r>
            <a:r>
              <a:rPr lang="en-US" dirty="0"/>
              <a:t>double free</a:t>
            </a:r>
            <a:r>
              <a:rPr lang="ru-RU" dirty="0"/>
              <a:t> в деструкторе</a:t>
            </a:r>
          </a:p>
          <a:p>
            <a:r>
              <a:rPr lang="en-US" dirty="0"/>
              <a:t>N.B.! </a:t>
            </a:r>
            <a:r>
              <a:rPr lang="ru-RU" dirty="0"/>
              <a:t>Разрушенный объект должен быть в полностью корректном состоянии с точки зрения состояния объекта, таким объектом можно пользоваться позже, просто он не владеет ресурсами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12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5396A-4C46-4966-9FAB-EE6FBEFF1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std::move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15D0E-9F02-46D5-9D8E-587492F69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Хотим пометить объект как такой, что его </a:t>
            </a:r>
            <a:r>
              <a:rPr lang="en-US" dirty="0"/>
              <a:t>“</a:t>
            </a:r>
            <a:r>
              <a:rPr lang="ru-RU" dirty="0"/>
              <a:t>можно разбирать на запчасти</a:t>
            </a:r>
            <a:r>
              <a:rPr lang="en-US" dirty="0"/>
              <a:t>”</a:t>
            </a:r>
            <a:endParaRPr lang="ru-RU" dirty="0"/>
          </a:p>
          <a:p>
            <a:r>
              <a:rPr lang="en-US" b="1" dirty="0"/>
              <a:t>N.B.! </a:t>
            </a:r>
            <a:r>
              <a:rPr lang="ru-RU" dirty="0"/>
              <a:t>Сам </a:t>
            </a:r>
            <a:r>
              <a:rPr lang="en-US" dirty="0"/>
              <a:t>std::move </a:t>
            </a:r>
            <a:r>
              <a:rPr lang="ru-RU" dirty="0"/>
              <a:t>никак не меняет сам объект!</a:t>
            </a:r>
            <a:endParaRPr lang="en-US" dirty="0"/>
          </a:p>
          <a:p>
            <a:r>
              <a:rPr lang="ru-RU" dirty="0"/>
              <a:t>Но использование его в выражении с </a:t>
            </a:r>
            <a:r>
              <a:rPr lang="en-US" dirty="0"/>
              <a:t>std::move </a:t>
            </a:r>
            <a:r>
              <a:rPr lang="ru-RU" dirty="0"/>
              <a:t>оставляет пометку</a:t>
            </a:r>
            <a:endParaRPr lang="en-US" dirty="0"/>
          </a:p>
          <a:p>
            <a:r>
              <a:rPr lang="ru-RU" dirty="0"/>
              <a:t>Таким образом, эта пометка есть только в </a:t>
            </a:r>
            <a:r>
              <a:rPr lang="en-US" dirty="0"/>
              <a:t>compile time, </a:t>
            </a:r>
            <a:r>
              <a:rPr lang="ru-RU" dirty="0"/>
              <a:t>но не в </a:t>
            </a:r>
            <a:r>
              <a:rPr lang="en-US" dirty="0"/>
              <a:t>run time</a:t>
            </a:r>
            <a:endParaRPr lang="ru-RU" dirty="0"/>
          </a:p>
          <a:p>
            <a:r>
              <a:rPr lang="ru-RU" dirty="0"/>
              <a:t>Неявный каст к </a:t>
            </a:r>
            <a:r>
              <a:rPr lang="en-US" dirty="0"/>
              <a:t>T&amp;&amp; </a:t>
            </a:r>
            <a:r>
              <a:rPr lang="ru-RU" dirty="0"/>
              <a:t>не происходит, иначе все бы </a:t>
            </a:r>
            <a:r>
              <a:rPr lang="ru-RU" dirty="0" err="1"/>
              <a:t>мувалось</a:t>
            </a:r>
            <a:r>
              <a:rPr lang="ru-RU" dirty="0"/>
              <a:t>, даже когда мы этого не хотим</a:t>
            </a:r>
          </a:p>
        </p:txBody>
      </p:sp>
    </p:spTree>
    <p:extLst>
      <p:ext uri="{BB962C8B-B14F-4D97-AF65-F5344CB8AC3E}">
        <p14:creationId xmlns:p14="http://schemas.microsoft.com/office/powerpoint/2010/main" val="125859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12FB-D32B-4A69-BB6E-367D2D2C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Глобальная идея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DA72-DD43-43F8-80D9-06040FB00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Перемещение – это важная фундаментальная особенность языка</a:t>
            </a:r>
          </a:p>
          <a:p>
            <a:r>
              <a:rPr lang="ru-RU" dirty="0"/>
              <a:t>Некоторые классы умеют только перемещаться, но не копироваться (</a:t>
            </a:r>
            <a:r>
              <a:rPr lang="en-US" dirty="0"/>
              <a:t>std::</a:t>
            </a:r>
            <a:r>
              <a:rPr lang="en-US" dirty="0" err="1"/>
              <a:t>unique_ptr</a:t>
            </a:r>
            <a:r>
              <a:rPr lang="en-US" dirty="0"/>
              <a:t>, std::mutex, …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по умолчанию происходит перемещение объекта, для создании копии нужно явно этого попросить, потому что в большинстве случаев при написании </a:t>
            </a:r>
            <a:r>
              <a:rPr lang="en-US" dirty="0"/>
              <a:t>“</a:t>
            </a:r>
            <a:r>
              <a:rPr lang="ru-RU" dirty="0"/>
              <a:t>=</a:t>
            </a:r>
            <a:r>
              <a:rPr lang="en-US" dirty="0"/>
              <a:t>“ </a:t>
            </a:r>
            <a:r>
              <a:rPr lang="ru-RU" dirty="0"/>
              <a:t>требуется именно перемещение</a:t>
            </a:r>
          </a:p>
          <a:p>
            <a:r>
              <a:rPr lang="ru-RU" dirty="0"/>
              <a:t>Однако, в </a:t>
            </a:r>
            <a:r>
              <a:rPr lang="en-US" dirty="0"/>
              <a:t>Rust </a:t>
            </a:r>
            <a:r>
              <a:rPr lang="ru-RU" dirty="0"/>
              <a:t>запрещено пользоваться перемещенным объектом, это поддерживается компилятором </a:t>
            </a:r>
          </a:p>
        </p:txBody>
      </p:sp>
    </p:spTree>
    <p:extLst>
      <p:ext uri="{BB962C8B-B14F-4D97-AF65-F5344CB8AC3E}">
        <p14:creationId xmlns:p14="http://schemas.microsoft.com/office/powerpoint/2010/main" val="319749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4F39-8ACA-4911-BAC6-D14000AA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совместимость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34105-C2C2-46C1-81EF-29E39D348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у класса явно определен конструктор копирования, но не конструктор перемещения, то при попытке перемещения будет вызван конструктор копирования</a:t>
            </a:r>
          </a:p>
          <a:p>
            <a:r>
              <a:rPr lang="ru-RU" dirty="0"/>
              <a:t>Аналогичное верно для оператора присваивания</a:t>
            </a:r>
          </a:p>
          <a:p>
            <a:r>
              <a:rPr lang="ru-RU" dirty="0"/>
              <a:t>Это правило обеспечивает корректность работы для классов без поддержки </a:t>
            </a:r>
            <a:r>
              <a:rPr lang="en-US" dirty="0"/>
              <a:t>move-</a:t>
            </a:r>
            <a:r>
              <a:rPr lang="ru-RU" dirty="0"/>
              <a:t>семантики</a:t>
            </a:r>
          </a:p>
          <a:p>
            <a:r>
              <a:rPr lang="ru-RU" dirty="0"/>
              <a:t>Если же все из </a:t>
            </a:r>
            <a:r>
              <a:rPr lang="en-US" dirty="0"/>
              <a:t>rule of three </a:t>
            </a:r>
            <a:r>
              <a:rPr lang="ru-RU" dirty="0"/>
              <a:t>дефолтное, то конструктор копирования </a:t>
            </a:r>
            <a:r>
              <a:rPr lang="en-US" dirty="0"/>
              <a:t>/ </a:t>
            </a:r>
            <a:r>
              <a:rPr lang="ru-RU" dirty="0"/>
              <a:t>оператор присваивания копированием будут дефолтными (перемещают поля)</a:t>
            </a:r>
          </a:p>
        </p:txBody>
      </p:sp>
    </p:spTree>
    <p:extLst>
      <p:ext uri="{BB962C8B-B14F-4D97-AF65-F5344CB8AC3E}">
        <p14:creationId xmlns:p14="http://schemas.microsoft.com/office/powerpoint/2010/main" val="12852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703A-E423-4CFB-A02E-807C86B13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&amp; </a:t>
            </a:r>
            <a:r>
              <a:rPr lang="en-US" dirty="0" err="1"/>
              <a:t>rvalue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60812-DECD-4466-9228-53E76C6AE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Value categories</a:t>
            </a:r>
            <a:endParaRPr lang="en-US" dirty="0"/>
          </a:p>
          <a:p>
            <a:r>
              <a:rPr lang="ru-RU" dirty="0"/>
              <a:t>Определены для </a:t>
            </a:r>
            <a:r>
              <a:rPr lang="ru-RU" b="1" dirty="0"/>
              <a:t>выражений</a:t>
            </a:r>
            <a:r>
              <a:rPr lang="ru-RU" dirty="0"/>
              <a:t> (</a:t>
            </a:r>
            <a:r>
              <a:rPr lang="en-US" dirty="0"/>
              <a:t>expressions</a:t>
            </a:r>
            <a:r>
              <a:rPr lang="ru-RU" dirty="0"/>
              <a:t>)</a:t>
            </a:r>
          </a:p>
          <a:p>
            <a:r>
              <a:rPr lang="en-US" dirty="0" err="1"/>
              <a:t>lvalue</a:t>
            </a:r>
            <a:r>
              <a:rPr lang="en-US" dirty="0"/>
              <a:t>: variable name, function name, T&amp; foo, …</a:t>
            </a:r>
          </a:p>
          <a:p>
            <a:r>
              <a:rPr lang="en-US" dirty="0" err="1"/>
              <a:t>rvalue</a:t>
            </a:r>
            <a:r>
              <a:rPr lang="en-US" dirty="0"/>
              <a:t>: literals, T foo, T&amp;&amp; foo, 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43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7A3A-E21D-4F39-8F9B-02BA7574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categories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E72A1D7-F766-473A-B1BD-2377AB84F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439" y="1570482"/>
            <a:ext cx="6963122" cy="528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42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6C02-71F8-493A-93DF-8D744BDD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Rvalue</a:t>
            </a:r>
            <a:r>
              <a:rPr lang="en-US" dirty="0"/>
              <a:t> references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6255D-1103-4AE5-83C5-4668F703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825624"/>
            <a:ext cx="11737304" cy="4843735"/>
          </a:xfrm>
        </p:spPr>
        <p:txBody>
          <a:bodyPr>
            <a:normAutofit/>
          </a:bodyPr>
          <a:lstStyle/>
          <a:p>
            <a:r>
              <a:rPr lang="en-US" dirty="0"/>
              <a:t>T&amp; - </a:t>
            </a:r>
            <a:r>
              <a:rPr lang="en-US" dirty="0" err="1"/>
              <a:t>lvalue</a:t>
            </a:r>
            <a:r>
              <a:rPr lang="en-US" dirty="0"/>
              <a:t>-reference</a:t>
            </a:r>
          </a:p>
          <a:p>
            <a:r>
              <a:rPr lang="en-US" dirty="0"/>
              <a:t>T&amp;&amp; - </a:t>
            </a:r>
            <a:r>
              <a:rPr lang="en-US" dirty="0" err="1"/>
              <a:t>rvalue</a:t>
            </a:r>
            <a:r>
              <a:rPr lang="en-US" dirty="0"/>
              <a:t>-reference</a:t>
            </a:r>
          </a:p>
          <a:p>
            <a:r>
              <a:rPr lang="ru-RU" dirty="0"/>
              <a:t>При возврате из функции </a:t>
            </a:r>
            <a:r>
              <a:rPr lang="en-US" dirty="0" err="1"/>
              <a:t>rvalue</a:t>
            </a:r>
            <a:r>
              <a:rPr lang="en-US" dirty="0"/>
              <a:t>-ref </a:t>
            </a:r>
            <a:r>
              <a:rPr lang="ru-RU" dirty="0"/>
              <a:t>является </a:t>
            </a:r>
            <a:r>
              <a:rPr lang="en-US" dirty="0" err="1"/>
              <a:t>rvalue</a:t>
            </a:r>
            <a:endParaRPr lang="en-US" dirty="0"/>
          </a:p>
          <a:p>
            <a:r>
              <a:rPr lang="en-US" dirty="0" err="1"/>
              <a:t>rvalue</a:t>
            </a:r>
            <a:r>
              <a:rPr lang="en-US" dirty="0"/>
              <a:t>-ref </a:t>
            </a:r>
            <a:r>
              <a:rPr lang="ru-RU" dirty="0"/>
              <a:t>может быть проинициализирована только </a:t>
            </a:r>
            <a:r>
              <a:rPr lang="en-US" dirty="0" err="1"/>
              <a:t>rvalue</a:t>
            </a:r>
            <a:endParaRPr lang="ru-RU" dirty="0"/>
          </a:p>
          <a:p>
            <a:r>
              <a:rPr lang="en-US" dirty="0" err="1"/>
              <a:t>rvalue</a:t>
            </a:r>
            <a:r>
              <a:rPr lang="en-US" dirty="0"/>
              <a:t>-ref </a:t>
            </a:r>
            <a:r>
              <a:rPr lang="ru-RU" dirty="0"/>
              <a:t>продляют жизнь</a:t>
            </a:r>
            <a:r>
              <a:rPr lang="en-US" dirty="0"/>
              <a:t> </a:t>
            </a:r>
            <a:r>
              <a:rPr lang="ru-RU" dirty="0"/>
              <a:t>объектам</a:t>
            </a:r>
            <a:r>
              <a:rPr lang="en-US" dirty="0"/>
              <a:t> (</a:t>
            </a:r>
            <a:r>
              <a:rPr lang="ru-RU" dirty="0"/>
              <a:t>как и </a:t>
            </a:r>
            <a:r>
              <a:rPr lang="en-US" dirty="0"/>
              <a:t>const </a:t>
            </a:r>
            <a:r>
              <a:rPr lang="en-US" dirty="0" err="1"/>
              <a:t>lvalue</a:t>
            </a:r>
            <a:r>
              <a:rPr lang="en-US" dirty="0"/>
              <a:t>-ref)</a:t>
            </a:r>
          </a:p>
          <a:p>
            <a:r>
              <a:rPr lang="ru-RU" dirty="0"/>
              <a:t>Константность не должна нарушаться как с </a:t>
            </a:r>
            <a:r>
              <a:rPr lang="en-US" dirty="0" err="1"/>
              <a:t>lvalue</a:t>
            </a:r>
            <a:r>
              <a:rPr lang="en-US" dirty="0"/>
              <a:t>, </a:t>
            </a:r>
            <a:r>
              <a:rPr lang="ru-RU" dirty="0"/>
              <a:t>так и с </a:t>
            </a:r>
            <a:r>
              <a:rPr lang="en-US" dirty="0" err="1"/>
              <a:t>rvalue</a:t>
            </a:r>
            <a:r>
              <a:rPr lang="en-US" dirty="0"/>
              <a:t>,</a:t>
            </a:r>
            <a:r>
              <a:rPr lang="ru-RU" dirty="0"/>
              <a:t> причем навешивать константность можно, а убирать только явным </a:t>
            </a:r>
            <a:r>
              <a:rPr lang="ru-RU" dirty="0" err="1"/>
              <a:t>кастом</a:t>
            </a:r>
            <a:endParaRPr lang="ru-RU" dirty="0"/>
          </a:p>
          <a:p>
            <a:r>
              <a:rPr lang="en-US" dirty="0"/>
              <a:t> const T&amp; + std::move -&gt; const T&amp;&amp; =&gt; foo(const T&amp;), </a:t>
            </a:r>
            <a:r>
              <a:rPr lang="ru-RU" dirty="0"/>
              <a:t>но не </a:t>
            </a:r>
            <a:r>
              <a:rPr lang="en-US" dirty="0"/>
              <a:t>foo(T&amp;&amp;)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77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B748-0360-445A-AE36-DC417818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qualifiers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72221-5CC0-478D-8A70-533397D36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Перегрузка по </a:t>
            </a:r>
            <a:r>
              <a:rPr lang="en-US" dirty="0"/>
              <a:t>value category </a:t>
            </a:r>
            <a:r>
              <a:rPr lang="ru-RU" dirty="0"/>
              <a:t>у объекта, от которого вызываем метод</a:t>
            </a:r>
            <a:r>
              <a:rPr lang="en-US" dirty="0"/>
              <a:t>: &amp; / &amp;&amp;</a:t>
            </a:r>
          </a:p>
          <a:p>
            <a:r>
              <a:rPr lang="ru-RU" dirty="0"/>
              <a:t>Можно перегружать одновременно как по </a:t>
            </a:r>
            <a:r>
              <a:rPr lang="en-US" dirty="0"/>
              <a:t>const, </a:t>
            </a:r>
            <a:r>
              <a:rPr lang="ru-RU" dirty="0"/>
              <a:t>так и по </a:t>
            </a:r>
            <a:r>
              <a:rPr lang="en-US" dirty="0"/>
              <a:t>reference qualifiers</a:t>
            </a:r>
          </a:p>
          <a:p>
            <a:r>
              <a:rPr lang="en-US" dirty="0"/>
              <a:t>const &amp; qualifiers </a:t>
            </a:r>
            <a:r>
              <a:rPr lang="ru-RU" dirty="0"/>
              <a:t>позволяют принять себя по </a:t>
            </a:r>
            <a:r>
              <a:rPr lang="en-US" dirty="0" err="1"/>
              <a:t>rvalue</a:t>
            </a:r>
            <a:r>
              <a:rPr lang="en-US" dirty="0"/>
              <a:t> ref (</a:t>
            </a:r>
            <a:r>
              <a:rPr lang="ru-RU" dirty="0"/>
              <a:t>т.е. как и раньше можем проинициализировать </a:t>
            </a:r>
            <a:r>
              <a:rPr lang="en-US" dirty="0"/>
              <a:t>const </a:t>
            </a:r>
            <a:r>
              <a:rPr lang="en-US" dirty="0" err="1"/>
              <a:t>lvalue</a:t>
            </a:r>
            <a:r>
              <a:rPr lang="en-US" dirty="0"/>
              <a:t> ref </a:t>
            </a:r>
            <a:r>
              <a:rPr lang="ru-RU" dirty="0"/>
              <a:t>с помощью </a:t>
            </a:r>
            <a:r>
              <a:rPr lang="en-US" dirty="0" err="1"/>
              <a:t>rvalue</a:t>
            </a:r>
            <a:r>
              <a:rPr lang="en-US" dirty="0"/>
              <a:t> ref)</a:t>
            </a:r>
          </a:p>
          <a:p>
            <a:r>
              <a:rPr lang="ru-RU" dirty="0"/>
              <a:t>Чиним </a:t>
            </a:r>
            <a:r>
              <a:rPr lang="en-US" dirty="0"/>
              <a:t>“a + b = 42” – </a:t>
            </a:r>
            <a:r>
              <a:rPr lang="ru-RU" dirty="0"/>
              <a:t>оператор присваивания должен иметь </a:t>
            </a:r>
            <a:r>
              <a:rPr lang="en-US" dirty="0"/>
              <a:t>&amp; qualifier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405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7824</TotalTime>
  <Words>636</Words>
  <Application>Microsoft Office PowerPoint</Application>
  <DocSecurity>0</DocSecurity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DejaVuSans</vt:lpstr>
      <vt:lpstr>Office Theme</vt:lpstr>
      <vt:lpstr>Семинар №7  Move-семантика</vt:lpstr>
      <vt:lpstr>Мотивация</vt:lpstr>
      <vt:lpstr>Rule of …</vt:lpstr>
      <vt:lpstr>Move-constructor and assignment operator </vt:lpstr>
      <vt:lpstr>std::move</vt:lpstr>
      <vt:lpstr>Глобальная идея</vt:lpstr>
      <vt:lpstr>Обратная совместимость</vt:lpstr>
      <vt:lpstr>lvalue &amp; rvalue</vt:lpstr>
      <vt:lpstr>Value categories</vt:lpstr>
      <vt:lpstr>Rvalue references</vt:lpstr>
      <vt:lpstr>Reference qualifiers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№3  Итераторы. Продолжение</dc:title>
  <dc:subject/>
  <dc:creator/>
  <cp:keywords/>
  <dc:description/>
  <cp:lastModifiedBy>Konstantin Dragun</cp:lastModifiedBy>
  <cp:revision>61</cp:revision>
  <dcterms:created xsi:type="dcterms:W3CDTF">2012-12-03T06:56:55Z</dcterms:created>
  <dcterms:modified xsi:type="dcterms:W3CDTF">2025-03-18T23:50:14Z</dcterms:modified>
  <cp:category/>
  <dc:identifier/>
  <cp:contentStatus/>
  <dc:language/>
  <cp:version/>
</cp:coreProperties>
</file>