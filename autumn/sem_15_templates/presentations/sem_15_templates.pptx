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6" r:id="rId4"/>
    <p:sldId id="275" r:id="rId5"/>
    <p:sldId id="274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76647-D07D-4B92-AD0D-084583A74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E36072-C8DA-4ABF-8E95-CBBB24940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952BF-CA38-42A0-B445-C6F518369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3CC5E-CC30-408F-80A2-30518A19B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35ADE-FE97-45E0-AD1E-63212919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992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94050-ED43-4BEE-A923-6BB59ABE6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62AE8-C60B-4ABB-AEDB-18B058A5C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DD2FC-ADA0-40D5-AA84-39AAA664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255AC-96ED-4E93-997C-A6BEB380F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68432-60AC-4D17-B045-A6A08EE36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85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3BCF-7178-4AD5-BF79-83FFED46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17A31-1B1F-4865-84DB-0224373B6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166FB-6133-4F4A-8675-BB4D477D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E8D4B-7800-4D48-87E6-84BABFB5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DAB06-72EC-4AD6-8D2E-BAF514FC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57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4B50-949F-4E2C-8FD4-509B98CBB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43EEE-ADD2-426F-98C9-797D9542C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E2B32A-CF37-401B-872E-A323FCC04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C652B-E560-479E-9999-10B166DE4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F53C7-CB05-4B3D-A368-A6C40742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77C6F-6750-4871-B988-1FDE4B585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563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016BF-AA83-4B73-A30D-05A56F1B8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0A5F4-0319-48CE-AA9E-FF57CDA63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E06A19-4EDB-462B-9F0E-9E7451D42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A4F39-5AE5-497E-9ED3-5135D662B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156C28-6C0E-4223-AB38-E17BBA5AC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06A979-35FE-49B5-8B4F-9F4A84A40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B490E8-9793-4E50-8FCF-5E1693BF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2400E-17F5-4A08-8894-2040A541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982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626B-E61D-4726-BB09-290FFD0DA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6A822-F217-4B9F-B6C4-A0BFA7E3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766EC-8038-4926-AEBA-F2643ED7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A683C-D6F1-4DB5-811A-4719B9586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895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E1D19-61ED-4D32-A565-D2DD4BF9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71C32-7DF9-429C-A770-ED282048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E69C2-EFAD-437F-998D-E83795B4D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021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8670-626A-4561-A47D-77ED571D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9C8C-3697-41C0-8E95-78C1D9E1F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CD094-36D3-4B26-AB23-DC9DAD797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925D3-3608-4AAC-9E45-4C5244D1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FF951-599A-4131-A19F-BE763A05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0F7FF-EB48-4DEA-991B-AC1D99F8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88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25255-DA69-48E9-9C1D-4D23C9E47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A84E02-4753-40F1-BE1C-163661A64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6F4F4-40E2-4872-A7D8-86F309EA0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C2B68-07F5-4075-97A4-074A6A47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3BAA1-F3FC-4D69-BB79-7ADEC33CD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85F54-6918-476A-9324-CDFF66D2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5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4AC2-5613-49E5-8744-3086D498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BA4FE-D8FD-45A3-9D7F-5662C79B9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7DFBB-8F0B-4EE8-BDC4-11A4F746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7CDED-2AF3-477B-ADB5-01E38F04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72101-E422-4BEF-8F38-98CA46D2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51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439848-98A4-4F1F-BBA1-7E998D131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4030E-C539-421C-8978-A9B1D6B68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B5F0D-675D-4180-8E6D-CBC07DF03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814DB-E868-4744-844D-E8EA2874E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8E7AC-C7A8-4026-8F4E-9BFFE61C9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97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CB9E5F-7964-45A2-B843-1E6E9FBF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80FA2-9E74-4C2B-85F2-B26B854E1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DE49C-2E92-4F9A-AE30-9D4031D42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4931B-9411-45F6-8DA5-11A10B7C1484}" type="datetimeFigureOut">
              <a:rPr lang="ru-RU" smtClean="0"/>
              <a:t>12.12.2024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B90AD-C3A9-4B79-910D-4961B4AD6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34BA0-26C4-4525-A458-39CA16C35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E5067-2583-4B82-990D-2FA7EFC328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7039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header/type_trait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n.cppreference.com/w/cpp/language/fold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DAFE-044E-40C1-AEA3-FC1F42BA5B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>
                <a:latin typeface="Arial" panose="020B0604020202020204" pitchFamily="34" charset="0"/>
                <a:cs typeface="Arial" panose="020B0604020202020204" pitchFamily="34" charset="0"/>
              </a:rPr>
              <a:t>Семинар</a:t>
            </a:r>
            <a:r>
              <a:rPr lang="ru-RU" sz="6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6000" dirty="0"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lang="ru-RU" sz="6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C++</a:t>
            </a:r>
            <a:r>
              <a:rPr lang="en-US" sz="6000" spc="-4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000" spc="-25" dirty="0">
                <a:latin typeface="Arial" panose="020B0604020202020204" pitchFamily="34" charset="0"/>
                <a:cs typeface="Arial" panose="020B0604020202020204" pitchFamily="34" charset="0"/>
              </a:rPr>
              <a:t>№15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02455-A020-4DED-ACAF-716715E385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5400" dirty="0"/>
              <a:t>Шаблоны. Часть </a:t>
            </a:r>
            <a:r>
              <a:rPr lang="en-US" sz="5400" dirty="0"/>
              <a:t>2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113174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9B9B-DA7D-45C4-AB41-86FC368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2651"/>
            <a:ext cx="10515600" cy="1325563"/>
          </a:xfrm>
        </p:spPr>
        <p:txBody>
          <a:bodyPr/>
          <a:lstStyle/>
          <a:p>
            <a:r>
              <a:rPr lang="en-US" dirty="0"/>
              <a:t>Dependent names (</a:t>
            </a:r>
            <a:r>
              <a:rPr lang="ru-RU" dirty="0"/>
              <a:t>зависимые имена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9AD98-EFDF-40A5-AB24-EA6426A3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13"/>
            <a:ext cx="10515600" cy="2468973"/>
          </a:xfrm>
        </p:spPr>
        <p:txBody>
          <a:bodyPr>
            <a:normAutofit fontScale="92500"/>
          </a:bodyPr>
          <a:lstStyle/>
          <a:p>
            <a:r>
              <a:rPr lang="ru-RU" dirty="0"/>
              <a:t>В классе может быть объявлен </a:t>
            </a:r>
            <a:r>
              <a:rPr lang="en-US" dirty="0"/>
              <a:t>using, </a:t>
            </a:r>
            <a:r>
              <a:rPr lang="ru-RU" dirty="0"/>
              <a:t>а может быть статическое поле</a:t>
            </a:r>
          </a:p>
          <a:p>
            <a:r>
              <a:rPr lang="ru-RU" dirty="0"/>
              <a:t>При первой стадии компиляции нужно компилятору сказать, как </a:t>
            </a:r>
            <a:r>
              <a:rPr lang="ru-RU" dirty="0" err="1"/>
              <a:t>парсить</a:t>
            </a:r>
            <a:endParaRPr lang="ru-RU" dirty="0"/>
          </a:p>
          <a:p>
            <a:r>
              <a:rPr lang="ru-RU" dirty="0"/>
              <a:t>По умолчанию считается полем</a:t>
            </a:r>
          </a:p>
          <a:p>
            <a:r>
              <a:rPr lang="ru-RU" dirty="0"/>
              <a:t>Можно явно сказать, что это название типа</a:t>
            </a:r>
            <a:r>
              <a:rPr lang="en-US" dirty="0"/>
              <a:t>: </a:t>
            </a:r>
            <a:r>
              <a:rPr lang="en-US" dirty="0" err="1">
                <a:solidFill>
                  <a:srgbClr val="00B050"/>
                </a:solidFill>
              </a:rPr>
              <a:t>typename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38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3FF7-4064-4A31-985F-171A66BD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Dependent names (using)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4BA50-A980-4FC4-B658-BEF7343B3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template &lt;</a:t>
            </a:r>
            <a:r>
              <a:rPr lang="en-US" dirty="0" err="1"/>
              <a:t>typename</a:t>
            </a:r>
            <a:r>
              <a:rPr lang="en-US" dirty="0"/>
              <a:t> T&gt;</a:t>
            </a:r>
          </a:p>
          <a:p>
            <a:pPr marL="0" indent="0">
              <a:buNone/>
            </a:pPr>
            <a:r>
              <a:rPr lang="en-US" dirty="0"/>
              <a:t>void f()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S&lt;T&gt;::A</a:t>
            </a:r>
            <a:r>
              <a:rPr lang="en-US" dirty="0"/>
              <a:t>* x; // </a:t>
            </a:r>
            <a:r>
              <a:rPr lang="ru-RU" dirty="0"/>
              <a:t>это статическое поле с умножением или такой тип объявлен в классе?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// </a:t>
            </a:r>
            <a:r>
              <a:rPr lang="ru-RU" dirty="0"/>
              <a:t>Считаю по умолчанию, что это поле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template &lt;</a:t>
            </a:r>
            <a:r>
              <a:rPr lang="en-US" dirty="0" err="1"/>
              <a:t>typename</a:t>
            </a:r>
            <a:r>
              <a:rPr lang="en-US" dirty="0"/>
              <a:t> T&gt;</a:t>
            </a:r>
          </a:p>
          <a:p>
            <a:r>
              <a:rPr lang="en-US" dirty="0"/>
              <a:t>void f() {</a:t>
            </a:r>
          </a:p>
          <a:p>
            <a:r>
              <a:rPr lang="en-US" dirty="0"/>
              <a:t>    </a:t>
            </a:r>
            <a:r>
              <a:rPr lang="en-US" dirty="0" err="1">
                <a:solidFill>
                  <a:srgbClr val="00B050"/>
                </a:solidFill>
              </a:rPr>
              <a:t>typename</a:t>
            </a:r>
            <a:r>
              <a:rPr lang="en-US" dirty="0">
                <a:solidFill>
                  <a:srgbClr val="00B050"/>
                </a:solidFill>
              </a:rPr>
              <a:t> S&lt;T&gt;::A</a:t>
            </a:r>
            <a:r>
              <a:rPr lang="en-US" dirty="0"/>
              <a:t>* x; // </a:t>
            </a:r>
            <a:r>
              <a:rPr lang="ru-RU" dirty="0"/>
              <a:t>это тип</a:t>
            </a:r>
          </a:p>
          <a:p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9804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9B9B-DA7D-45C4-AB41-86FC368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797"/>
            <a:ext cx="10515600" cy="1325563"/>
          </a:xfrm>
        </p:spPr>
        <p:txBody>
          <a:bodyPr/>
          <a:lstStyle/>
          <a:p>
            <a:r>
              <a:rPr lang="en-US" dirty="0"/>
              <a:t>Dependent names (template method)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9AD98-EFDF-40A5-AB24-EA6426A3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13"/>
            <a:ext cx="10515600" cy="246897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 классе может быть</a:t>
            </a:r>
            <a:r>
              <a:rPr lang="en-US" dirty="0"/>
              <a:t> </a:t>
            </a:r>
            <a:r>
              <a:rPr lang="ru-RU" dirty="0"/>
              <a:t>объявлена шаблонная функция</a:t>
            </a:r>
            <a:r>
              <a:rPr lang="en-US" dirty="0"/>
              <a:t>, </a:t>
            </a:r>
            <a:r>
              <a:rPr lang="ru-RU" dirty="0"/>
              <a:t>а может быть статическое поле</a:t>
            </a:r>
          </a:p>
          <a:p>
            <a:r>
              <a:rPr lang="ru-RU" dirty="0"/>
              <a:t>При первой стадии компиляции нужно компилятору сказать, как </a:t>
            </a:r>
            <a:r>
              <a:rPr lang="ru-RU" dirty="0" err="1"/>
              <a:t>парсить</a:t>
            </a:r>
            <a:endParaRPr lang="ru-RU" dirty="0"/>
          </a:p>
          <a:p>
            <a:r>
              <a:rPr lang="ru-RU" dirty="0"/>
              <a:t>По умолчанию считается полем</a:t>
            </a:r>
          </a:p>
          <a:p>
            <a:r>
              <a:rPr lang="ru-RU" dirty="0"/>
              <a:t>Можно явно сказать, что это шаблон функции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template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972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2BFD3-623D-412C-81F8-D17F9A64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Dependent names (template method)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BA305-1001-4093-97CE-7DFAF561A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275031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template &lt;</a:t>
            </a:r>
            <a:r>
              <a:rPr lang="en-US" dirty="0" err="1"/>
              <a:t>typename</a:t>
            </a:r>
            <a:r>
              <a:rPr lang="en-US" dirty="0"/>
              <a:t> T&gt;</a:t>
            </a:r>
          </a:p>
          <a:p>
            <a:pPr marL="0" indent="0">
              <a:buNone/>
            </a:pPr>
            <a:r>
              <a:rPr lang="en-US" dirty="0"/>
              <a:t>void f() {</a:t>
            </a:r>
          </a:p>
          <a:p>
            <a:pPr marL="0" indent="0">
              <a:buNone/>
            </a:pPr>
            <a:r>
              <a:rPr lang="en-US" dirty="0"/>
              <a:t>    S&lt;T&gt; s;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>
                <a:solidFill>
                  <a:srgbClr val="FF0000"/>
                </a:solidFill>
              </a:rPr>
              <a:t>S.foo</a:t>
            </a:r>
            <a:r>
              <a:rPr lang="en-US" dirty="0">
                <a:solidFill>
                  <a:srgbClr val="FF0000"/>
                </a:solidFill>
              </a:rPr>
              <a:t>&lt;5&gt;(x + y)</a:t>
            </a:r>
            <a:r>
              <a:rPr lang="en-US" dirty="0"/>
              <a:t>; // </a:t>
            </a:r>
            <a:r>
              <a:rPr lang="ru-RU" dirty="0"/>
              <a:t>это статическое поле и сравнения или такой шаблон функции объявлен в классе?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// </a:t>
            </a:r>
            <a:r>
              <a:rPr lang="ru-RU" dirty="0"/>
              <a:t>Считаю по умолчанию, что это поле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template &lt;</a:t>
            </a:r>
            <a:r>
              <a:rPr lang="en-US" dirty="0" err="1"/>
              <a:t>typename</a:t>
            </a:r>
            <a:r>
              <a:rPr lang="en-US" dirty="0"/>
              <a:t> T&gt;</a:t>
            </a:r>
          </a:p>
          <a:p>
            <a:pPr marL="0" indent="0">
              <a:buNone/>
            </a:pPr>
            <a:r>
              <a:rPr lang="en-US" dirty="0"/>
              <a:t>void f() {</a:t>
            </a:r>
          </a:p>
          <a:p>
            <a:pPr marL="0" indent="0">
              <a:buNone/>
            </a:pPr>
            <a:r>
              <a:rPr lang="en-US" dirty="0"/>
              <a:t>    S&lt;T&gt; s;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>
                <a:solidFill>
                  <a:srgbClr val="00B050"/>
                </a:solidFill>
              </a:rPr>
              <a:t>S.template</a:t>
            </a:r>
            <a:r>
              <a:rPr lang="en-US" dirty="0">
                <a:solidFill>
                  <a:srgbClr val="00B050"/>
                </a:solidFill>
              </a:rPr>
              <a:t> foo&lt;5&gt;(x + y); </a:t>
            </a:r>
            <a:r>
              <a:rPr lang="en-US" dirty="0"/>
              <a:t>// </a:t>
            </a:r>
            <a:r>
              <a:rPr lang="ru-RU" dirty="0"/>
              <a:t>это шаблон функции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4580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FECBB-F094-4544-9A0F-A2DCCB43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Dependent names (template base class)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CEDF6-E955-426C-8D28-F12971B78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01845"/>
          </a:xfrm>
        </p:spPr>
        <p:txBody>
          <a:bodyPr/>
          <a:lstStyle/>
          <a:p>
            <a:r>
              <a:rPr lang="ru-RU" dirty="0"/>
              <a:t>При обращении к полям шаблонного родителя из наследника компилятор не находит поля (потому что иначе пришлось бы проверять всех шаблонных родителей)</a:t>
            </a:r>
          </a:p>
          <a:p>
            <a:r>
              <a:rPr lang="ru-RU" dirty="0"/>
              <a:t>Нужно явно указать, что это поле через </a:t>
            </a:r>
            <a:r>
              <a:rPr lang="en-US" dirty="0">
                <a:solidFill>
                  <a:srgbClr val="00B050"/>
                </a:solidFill>
              </a:rPr>
              <a:t>this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>
                <a:solidFill>
                  <a:srgbClr val="00B050"/>
                </a:solidFill>
              </a:rPr>
              <a:t>Base&lt;T&gt;::</a:t>
            </a:r>
            <a:r>
              <a:rPr lang="en-US" dirty="0" err="1">
                <a:solidFill>
                  <a:srgbClr val="00B050"/>
                </a:solidFill>
              </a:rPr>
              <a:t>field_name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97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5FBC-9274-40B1-875C-9347084E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Dependent names (template base class)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5CFFE-FFFC-4652-A79C-2358D10D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6377" y="1690688"/>
            <a:ext cx="3719246" cy="50021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template &lt;</a:t>
            </a:r>
            <a:r>
              <a:rPr lang="en-US" dirty="0" err="1"/>
              <a:t>typename</a:t>
            </a:r>
            <a:r>
              <a:rPr lang="en-US" dirty="0"/>
              <a:t> T&gt;</a:t>
            </a:r>
          </a:p>
          <a:p>
            <a:pPr marL="0" indent="0">
              <a:buNone/>
            </a:pPr>
            <a:r>
              <a:rPr lang="en-US" dirty="0"/>
              <a:t>struct Base {</a:t>
            </a:r>
          </a:p>
          <a:p>
            <a:pPr marL="0" indent="0">
              <a:buNone/>
            </a:pPr>
            <a:r>
              <a:rPr lang="en-US" dirty="0"/>
              <a:t>    int x;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template &lt;</a:t>
            </a:r>
            <a:r>
              <a:rPr lang="en-US" dirty="0" err="1"/>
              <a:t>typename</a:t>
            </a:r>
            <a:r>
              <a:rPr lang="en-US" dirty="0"/>
              <a:t> T&gt;</a:t>
            </a:r>
          </a:p>
          <a:p>
            <a:pPr marL="0" indent="0">
              <a:buNone/>
            </a:pPr>
            <a:r>
              <a:rPr lang="en-US" dirty="0"/>
              <a:t>struct Derived : Base&lt;T&gt; {</a:t>
            </a:r>
          </a:p>
          <a:p>
            <a:pPr marL="0" indent="0">
              <a:buNone/>
            </a:pPr>
            <a:r>
              <a:rPr lang="en-US" dirty="0"/>
              <a:t>    int f()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solidFill>
                  <a:srgbClr val="FF0000"/>
                </a:solidFill>
              </a:rPr>
              <a:t>return x; // CE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  return Base&lt;T&gt;::x;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  return this-&gt;x;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1429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80BCA-315F-474F-A0C4-A9032235C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224"/>
            <a:ext cx="10515600" cy="1325563"/>
          </a:xfrm>
        </p:spPr>
        <p:txBody>
          <a:bodyPr/>
          <a:lstStyle/>
          <a:p>
            <a:r>
              <a:rPr lang="en-US" dirty="0"/>
              <a:t>Type traits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82EE9-7F74-4490-ADE7-570DC82F8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325563"/>
          </a:xfrm>
        </p:spPr>
        <p:txBody>
          <a:bodyPr>
            <a:normAutofit fontScale="92500" lnSpcReduction="10000"/>
          </a:bodyPr>
          <a:lstStyle/>
          <a:p>
            <a:r>
              <a:rPr lang="ru-RU" dirty="0" err="1"/>
              <a:t>Метафункции</a:t>
            </a:r>
            <a:r>
              <a:rPr lang="ru-RU" dirty="0"/>
              <a:t> – работаем с типами вместо объектов</a:t>
            </a:r>
            <a:endParaRPr lang="en-US" dirty="0"/>
          </a:p>
          <a:p>
            <a:r>
              <a:rPr lang="ru-RU" dirty="0"/>
              <a:t>Описаны в </a:t>
            </a:r>
            <a:r>
              <a:rPr lang="en-US" dirty="0" err="1"/>
              <a:t>type_traits</a:t>
            </a:r>
            <a:endParaRPr lang="ru-RU" dirty="0"/>
          </a:p>
          <a:p>
            <a:r>
              <a:rPr lang="ru-RU" dirty="0"/>
              <a:t>Базовый пример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3B1E7-EC33-4183-BA46-C7CEA96026CD}"/>
              </a:ext>
            </a:extLst>
          </p:cNvPr>
          <p:cNvSpPr txBox="1"/>
          <p:nvPr/>
        </p:nvSpPr>
        <p:spPr>
          <a:xfrm>
            <a:off x="3657600" y="3016250"/>
            <a:ext cx="498296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template &lt;</a:t>
            </a:r>
            <a:r>
              <a:rPr lang="en-US" sz="2000" dirty="0" err="1"/>
              <a:t>typename</a:t>
            </a:r>
            <a:r>
              <a:rPr lang="en-US" sz="2000" dirty="0"/>
              <a:t> T, </a:t>
            </a:r>
            <a:r>
              <a:rPr lang="en-US" sz="2000" dirty="0" err="1"/>
              <a:t>typename</a:t>
            </a:r>
            <a:r>
              <a:rPr lang="en-US" sz="2000" dirty="0"/>
              <a:t> U&gt;</a:t>
            </a:r>
          </a:p>
          <a:p>
            <a:r>
              <a:rPr lang="en-US" sz="2000" dirty="0"/>
              <a:t>struct </a:t>
            </a:r>
            <a:r>
              <a:rPr lang="en-US" sz="2000" dirty="0" err="1"/>
              <a:t>is_same</a:t>
            </a:r>
            <a:r>
              <a:rPr lang="en-US" sz="2000" dirty="0"/>
              <a:t> {</a:t>
            </a:r>
          </a:p>
          <a:p>
            <a:r>
              <a:rPr lang="en-US" sz="2000" dirty="0"/>
              <a:t>    static </a:t>
            </a:r>
            <a:r>
              <a:rPr lang="en-US" sz="2000" dirty="0" err="1"/>
              <a:t>constexpr</a:t>
            </a:r>
            <a:r>
              <a:rPr lang="en-US" sz="2000" dirty="0"/>
              <a:t> bool value = false;</a:t>
            </a:r>
          </a:p>
          <a:p>
            <a:r>
              <a:rPr lang="en-US" sz="2000" dirty="0"/>
              <a:t>};</a:t>
            </a:r>
          </a:p>
          <a:p>
            <a:endParaRPr lang="en-US" sz="2000" dirty="0"/>
          </a:p>
          <a:p>
            <a:r>
              <a:rPr lang="en-US" sz="2000" dirty="0"/>
              <a:t>template &lt;</a:t>
            </a:r>
            <a:r>
              <a:rPr lang="en-US" sz="2000" dirty="0" err="1"/>
              <a:t>typename</a:t>
            </a:r>
            <a:r>
              <a:rPr lang="en-US" sz="2000" dirty="0"/>
              <a:t> T&gt;</a:t>
            </a:r>
          </a:p>
          <a:p>
            <a:r>
              <a:rPr lang="en-US" sz="2000" dirty="0"/>
              <a:t>struct </a:t>
            </a:r>
            <a:r>
              <a:rPr lang="en-US" sz="2000" dirty="0" err="1"/>
              <a:t>is_same</a:t>
            </a:r>
            <a:r>
              <a:rPr lang="en-US" sz="2000" dirty="0"/>
              <a:t>&lt;T, T&gt; {</a:t>
            </a:r>
          </a:p>
          <a:p>
            <a:r>
              <a:rPr lang="en-US" sz="2000" dirty="0"/>
              <a:t>    static </a:t>
            </a:r>
            <a:r>
              <a:rPr lang="en-US" sz="2000" dirty="0" err="1"/>
              <a:t>constexpr</a:t>
            </a:r>
            <a:r>
              <a:rPr lang="en-US" sz="2000" dirty="0"/>
              <a:t> bool value = true;</a:t>
            </a:r>
          </a:p>
          <a:p>
            <a:r>
              <a:rPr lang="en-US" sz="2000" dirty="0"/>
              <a:t>};</a:t>
            </a:r>
          </a:p>
          <a:p>
            <a:endParaRPr lang="en-US" sz="2000" dirty="0"/>
          </a:p>
          <a:p>
            <a:r>
              <a:rPr lang="en-US" sz="2000" dirty="0"/>
              <a:t>template &lt;</a:t>
            </a:r>
            <a:r>
              <a:rPr lang="en-US" sz="2000" dirty="0" err="1"/>
              <a:t>typename</a:t>
            </a:r>
            <a:r>
              <a:rPr lang="en-US" sz="2000" dirty="0"/>
              <a:t> T, </a:t>
            </a:r>
            <a:r>
              <a:rPr lang="en-US" sz="2000" dirty="0" err="1"/>
              <a:t>typename</a:t>
            </a:r>
            <a:r>
              <a:rPr lang="en-US" sz="2000" dirty="0"/>
              <a:t> U&gt;</a:t>
            </a:r>
          </a:p>
          <a:p>
            <a:r>
              <a:rPr lang="en-US" sz="2000" dirty="0"/>
              <a:t>bool </a:t>
            </a:r>
            <a:r>
              <a:rPr lang="en-US" sz="2000" dirty="0" err="1"/>
              <a:t>is_same_v</a:t>
            </a:r>
            <a:r>
              <a:rPr lang="en-US" sz="2000" dirty="0"/>
              <a:t> = </a:t>
            </a:r>
            <a:r>
              <a:rPr lang="en-US" sz="2000" dirty="0" err="1"/>
              <a:t>is_same</a:t>
            </a:r>
            <a:r>
              <a:rPr lang="en-US" sz="2000" dirty="0"/>
              <a:t>&lt;T, U&gt;::value;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28981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5640-D684-4049-AC65-2056E492D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traits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9A02F-F960-4A3F-B827-4DC72C53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Вместо </a:t>
            </a:r>
            <a:r>
              <a:rPr lang="en-US" dirty="0" err="1"/>
              <a:t>constexpr</a:t>
            </a:r>
            <a:r>
              <a:rPr lang="en-US" dirty="0"/>
              <a:t> bool value = false / true </a:t>
            </a:r>
            <a:r>
              <a:rPr lang="ru-RU" dirty="0"/>
              <a:t>можно наследоваться от </a:t>
            </a:r>
            <a:r>
              <a:rPr lang="en-US" dirty="0"/>
              <a:t>std::</a:t>
            </a:r>
            <a:r>
              <a:rPr lang="en-US" dirty="0" err="1"/>
              <a:t>false_type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/>
              <a:t>std::</a:t>
            </a:r>
            <a:r>
              <a:rPr lang="en-US" dirty="0" err="1"/>
              <a:t>true_type</a:t>
            </a:r>
            <a:endParaRPr lang="en-US" dirty="0"/>
          </a:p>
          <a:p>
            <a:r>
              <a:rPr lang="ru-RU" dirty="0"/>
              <a:t>Можно использовать шаблонные переменные </a:t>
            </a:r>
            <a:r>
              <a:rPr lang="en-US" dirty="0"/>
              <a:t>/ using </a:t>
            </a:r>
            <a:r>
              <a:rPr lang="ru-RU" dirty="0"/>
              <a:t>с помощью </a:t>
            </a:r>
            <a:r>
              <a:rPr lang="en-US" dirty="0"/>
              <a:t>*_v, *_t</a:t>
            </a:r>
          </a:p>
          <a:p>
            <a:r>
              <a:rPr lang="en-US" dirty="0"/>
              <a:t>std::conditional&lt;bool, type1, type2&gt; - </a:t>
            </a:r>
            <a:r>
              <a:rPr lang="ru-RU" dirty="0"/>
              <a:t>мета тернарный оператор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u-RU" dirty="0"/>
              <a:t>Если условие </a:t>
            </a:r>
            <a:r>
              <a:rPr lang="en-US" dirty="0"/>
              <a:t>true, </a:t>
            </a:r>
            <a:r>
              <a:rPr lang="en-US" dirty="0" err="1"/>
              <a:t>conditional_t</a:t>
            </a:r>
            <a:r>
              <a:rPr lang="en-US" dirty="0"/>
              <a:t> </a:t>
            </a:r>
            <a:r>
              <a:rPr lang="ru-RU" dirty="0"/>
              <a:t>равен </a:t>
            </a:r>
            <a:r>
              <a:rPr lang="en-US" dirty="0"/>
              <a:t>type1, </a:t>
            </a:r>
            <a:r>
              <a:rPr lang="ru-RU" dirty="0"/>
              <a:t>иначе </a:t>
            </a:r>
            <a:r>
              <a:rPr lang="en-US" dirty="0"/>
              <a:t>type2</a:t>
            </a:r>
          </a:p>
          <a:p>
            <a:r>
              <a:rPr lang="ru-RU" dirty="0"/>
              <a:t>Некоторые (простые) </a:t>
            </a:r>
            <a:r>
              <a:rPr lang="en-US" dirty="0">
                <a:hlinkClick r:id="rId2"/>
              </a:rPr>
              <a:t>type traits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is_same</a:t>
            </a:r>
            <a:r>
              <a:rPr lang="en-US" dirty="0"/>
              <a:t>, </a:t>
            </a:r>
            <a:r>
              <a:rPr lang="en-US" dirty="0" err="1"/>
              <a:t>remove_const</a:t>
            </a:r>
            <a:r>
              <a:rPr lang="en-US" dirty="0"/>
              <a:t>, </a:t>
            </a:r>
            <a:r>
              <a:rPr lang="en-US" dirty="0" err="1"/>
              <a:t>remove_reference</a:t>
            </a:r>
            <a:r>
              <a:rPr lang="en-US" dirty="0"/>
              <a:t>, conditional, decay, </a:t>
            </a:r>
            <a:r>
              <a:rPr lang="en-US" dirty="0" err="1"/>
              <a:t>is_member_pointer</a:t>
            </a:r>
            <a:r>
              <a:rPr lang="en-US" dirty="0"/>
              <a:t>, rank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0450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8D4D-457B-4963-BAFD-4190D775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Variadic templates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9E418-C65E-4F8B-8AB3-AB67E611F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497"/>
            <a:ext cx="10515600" cy="2171022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Шаблоны с переменным числом аргументов</a:t>
            </a:r>
          </a:p>
          <a:p>
            <a:r>
              <a:rPr lang="ru-RU" dirty="0"/>
              <a:t>Частый паттерн</a:t>
            </a:r>
            <a:r>
              <a:rPr lang="en-US" dirty="0"/>
              <a:t>: </a:t>
            </a:r>
            <a:r>
              <a:rPr lang="ru-RU" dirty="0"/>
              <a:t>разделяем шаблонные параметры на голову и остальные параметры, внутри вызываем от хвоста</a:t>
            </a:r>
          </a:p>
          <a:p>
            <a:r>
              <a:rPr lang="ru-RU" dirty="0"/>
              <a:t>Определяем базу</a:t>
            </a:r>
          </a:p>
          <a:p>
            <a:r>
              <a:rPr lang="ru-RU" dirty="0"/>
              <a:t>Оператор </a:t>
            </a:r>
            <a:r>
              <a:rPr lang="en-US" dirty="0" err="1"/>
              <a:t>sizeof</a:t>
            </a:r>
            <a:r>
              <a:rPr lang="en-US" dirty="0"/>
              <a:t>… - </a:t>
            </a:r>
            <a:r>
              <a:rPr lang="ru-RU" dirty="0"/>
              <a:t>возвращает количество объектов в пакете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61288-C9E7-4D5F-85A8-87FB796207E3}"/>
              </a:ext>
            </a:extLst>
          </p:cNvPr>
          <p:cNvSpPr txBox="1"/>
          <p:nvPr/>
        </p:nvSpPr>
        <p:spPr>
          <a:xfrm>
            <a:off x="1623916" y="4131584"/>
            <a:ext cx="89441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template &lt;</a:t>
            </a:r>
            <a:r>
              <a:rPr lang="en-US" sz="2800" dirty="0" err="1"/>
              <a:t>typename</a:t>
            </a:r>
            <a:r>
              <a:rPr lang="en-US" sz="2800" dirty="0"/>
              <a:t> Head, </a:t>
            </a:r>
            <a:r>
              <a:rPr lang="en-US" sz="2800" dirty="0" err="1"/>
              <a:t>typename</a:t>
            </a:r>
            <a:r>
              <a:rPr lang="en-US" sz="2800" dirty="0"/>
              <a:t>… Tail&gt;</a:t>
            </a:r>
          </a:p>
          <a:p>
            <a:r>
              <a:rPr lang="en-US" sz="2800" dirty="0"/>
              <a:t>void print(const Head&amp; head, const Tail&amp;… tail) {</a:t>
            </a:r>
          </a:p>
          <a:p>
            <a:r>
              <a:rPr lang="en-US" sz="2800" dirty="0"/>
              <a:t>    std::</a:t>
            </a:r>
            <a:r>
              <a:rPr lang="en-US" sz="2800" dirty="0" err="1"/>
              <a:t>cout</a:t>
            </a:r>
            <a:r>
              <a:rPr lang="en-US" sz="2800" dirty="0"/>
              <a:t> &lt;&lt; head;</a:t>
            </a:r>
          </a:p>
          <a:p>
            <a:r>
              <a:rPr lang="en-US" sz="2800" dirty="0"/>
              <a:t>    print(tail…);</a:t>
            </a:r>
          </a:p>
          <a:p>
            <a:r>
              <a:rPr lang="en-US" sz="2800" dirty="0"/>
              <a:t>}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25553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18A0-8E84-4FED-BB09-8FD98A1B0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 expressions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86208-CD5E-47B0-8B7E-0B389A8AA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39508"/>
          </a:xfrm>
        </p:spPr>
        <p:txBody>
          <a:bodyPr/>
          <a:lstStyle/>
          <a:p>
            <a:r>
              <a:rPr lang="ru-RU" dirty="0">
                <a:hlinkClick r:id="rId2"/>
              </a:rPr>
              <a:t>Свертка</a:t>
            </a:r>
            <a:r>
              <a:rPr lang="ru-RU" dirty="0"/>
              <a:t> пакета</a:t>
            </a:r>
          </a:p>
          <a:p>
            <a:r>
              <a:rPr lang="ru-RU" dirty="0"/>
              <a:t>Обязательно в скобках (иначе не </a:t>
            </a:r>
            <a:r>
              <a:rPr lang="ru-RU" dirty="0" err="1"/>
              <a:t>парсится</a:t>
            </a:r>
            <a:r>
              <a:rPr lang="ru-RU" dirty="0"/>
              <a:t>)</a:t>
            </a:r>
          </a:p>
          <a:p>
            <a:r>
              <a:rPr lang="ru-RU" dirty="0"/>
              <a:t>Пример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C2305D-7218-4DD9-A7D5-BA171CA16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485" y="3565133"/>
            <a:ext cx="2828645" cy="2889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A58C35-4C38-4DB1-9C44-87C0E7643C9B}"/>
              </a:ext>
            </a:extLst>
          </p:cNvPr>
          <p:cNvSpPr txBox="1"/>
          <p:nvPr/>
        </p:nvSpPr>
        <p:spPr>
          <a:xfrm>
            <a:off x="4592547" y="4009683"/>
            <a:ext cx="74898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template &lt;</a:t>
            </a:r>
            <a:r>
              <a:rPr lang="en-US" sz="2000" dirty="0" err="1"/>
              <a:t>typename</a:t>
            </a:r>
            <a:r>
              <a:rPr lang="en-US" sz="2000" dirty="0"/>
              <a:t> Head, </a:t>
            </a:r>
            <a:r>
              <a:rPr lang="en-US" sz="2000" dirty="0" err="1"/>
              <a:t>typename</a:t>
            </a:r>
            <a:r>
              <a:rPr lang="en-US" sz="2000" dirty="0"/>
              <a:t>... Tail&gt;</a:t>
            </a:r>
          </a:p>
          <a:p>
            <a:r>
              <a:rPr lang="en-US" sz="2000" dirty="0"/>
              <a:t>struct </a:t>
            </a:r>
            <a:r>
              <a:rPr lang="en-US" sz="2000" dirty="0" err="1"/>
              <a:t>is_homogeneous</a:t>
            </a:r>
            <a:r>
              <a:rPr lang="en-US" sz="2000" dirty="0"/>
              <a:t> {</a:t>
            </a:r>
          </a:p>
          <a:p>
            <a:r>
              <a:rPr lang="en-US" sz="2000" dirty="0"/>
              <a:t>    static </a:t>
            </a:r>
            <a:r>
              <a:rPr lang="en-US" sz="2000" dirty="0" err="1"/>
              <a:t>constexpr</a:t>
            </a:r>
            <a:r>
              <a:rPr lang="en-US" sz="2000" dirty="0"/>
              <a:t> bool value = (std::</a:t>
            </a:r>
            <a:r>
              <a:rPr lang="en-US" sz="2000" dirty="0" err="1"/>
              <a:t>is_same_v</a:t>
            </a:r>
            <a:r>
              <a:rPr lang="en-US" sz="2000" dirty="0"/>
              <a:t>&lt;Head, Tail&gt; &amp;&amp; </a:t>
            </a:r>
            <a:r>
              <a:rPr lang="en-US" sz="2000" dirty="0">
                <a:solidFill>
                  <a:srgbClr val="00B050"/>
                </a:solidFill>
              </a:rPr>
              <a:t>...</a:t>
            </a:r>
            <a:r>
              <a:rPr lang="en-US" sz="2000" dirty="0"/>
              <a:t>);</a:t>
            </a:r>
          </a:p>
          <a:p>
            <a:r>
              <a:rPr lang="en-US" sz="2000" dirty="0"/>
              <a:t>};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377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F15A-EA60-404D-BCB5-1D7B2F13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CRTP (curiously recurring template pattern)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76E99-A2F5-4425-B779-6EA1FD03E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001017"/>
          </a:xfrm>
        </p:spPr>
        <p:txBody>
          <a:bodyPr>
            <a:normAutofit/>
          </a:bodyPr>
          <a:lstStyle/>
          <a:p>
            <a:r>
              <a:rPr lang="ru-RU" dirty="0"/>
              <a:t>Хотим задать интерфейс</a:t>
            </a:r>
          </a:p>
          <a:p>
            <a:r>
              <a:rPr lang="ru-RU" dirty="0"/>
              <a:t>Наследник наследуется от родителя с шаблонным параметром равным самому себе</a:t>
            </a:r>
          </a:p>
          <a:p>
            <a:r>
              <a:rPr lang="ru-RU" dirty="0"/>
              <a:t>Для того, чтобы достать указатель на </a:t>
            </a:r>
            <a:r>
              <a:rPr lang="en-US" dirty="0"/>
              <a:t>implementation, </a:t>
            </a:r>
            <a:r>
              <a:rPr lang="ru-RU" dirty="0"/>
              <a:t>можно </a:t>
            </a:r>
            <a:r>
              <a:rPr lang="ru-RU" dirty="0" err="1"/>
              <a:t>скастить</a:t>
            </a:r>
            <a:r>
              <a:rPr lang="ru-RU" dirty="0"/>
              <a:t> себя (</a:t>
            </a:r>
            <a:r>
              <a:rPr lang="en-US" dirty="0"/>
              <a:t>this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вниз к шаблонному параметру (так как он является наследником)</a:t>
            </a:r>
            <a:endParaRPr lang="en-US" dirty="0"/>
          </a:p>
          <a:p>
            <a:r>
              <a:rPr lang="ru-RU" dirty="0"/>
              <a:t>В классе родителя задаём интерфейс</a:t>
            </a:r>
            <a:r>
              <a:rPr lang="en-US" dirty="0"/>
              <a:t>, </a:t>
            </a:r>
            <a:r>
              <a:rPr lang="ru-RU" dirty="0"/>
              <a:t>методы вызываются от </a:t>
            </a:r>
            <a:r>
              <a:rPr lang="en-US" dirty="0"/>
              <a:t>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1388155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E798-1E56-488A-9626-89C0A1E0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CRTP (example)</a:t>
            </a:r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CABBFA-8859-411A-8C99-E02D8DAD1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265" y="1814993"/>
            <a:ext cx="623245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template &lt;</a:t>
            </a:r>
            <a:r>
              <a:rPr lang="en-US" sz="2000" dirty="0" err="1"/>
              <a:t>typename</a:t>
            </a:r>
            <a:r>
              <a:rPr lang="en-US" sz="2000" dirty="0"/>
              <a:t> Implementation&gt;                                                                                                                          struct </a:t>
            </a:r>
            <a:r>
              <a:rPr lang="en-US" sz="2000" dirty="0" err="1"/>
              <a:t>ParserInterface</a:t>
            </a:r>
            <a:r>
              <a:rPr lang="en-US" sz="2000" dirty="0"/>
              <a:t> {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sz="2000" dirty="0"/>
              <a:t>int </a:t>
            </a:r>
            <a:r>
              <a:rPr lang="en-US" sz="2000" dirty="0" err="1"/>
              <a:t>getData</a:t>
            </a:r>
            <a:r>
              <a:rPr lang="en-US" sz="2000" dirty="0"/>
              <a:t>() {                                                                                                                                                      	return </a:t>
            </a:r>
            <a:r>
              <a:rPr lang="en-US" sz="2000" dirty="0" err="1"/>
              <a:t>impl</a:t>
            </a:r>
            <a:r>
              <a:rPr lang="en-US" sz="2000" dirty="0"/>
              <a:t>()-&gt;</a:t>
            </a:r>
            <a:r>
              <a:rPr lang="en-US" sz="2000" dirty="0" err="1"/>
              <a:t>getDataImpl</a:t>
            </a:r>
            <a:r>
              <a:rPr lang="en-US" sz="2000" dirty="0"/>
              <a:t>();                                                                                                                           }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int </a:t>
            </a:r>
            <a:r>
              <a:rPr lang="en-US" sz="2000" dirty="0" err="1"/>
              <a:t>getID</a:t>
            </a:r>
            <a:r>
              <a:rPr lang="en-US" sz="2000" dirty="0"/>
              <a:t>() {                                                                                                                                                   	return </a:t>
            </a:r>
            <a:r>
              <a:rPr lang="en-US" sz="2000" dirty="0" err="1"/>
              <a:t>impl</a:t>
            </a:r>
            <a:r>
              <a:rPr lang="en-US" sz="2000" dirty="0"/>
              <a:t>()-&gt;</a:t>
            </a:r>
            <a:r>
              <a:rPr lang="en-US" sz="2000" dirty="0" err="1"/>
              <a:t>getIDImpl</a:t>
            </a:r>
            <a:r>
              <a:rPr lang="en-US" sz="2000" dirty="0"/>
              <a:t>();                                                                                                                             }</a:t>
            </a:r>
          </a:p>
          <a:p>
            <a:pPr marL="0" indent="0">
              <a:buNone/>
            </a:pPr>
            <a:r>
              <a:rPr lang="en-US" sz="2000" dirty="0"/>
              <a:t>Implementation* </a:t>
            </a:r>
            <a:r>
              <a:rPr lang="en-US" sz="2000" dirty="0" err="1"/>
              <a:t>impl</a:t>
            </a:r>
            <a:r>
              <a:rPr lang="en-US" sz="2000" dirty="0"/>
              <a:t>() {                                                                                                                                        	return </a:t>
            </a:r>
            <a:r>
              <a:rPr lang="en-US" sz="2000" dirty="0" err="1"/>
              <a:t>static_cast</a:t>
            </a:r>
            <a:r>
              <a:rPr lang="en-US" sz="2000" dirty="0"/>
              <a:t>&lt;Implementation*&gt;(this);                                                                                                              }                                                                                                                                                       }; </a:t>
            </a:r>
            <a:endParaRPr lang="ru-RU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D1637C-AB47-4C22-A866-D068CBDFD1A2}"/>
              </a:ext>
            </a:extLst>
          </p:cNvPr>
          <p:cNvSpPr txBox="1"/>
          <p:nvPr/>
        </p:nvSpPr>
        <p:spPr>
          <a:xfrm>
            <a:off x="6443330" y="1690689"/>
            <a:ext cx="534640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struct </a:t>
            </a:r>
            <a:r>
              <a:rPr lang="en-US" sz="2000" dirty="0" err="1"/>
              <a:t>ParserJsonImpl</a:t>
            </a:r>
            <a:r>
              <a:rPr lang="en-US" sz="2000" dirty="0"/>
              <a:t> : public </a:t>
            </a:r>
            <a:r>
              <a:rPr lang="en-US" sz="2000" dirty="0" err="1"/>
              <a:t>ParserInterface</a:t>
            </a:r>
            <a:r>
              <a:rPr lang="en-US" sz="2000" dirty="0"/>
              <a:t>&lt;</a:t>
            </a:r>
            <a:r>
              <a:rPr lang="en-US" sz="2000" dirty="0" err="1"/>
              <a:t>ParserJsonImpl</a:t>
            </a:r>
            <a:r>
              <a:rPr lang="en-US" sz="2000" dirty="0"/>
              <a:t>&gt; {</a:t>
            </a:r>
            <a:endParaRPr lang="ru-RU" sz="2000" dirty="0"/>
          </a:p>
          <a:p>
            <a:endParaRPr lang="ru-RU" sz="2000" dirty="0"/>
          </a:p>
          <a:p>
            <a:r>
              <a:rPr lang="en-US" sz="2000" dirty="0"/>
              <a:t>int </a:t>
            </a:r>
            <a:r>
              <a:rPr lang="en-US" sz="2000" dirty="0" err="1"/>
              <a:t>getDataImpl</a:t>
            </a:r>
            <a:r>
              <a:rPr lang="en-US" sz="2000" dirty="0"/>
              <a:t>() {</a:t>
            </a:r>
            <a:endParaRPr lang="ru-RU" sz="2000" dirty="0"/>
          </a:p>
          <a:p>
            <a:r>
              <a:rPr lang="ru-RU" sz="2000" dirty="0"/>
              <a:t>	…</a:t>
            </a:r>
          </a:p>
          <a:p>
            <a:r>
              <a:rPr lang="en-US" sz="2000" dirty="0"/>
              <a:t>}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int </a:t>
            </a:r>
            <a:r>
              <a:rPr lang="en-US" sz="2000" dirty="0" err="1"/>
              <a:t>getIDImpl</a:t>
            </a:r>
            <a:r>
              <a:rPr lang="en-US" sz="2000" dirty="0"/>
              <a:t>() {</a:t>
            </a:r>
            <a:endParaRPr lang="ru-RU" sz="2000" dirty="0"/>
          </a:p>
          <a:p>
            <a:r>
              <a:rPr lang="ru-RU" sz="2000" dirty="0"/>
              <a:t>	…</a:t>
            </a:r>
          </a:p>
          <a:p>
            <a:r>
              <a:rPr lang="en-US" sz="2000" dirty="0"/>
              <a:t>}                                                                                                                                                       };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53756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793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Семинар по C++ №15</vt:lpstr>
      <vt:lpstr>Dependent names (зависимые имена)</vt:lpstr>
      <vt:lpstr>Dependent names (using)</vt:lpstr>
      <vt:lpstr>Dependent names (template method)</vt:lpstr>
      <vt:lpstr>Dependent names (template method)</vt:lpstr>
      <vt:lpstr>Dependent names (template base class)</vt:lpstr>
      <vt:lpstr>Dependent names (template base class)</vt:lpstr>
      <vt:lpstr>Type traits</vt:lpstr>
      <vt:lpstr>Type traits</vt:lpstr>
      <vt:lpstr>Variadic templates</vt:lpstr>
      <vt:lpstr>Fold expressions</vt:lpstr>
      <vt:lpstr>CRTP (curiously recurring template pattern)</vt:lpstr>
      <vt:lpstr>CRTP (example)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по C++ №14</dc:title>
  <dc:creator>Konstantin Dragun</dc:creator>
  <cp:lastModifiedBy>Konstantin Dragun</cp:lastModifiedBy>
  <cp:revision>34</cp:revision>
  <dcterms:created xsi:type="dcterms:W3CDTF">2024-12-04T19:13:21Z</dcterms:created>
  <dcterms:modified xsi:type="dcterms:W3CDTF">2024-12-12T13:29:02Z</dcterms:modified>
</cp:coreProperties>
</file>