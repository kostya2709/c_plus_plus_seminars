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sng">
                <a:solidFill>
                  <a:srgbClr val="0563C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sng">
                <a:solidFill>
                  <a:srgbClr val="0563C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219" y="363046"/>
            <a:ext cx="9943465" cy="1269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822455"/>
            <a:ext cx="9603105" cy="169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sng">
                <a:solidFill>
                  <a:srgbClr val="0563C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im.fandom.com/wiki/Search_and_replac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cmint.com/view-colored-man-pages-in-linux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61824177/visual-block-mode-not-working-in-vim-with-c-v-on-wslwindows-10" TargetMode="External"/><Relationship Id="rId2" Type="http://schemas.openxmlformats.org/officeDocument/2006/relationships/hyperlink" Target="https://r-notes.ru/49-knigi/spravochnik-po-vim/173-vizualnyj-rezhim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post/468265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shortcuts/keyboard-shortcuts-%20linux.pdf" TargetMode="External"/><Relationship Id="rId2" Type="http://schemas.openxmlformats.org/officeDocument/2006/relationships/hyperlink" Target="https://quickref.me/vscod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docs/getstarted/keybindin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8909" y="2158577"/>
            <a:ext cx="55346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Семинар</a:t>
            </a:r>
            <a:r>
              <a:rPr sz="4500" spc="-35" dirty="0"/>
              <a:t> </a:t>
            </a:r>
            <a:r>
              <a:rPr sz="4500" dirty="0"/>
              <a:t>по</a:t>
            </a:r>
            <a:r>
              <a:rPr sz="4500" spc="-35" dirty="0"/>
              <a:t> </a:t>
            </a:r>
            <a:r>
              <a:rPr sz="4500" dirty="0"/>
              <a:t>С++</a:t>
            </a:r>
            <a:r>
              <a:rPr sz="4500" spc="-40" dirty="0"/>
              <a:t> </a:t>
            </a:r>
            <a:r>
              <a:rPr sz="4500" spc="130" dirty="0"/>
              <a:t>№</a:t>
            </a:r>
            <a:r>
              <a:rPr lang="en-US" sz="4500" spc="130" dirty="0"/>
              <a:t>2</a:t>
            </a:r>
            <a:endParaRPr sz="4500" dirty="0"/>
          </a:p>
        </p:txBody>
      </p:sp>
      <p:sp>
        <p:nvSpPr>
          <p:cNvPr id="3" name="object 3"/>
          <p:cNvSpPr txBox="1"/>
          <p:nvPr/>
        </p:nvSpPr>
        <p:spPr>
          <a:xfrm>
            <a:off x="3311391" y="3556198"/>
            <a:ext cx="5569585" cy="111376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3350" spc="-25" dirty="0" err="1">
                <a:latin typeface="Microsoft Sans Serif"/>
                <a:cs typeface="Microsoft Sans Serif"/>
              </a:rPr>
              <a:t>Текстовые</a:t>
            </a:r>
            <a:r>
              <a:rPr sz="3350" spc="-150" dirty="0">
                <a:latin typeface="Microsoft Sans Serif"/>
                <a:cs typeface="Microsoft Sans Serif"/>
              </a:rPr>
              <a:t> </a:t>
            </a:r>
            <a:r>
              <a:rPr sz="3350" spc="-10" dirty="0">
                <a:latin typeface="Microsoft Sans Serif"/>
                <a:cs typeface="Microsoft Sans Serif"/>
              </a:rPr>
              <a:t>редакторы</a:t>
            </a:r>
            <a:endParaRPr sz="335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3350" dirty="0">
                <a:latin typeface="Microsoft Sans Serif"/>
                <a:cs typeface="Microsoft Sans Serif"/>
              </a:rPr>
              <a:t>more,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dirty="0">
                <a:latin typeface="Microsoft Sans Serif"/>
                <a:cs typeface="Microsoft Sans Serif"/>
              </a:rPr>
              <a:t>less,</a:t>
            </a:r>
            <a:r>
              <a:rPr sz="3350" spc="20" dirty="0">
                <a:latin typeface="Microsoft Sans Serif"/>
                <a:cs typeface="Microsoft Sans Serif"/>
              </a:rPr>
              <a:t> </a:t>
            </a:r>
            <a:r>
              <a:rPr sz="3350" dirty="0">
                <a:latin typeface="Microsoft Sans Serif"/>
                <a:cs typeface="Microsoft Sans Serif"/>
              </a:rPr>
              <a:t>vim,</a:t>
            </a:r>
            <a:r>
              <a:rPr sz="3350" spc="20" dirty="0">
                <a:latin typeface="Microsoft Sans Serif"/>
                <a:cs typeface="Microsoft Sans Serif"/>
              </a:rPr>
              <a:t> </a:t>
            </a:r>
            <a:r>
              <a:rPr sz="3350" spc="-10" dirty="0">
                <a:latin typeface="Microsoft Sans Serif"/>
                <a:cs typeface="Microsoft Sans Serif"/>
              </a:rPr>
              <a:t>VSCode</a:t>
            </a:r>
            <a:endParaRPr sz="33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Структура</a:t>
            </a:r>
            <a:r>
              <a:rPr spc="-175" dirty="0"/>
              <a:t> </a:t>
            </a:r>
            <a:r>
              <a:rPr dirty="0"/>
              <a:t>страниц</a:t>
            </a:r>
            <a:r>
              <a:rPr spc="-170" dirty="0"/>
              <a:t> </a:t>
            </a:r>
            <a:r>
              <a:rPr spc="-25" dirty="0"/>
              <a:t>man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203690" cy="33559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800" b="1" dirty="0">
                <a:latin typeface="Arial"/>
                <a:cs typeface="Arial"/>
              </a:rPr>
              <a:t>NAME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имя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команды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короткое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описание</a:t>
            </a: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10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SYNOPSIS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формальное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описание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команды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опций/ аргументов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09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800" b="1" dirty="0">
                <a:latin typeface="Arial"/>
                <a:cs typeface="Arial"/>
              </a:rPr>
              <a:t>DESCRIPTION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текстовое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описание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работы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команды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800" b="1" dirty="0">
                <a:latin typeface="Arial"/>
                <a:cs typeface="Arial"/>
              </a:rPr>
              <a:t>EXAMPLES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примеры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использования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Font typeface="Microsoft Sans Serif"/>
              <a:buChar char="•"/>
              <a:tabLst>
                <a:tab pos="241935" algn="l"/>
              </a:tabLst>
            </a:pPr>
            <a:r>
              <a:rPr sz="2800" b="1" dirty="0">
                <a:latin typeface="Arial"/>
                <a:cs typeface="Arial"/>
              </a:rPr>
              <a:t>SEE</a:t>
            </a:r>
            <a:r>
              <a:rPr sz="2800" b="1" spc="-1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ALSO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список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связанных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команд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иногда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некоторые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другие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Номер</a:t>
            </a:r>
            <a:r>
              <a:rPr spc="-70" dirty="0"/>
              <a:t> </a:t>
            </a:r>
            <a:r>
              <a:rPr dirty="0"/>
              <a:t>страницы</a:t>
            </a:r>
            <a:r>
              <a:rPr spc="-70" dirty="0"/>
              <a:t> </a:t>
            </a:r>
            <a:r>
              <a:rPr dirty="0"/>
              <a:t>man</a:t>
            </a:r>
            <a:r>
              <a:rPr spc="-65" dirty="0"/>
              <a:t> </a:t>
            </a:r>
            <a:r>
              <a:rPr dirty="0"/>
              <a:t>это</a:t>
            </a:r>
            <a:r>
              <a:rPr spc="-70" dirty="0"/>
              <a:t> </a:t>
            </a:r>
            <a:r>
              <a:rPr spc="-10" dirty="0"/>
              <a:t>важно!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9672320" cy="378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Попробуйте: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Microsoft Sans Serif"/>
              <a:buChar char="•"/>
            </a:pP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"/>
              </a:spcBef>
              <a:buChar char="•"/>
              <a:tabLst>
                <a:tab pos="241935" algn="l"/>
                <a:tab pos="1327785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man</a:t>
            </a:r>
            <a:r>
              <a:rPr sz="2800" dirty="0">
                <a:latin typeface="Microsoft Sans Serif"/>
                <a:cs typeface="Microsoft Sans Serif"/>
              </a:rPr>
              <a:t>	printf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head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man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printf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head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man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printf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head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35"/>
              </a:spcBef>
              <a:buFont typeface="Microsoft Sans Serif"/>
              <a:buChar char="•"/>
            </a:pP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Можно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узнать,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каких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ещё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страницах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man-</a:t>
            </a:r>
            <a:r>
              <a:rPr sz="2800" dirty="0">
                <a:latin typeface="Microsoft Sans Serif"/>
                <a:cs typeface="Microsoft Sans Serif"/>
              </a:rPr>
              <a:t>а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есть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такая </a:t>
            </a:r>
            <a:r>
              <a:rPr sz="2800" spc="-35" dirty="0">
                <a:latin typeface="Microsoft Sans Serif"/>
                <a:cs typeface="Microsoft Sans Serif"/>
              </a:rPr>
              <a:t>команда/функция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секции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SEE</a:t>
            </a:r>
            <a:r>
              <a:rPr sz="2800" b="1" spc="-17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ALSO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more,</a:t>
            </a:r>
            <a:r>
              <a:rPr spc="-70" dirty="0"/>
              <a:t> </a:t>
            </a:r>
            <a:r>
              <a:rPr dirty="0"/>
              <a:t>less.</a:t>
            </a:r>
            <a:r>
              <a:rPr spc="-65" dirty="0"/>
              <a:t> </a:t>
            </a:r>
            <a:r>
              <a:rPr spc="-10" dirty="0"/>
              <a:t>Навигация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62841"/>
            <a:ext cx="8751570" cy="477075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1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SPACE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пролистать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экран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вперёд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b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пролистать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экран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назад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(</a:t>
            </a:r>
            <a:r>
              <a:rPr sz="2200" b="1" spc="-10" dirty="0">
                <a:latin typeface="Arial"/>
                <a:cs typeface="Arial"/>
              </a:rPr>
              <a:t>b</a:t>
            </a:r>
            <a:r>
              <a:rPr sz="2200" spc="-10" dirty="0">
                <a:latin typeface="Microsoft Sans Serif"/>
                <a:cs typeface="Microsoft Sans Serif"/>
              </a:rPr>
              <a:t>ack)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3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j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или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↓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сдвинуть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курсор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строчку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вниз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k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или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↑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сдвинуть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курсор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20" dirty="0">
                <a:latin typeface="Microsoft Sans Serif"/>
                <a:cs typeface="Microsoft Sans Serif"/>
              </a:rPr>
              <a:t> строчку </a:t>
            </a:r>
            <a:r>
              <a:rPr sz="2200" spc="-10" dirty="0">
                <a:latin typeface="Microsoft Sans Serif"/>
                <a:cs typeface="Microsoft Sans Serif"/>
              </a:rPr>
              <a:t>вверх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g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перейти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первую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строку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(</a:t>
            </a:r>
            <a:r>
              <a:rPr sz="2200" b="1" spc="-20" dirty="0">
                <a:latin typeface="Arial"/>
                <a:cs typeface="Arial"/>
              </a:rPr>
              <a:t>g</a:t>
            </a:r>
            <a:r>
              <a:rPr sz="2200" spc="-20" dirty="0">
                <a:latin typeface="Microsoft Sans Serif"/>
                <a:cs typeface="Microsoft Sans Serif"/>
              </a:rPr>
              <a:t>o)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&lt;N&gt;g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перейти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строку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с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номером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N</a:t>
            </a:r>
            <a:endParaRPr sz="22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90"/>
              </a:spcBef>
              <a:buChar char="•"/>
              <a:tabLst>
                <a:tab pos="697865" algn="l"/>
              </a:tabLst>
            </a:pPr>
            <a:r>
              <a:rPr sz="1900" dirty="0">
                <a:latin typeface="Microsoft Sans Serif"/>
                <a:cs typeface="Microsoft Sans Serif"/>
              </a:rPr>
              <a:t>5g</a:t>
            </a:r>
            <a:r>
              <a:rPr sz="1900" spc="-2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-</a:t>
            </a:r>
            <a:r>
              <a:rPr sz="1900" spc="-2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перейти</a:t>
            </a:r>
            <a:r>
              <a:rPr sz="1900" spc="-25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на</a:t>
            </a:r>
            <a:r>
              <a:rPr sz="1900" spc="-20" dirty="0">
                <a:latin typeface="Microsoft Sans Serif"/>
                <a:cs typeface="Microsoft Sans Serif"/>
              </a:rPr>
              <a:t> </a:t>
            </a:r>
            <a:r>
              <a:rPr sz="1900" dirty="0">
                <a:latin typeface="Microsoft Sans Serif"/>
                <a:cs typeface="Microsoft Sans Serif"/>
              </a:rPr>
              <a:t>пятую</a:t>
            </a:r>
            <a:r>
              <a:rPr sz="1900" spc="-20" dirty="0">
                <a:latin typeface="Microsoft Sans Serif"/>
                <a:cs typeface="Microsoft Sans Serif"/>
              </a:rPr>
              <a:t> </a:t>
            </a:r>
            <a:r>
              <a:rPr sz="1900" spc="-10" dirty="0">
                <a:latin typeface="Microsoft Sans Serif"/>
                <a:cs typeface="Microsoft Sans Serif"/>
              </a:rPr>
              <a:t>строку</a:t>
            </a: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5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hold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on,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а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-45" dirty="0">
                <a:latin typeface="Microsoft Sans Serif"/>
                <a:cs typeface="Microsoft Sans Serif"/>
              </a:rPr>
              <a:t>как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узнать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номер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строк?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har char="•"/>
              <a:tabLst>
                <a:tab pos="240665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N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Enter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включить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30" dirty="0">
                <a:latin typeface="Microsoft Sans Serif"/>
                <a:cs typeface="Microsoft Sans Serif"/>
              </a:rPr>
              <a:t>подсветку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номеров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строк</a:t>
            </a:r>
            <a:endParaRPr sz="22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Microsoft Sans Serif"/>
                <a:cs typeface="Microsoft Sans Serif"/>
              </a:rPr>
              <a:t>G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-40" dirty="0">
                <a:latin typeface="Microsoft Sans Serif"/>
                <a:cs typeface="Microsoft Sans Serif"/>
              </a:rPr>
              <a:t>(т.е.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Shift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+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g)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-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перейти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в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конец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файла</a:t>
            </a:r>
            <a:endParaRPr sz="2200">
              <a:latin typeface="Microsoft Sans Serif"/>
              <a:cs typeface="Microsoft Sans Serif"/>
            </a:endParaRPr>
          </a:p>
          <a:p>
            <a:pPr marL="4201795">
              <a:lnSpc>
                <a:spcPct val="100000"/>
              </a:lnSpc>
              <a:spcBef>
                <a:spcPts val="2440"/>
              </a:spcBef>
            </a:pPr>
            <a:r>
              <a:rPr sz="1800" dirty="0">
                <a:latin typeface="Microsoft Sans Serif"/>
                <a:cs typeface="Microsoft Sans Serif"/>
              </a:rPr>
              <a:t>Задание: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походить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по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man-</a:t>
            </a:r>
            <a:r>
              <a:rPr sz="1800" dirty="0">
                <a:latin typeface="Microsoft Sans Serif"/>
                <a:cs typeface="Microsoft Sans Serif"/>
              </a:rPr>
              <a:t>у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команды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grep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4627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more,</a:t>
            </a:r>
            <a:r>
              <a:rPr spc="-70" dirty="0"/>
              <a:t> </a:t>
            </a:r>
            <a:r>
              <a:rPr dirty="0"/>
              <a:t>less.</a:t>
            </a:r>
            <a:r>
              <a:rPr spc="-65" dirty="0"/>
              <a:t> </a:t>
            </a:r>
            <a:r>
              <a:rPr spc="-10" dirty="0"/>
              <a:t>Поиск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8869680" cy="2886688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/pattern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поиск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шаблона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вперёд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?pattern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поиск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шаблона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назад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n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следующее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совпадение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ts val="3125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(</a:t>
            </a:r>
            <a:r>
              <a:rPr sz="2800" dirty="0">
                <a:latin typeface="Microsoft Sans Serif"/>
                <a:cs typeface="Microsoft Sans Serif"/>
              </a:rPr>
              <a:t>Shift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</a:t>
            </a:r>
            <a:r>
              <a:rPr lang="en-US" sz="2800" dirty="0">
                <a:latin typeface="Microsoft Sans Serif"/>
                <a:cs typeface="Microsoft Sans Serif"/>
              </a:rPr>
              <a:t>)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-</a:t>
            </a:r>
            <a:r>
              <a:rPr lang="en-US" sz="280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предыдущее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совпадение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ts val="3125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ts val="3125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lang="ru-RU" sz="2800" spc="-10" dirty="0">
                <a:latin typeface="Microsoft Sans Serif"/>
                <a:cs typeface="Microsoft Sans Serif"/>
                <a:hlinkClick r:id="rId2"/>
              </a:rPr>
              <a:t>Подробнее</a:t>
            </a:r>
            <a:endParaRPr sz="2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4881" y="4791304"/>
            <a:ext cx="3263900" cy="163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Задание:</a:t>
            </a:r>
            <a:endParaRPr sz="1800" dirty="0">
              <a:latin typeface="Microsoft Sans Serif"/>
              <a:cs typeface="Microsoft Sans Serif"/>
            </a:endParaRPr>
          </a:p>
          <a:p>
            <a:pPr marL="12700">
              <a:lnSpc>
                <a:spcPts val="2100"/>
              </a:lnSpc>
            </a:pPr>
            <a:r>
              <a:rPr sz="1800" dirty="0">
                <a:latin typeface="Microsoft Sans Serif"/>
                <a:cs typeface="Microsoft Sans Serif"/>
              </a:rPr>
              <a:t>Найти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man-</a:t>
            </a:r>
            <a:r>
              <a:rPr sz="1800" dirty="0">
                <a:latin typeface="Microsoft Sans Serif"/>
                <a:cs typeface="Microsoft Sans Serif"/>
              </a:rPr>
              <a:t>е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DESCRIPTION,</a:t>
            </a:r>
            <a:endParaRPr sz="1800" dirty="0">
              <a:latin typeface="Microsoft Sans Serif"/>
              <a:cs typeface="Microsoft Sans Serif"/>
            </a:endParaRPr>
          </a:p>
          <a:p>
            <a:pPr marL="12700" marR="1270000" algn="just">
              <a:lnSpc>
                <a:spcPts val="2100"/>
              </a:lnSpc>
              <a:spcBef>
                <a:spcPts val="90"/>
              </a:spcBef>
            </a:pPr>
            <a:r>
              <a:rPr sz="1800" dirty="0">
                <a:latin typeface="Microsoft Sans Serif"/>
                <a:cs typeface="Microsoft Sans Serif"/>
              </a:rPr>
              <a:t>перейти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</a:t>
            </a:r>
            <a:r>
              <a:rPr sz="1800" spc="-10" dirty="0">
                <a:latin typeface="Microsoft Sans Serif"/>
                <a:cs typeface="Microsoft Sans Serif"/>
              </a:rPr>
              <a:t> начало, </a:t>
            </a:r>
            <a:r>
              <a:rPr sz="1800" dirty="0" err="1">
                <a:latin typeface="Microsoft Sans Serif"/>
                <a:cs typeface="Microsoft Sans Serif"/>
              </a:rPr>
              <a:t>найти</a:t>
            </a:r>
            <a:r>
              <a:rPr lang="en-US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EXAMPLE, </a:t>
            </a:r>
            <a:r>
              <a:rPr sz="1800" dirty="0">
                <a:latin typeface="Microsoft Sans Serif"/>
                <a:cs typeface="Microsoft Sans Serif"/>
              </a:rPr>
              <a:t>перейти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</a:t>
            </a:r>
            <a:r>
              <a:rPr sz="1800" spc="-10" dirty="0">
                <a:latin typeface="Microsoft Sans Serif"/>
                <a:cs typeface="Microsoft Sans Serif"/>
              </a:rPr>
              <a:t> конец,</a:t>
            </a:r>
            <a:endParaRPr sz="1800" dirty="0">
              <a:latin typeface="Microsoft Sans Serif"/>
              <a:cs typeface="Microsoft Sans Serif"/>
            </a:endParaRPr>
          </a:p>
          <a:p>
            <a:pPr marL="12700" algn="just">
              <a:lnSpc>
                <a:spcPts val="2039"/>
              </a:lnSpc>
            </a:pPr>
            <a:r>
              <a:rPr sz="1800" dirty="0">
                <a:latin typeface="Microsoft Sans Serif"/>
                <a:cs typeface="Microsoft Sans Serif"/>
              </a:rPr>
              <a:t>найти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все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вхождения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флага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-</a:t>
            </a:r>
            <a:r>
              <a:rPr sz="1800" spc="-50" dirty="0">
                <a:latin typeface="Microsoft Sans Serif"/>
                <a:cs typeface="Microsoft Sans Serif"/>
              </a:rPr>
              <a:t>r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marR="5080">
              <a:lnSpc>
                <a:spcPts val="4510"/>
              </a:lnSpc>
              <a:spcBef>
                <a:spcPts val="890"/>
              </a:spcBef>
            </a:pPr>
            <a:r>
              <a:rPr spc="-185" dirty="0"/>
              <a:t>Как</a:t>
            </a:r>
            <a:r>
              <a:rPr spc="-110" dirty="0"/>
              <a:t> </a:t>
            </a:r>
            <a:r>
              <a:rPr dirty="0"/>
              <a:t>настроить</a:t>
            </a:r>
            <a:r>
              <a:rPr spc="-200" dirty="0"/>
              <a:t> </a:t>
            </a:r>
            <a:r>
              <a:rPr spc="-10" dirty="0"/>
              <a:t>красивые</a:t>
            </a:r>
            <a:r>
              <a:rPr spc="-155" dirty="0"/>
              <a:t> </a:t>
            </a:r>
            <a:r>
              <a:rPr dirty="0"/>
              <a:t>цвета</a:t>
            </a:r>
            <a:r>
              <a:rPr spc="-155" dirty="0"/>
              <a:t> </a:t>
            </a:r>
            <a:r>
              <a:rPr dirty="0"/>
              <a:t>в</a:t>
            </a:r>
            <a:r>
              <a:rPr spc="-155" dirty="0"/>
              <a:t> </a:t>
            </a:r>
            <a:r>
              <a:rPr spc="-20" dirty="0"/>
              <a:t>man? </a:t>
            </a:r>
            <a:r>
              <a:rPr dirty="0"/>
              <a:t>(и</a:t>
            </a:r>
            <a:r>
              <a:rPr spc="10" dirty="0"/>
              <a:t> </a:t>
            </a:r>
            <a:r>
              <a:rPr dirty="0"/>
              <a:t>не</a:t>
            </a:r>
            <a:r>
              <a:rPr spc="10" dirty="0"/>
              <a:t> </a:t>
            </a:r>
            <a:r>
              <a:rPr spc="-10" dirty="0"/>
              <a:t>только)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424035" cy="101346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Нужно</a:t>
            </a:r>
            <a:r>
              <a:rPr sz="28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 err="1">
                <a:latin typeface="Arial" panose="020B0604020202020204" pitchFamily="34" charset="0"/>
                <a:cs typeface="Arial" panose="020B0604020202020204" pitchFamily="34" charset="0"/>
              </a:rPr>
              <a:t>пропатчить</a:t>
            </a:r>
            <a:r>
              <a:rPr sz="28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/.bashrc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lr>
                <a:srgbClr val="000000"/>
              </a:buClr>
              <a:buChar char="•"/>
              <a:tabLst>
                <a:tab pos="241935" algn="l"/>
              </a:tabLst>
            </a:pPr>
            <a:r>
              <a:rPr sz="28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</a:rPr>
              <a:t>https://</a:t>
            </a:r>
            <a:r>
              <a:rPr sz="28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www.tecmint.com/view-colored-man-pages-in-</a:t>
            </a:r>
            <a:r>
              <a:rPr sz="28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linux/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VIM...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4709" y="1524000"/>
            <a:ext cx="10482581" cy="486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Ну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ж,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начнём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Режимы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vim: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6400" indent="-393700">
              <a:lnSpc>
                <a:spcPct val="100000"/>
              </a:lnSpc>
              <a:buAutoNum type="arabicParenR"/>
              <a:tabLst>
                <a:tab pos="406400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умолчанию;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нужен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навигации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6400" indent="-393700">
              <a:lnSpc>
                <a:spcPct val="100000"/>
              </a:lnSpc>
              <a:spcBef>
                <a:spcPts val="580"/>
              </a:spcBef>
              <a:buAutoNum type="arabicParenR"/>
              <a:tabLst>
                <a:tab pos="406400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вставки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6400" indent="-393700">
              <a:lnSpc>
                <a:spcPct val="100000"/>
              </a:lnSpc>
              <a:spcBef>
                <a:spcPts val="580"/>
              </a:spcBef>
              <a:buAutoNum type="arabicParenR"/>
              <a:tabLst>
                <a:tab pos="406400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замены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6400" indent="-393700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406400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sz="20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выделения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текста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Font typeface="Microsoft Sans Serif"/>
              <a:buChar char="•"/>
              <a:tabLst>
                <a:tab pos="697865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6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выделение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вертикально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155"/>
              </a:spcBef>
              <a:buFont typeface="Microsoft Sans Serif"/>
              <a:buChar char="•"/>
              <a:tabLst>
                <a:tab pos="697865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LINE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36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выделение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горизонтально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2585" indent="-349885">
              <a:lnSpc>
                <a:spcPct val="100000"/>
              </a:lnSpc>
              <a:spcBef>
                <a:spcPts val="600"/>
              </a:spcBef>
              <a:buAutoNum type="arabicParenR"/>
              <a:tabLst>
                <a:tab pos="362585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sz="20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запуска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команд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Нажмите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&lt;Esc&gt;,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чтобы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вернуться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режим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Режим</a:t>
            </a:r>
            <a:r>
              <a:rPr spc="-195" dirty="0"/>
              <a:t> </a:t>
            </a:r>
            <a:r>
              <a:rPr spc="-10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704070" cy="138049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spc="-120" dirty="0">
                <a:latin typeface="Microsoft Sans Serif"/>
                <a:cs typeface="Microsoft Sans Serif"/>
              </a:rPr>
              <a:t>Как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войти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режим?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Press: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i</a:t>
            </a: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этом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режиме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происходит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редактирования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файла,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как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в </a:t>
            </a:r>
            <a:r>
              <a:rPr sz="2800" dirty="0">
                <a:latin typeface="Microsoft Sans Serif"/>
                <a:cs typeface="Microsoft Sans Serif"/>
              </a:rPr>
              <a:t>обычном</a:t>
            </a:r>
            <a:r>
              <a:rPr sz="2800" spc="-14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текстовом</a:t>
            </a:r>
            <a:r>
              <a:rPr sz="2800" spc="-1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редакторе.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Режим</a:t>
            </a:r>
            <a:r>
              <a:rPr spc="-195" dirty="0"/>
              <a:t> </a:t>
            </a:r>
            <a:r>
              <a:rPr spc="-10" dirty="0"/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6561455" cy="287718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Некоторые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команды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уже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знаете: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:q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/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:quit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выйти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:w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сохранить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файл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:x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выйти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сохранением</a:t>
            </a:r>
            <a:endParaRPr sz="280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:help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[COMMAND]</a:t>
            </a:r>
            <a:endParaRPr sz="280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Microsoft Sans Serif"/>
                <a:cs typeface="Microsoft Sans Serif"/>
              </a:rPr>
              <a:t>:help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:w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показать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справку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по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команде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:w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Навигация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939020" cy="4423006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Большую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часть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команд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для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навигации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мы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уже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так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знаем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gg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перейти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начало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файла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&lt;N&gt;gg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перейти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строку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N</a:t>
            </a:r>
            <a:endParaRPr sz="2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Microsoft Sans Serif"/>
                <a:cs typeface="Microsoft Sans Serif"/>
              </a:rPr>
              <a:t>5gg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630" dirty="0">
                <a:latin typeface="Microsoft Sans Serif"/>
                <a:cs typeface="Microsoft Sans Serif"/>
              </a:rPr>
              <a:t>–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перейти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на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пятую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строку</a:t>
            </a:r>
            <a:endParaRPr sz="24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5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G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перейти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конец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файла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50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^ </a:t>
            </a:r>
            <a:r>
              <a:rPr lang="ru-RU" sz="2800" spc="-10" dirty="0">
                <a:latin typeface="Microsoft Sans Serif"/>
                <a:cs typeface="Microsoft Sans Serif"/>
              </a:rPr>
              <a:t>(или </a:t>
            </a:r>
            <a:r>
              <a:rPr lang="en-US" sz="2800" spc="-10" dirty="0">
                <a:latin typeface="Microsoft Sans Serif"/>
                <a:cs typeface="Microsoft Sans Serif"/>
              </a:rPr>
              <a:t>Home</a:t>
            </a:r>
            <a:r>
              <a:rPr lang="ru-RU" sz="2800" spc="-10" dirty="0">
                <a:latin typeface="Microsoft Sans Serif"/>
                <a:cs typeface="Microsoft Sans Serif"/>
              </a:rPr>
              <a:t>)</a:t>
            </a:r>
            <a:r>
              <a:rPr lang="en-US" sz="2800" spc="-10" dirty="0">
                <a:latin typeface="Microsoft Sans Serif"/>
                <a:cs typeface="Microsoft Sans Serif"/>
              </a:rPr>
              <a:t> - </a:t>
            </a:r>
            <a:r>
              <a:rPr lang="ru-RU" sz="2800" spc="-10" dirty="0">
                <a:latin typeface="Microsoft Sans Serif"/>
                <a:cs typeface="Microsoft Sans Serif"/>
              </a:rPr>
              <a:t>перейти в начало строки</a:t>
            </a:r>
          </a:p>
          <a:p>
            <a:pPr marL="241935" indent="-229235">
              <a:lnSpc>
                <a:spcPct val="100000"/>
              </a:lnSpc>
              <a:spcBef>
                <a:spcPts val="550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$ (</a:t>
            </a:r>
            <a:r>
              <a:rPr lang="ru-RU" sz="2800" spc="-10" dirty="0">
                <a:latin typeface="Microsoft Sans Serif"/>
                <a:cs typeface="Microsoft Sans Serif"/>
              </a:rPr>
              <a:t>или </a:t>
            </a:r>
            <a:r>
              <a:rPr lang="en-US" sz="2800" spc="-10" dirty="0">
                <a:latin typeface="Microsoft Sans Serif"/>
                <a:cs typeface="Microsoft Sans Serif"/>
              </a:rPr>
              <a:t>End) - </a:t>
            </a:r>
            <a:r>
              <a:rPr lang="ru-RU" sz="2800" spc="-10" dirty="0">
                <a:latin typeface="Microsoft Sans Serif"/>
                <a:cs typeface="Microsoft Sans Serif"/>
              </a:rPr>
              <a:t>перейти в конец строки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50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b – </a:t>
            </a:r>
            <a:r>
              <a:rPr lang="ru-RU" sz="2800" spc="-10" dirty="0">
                <a:latin typeface="Microsoft Sans Serif"/>
                <a:cs typeface="Microsoft Sans Serif"/>
              </a:rPr>
              <a:t>перейти к началу слова</a:t>
            </a:r>
          </a:p>
          <a:p>
            <a:pPr marL="241935" indent="-229235">
              <a:lnSpc>
                <a:spcPct val="100000"/>
              </a:lnSpc>
              <a:spcBef>
                <a:spcPts val="550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e – </a:t>
            </a:r>
            <a:r>
              <a:rPr lang="ru-RU" sz="2800" spc="-10" dirty="0">
                <a:latin typeface="Microsoft Sans Serif"/>
                <a:cs typeface="Microsoft Sans Serif"/>
              </a:rPr>
              <a:t>перейти к концу слова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VISUAL</a:t>
            </a:r>
            <a:r>
              <a:rPr spc="-285" dirty="0"/>
              <a:t> </a:t>
            </a:r>
            <a:r>
              <a:rPr spc="-30" dirty="0"/>
              <a:t>режимы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9825990" cy="53630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40"/>
              </a:spcBef>
              <a:buChar char="•"/>
              <a:tabLst>
                <a:tab pos="240665" algn="l"/>
              </a:tabLst>
            </a:pPr>
            <a:r>
              <a:rPr sz="2100" spc="-85" dirty="0">
                <a:latin typeface="Microsoft Sans Serif"/>
                <a:cs typeface="Microsoft Sans Serif"/>
              </a:rPr>
              <a:t>Как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перейти?</a:t>
            </a:r>
            <a:endParaRPr sz="2100" dirty="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latin typeface="Microsoft Sans Serif"/>
                <a:cs typeface="Microsoft Sans Serif"/>
              </a:rPr>
              <a:t>Press:</a:t>
            </a:r>
            <a:r>
              <a:rPr sz="2100" spc="-4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v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Arial"/>
                <a:cs typeface="Arial"/>
              </a:rPr>
              <a:t>VISUAL</a:t>
            </a:r>
            <a:r>
              <a:rPr sz="2100" b="1" spc="-65" dirty="0">
                <a:latin typeface="Arial"/>
                <a:cs typeface="Arial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можно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двигать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курсором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по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строкам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и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столбцам</a:t>
            </a:r>
            <a:endParaRPr sz="2100" dirty="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45"/>
              </a:spcBef>
            </a:pPr>
            <a:r>
              <a:rPr sz="2100" dirty="0">
                <a:latin typeface="Microsoft Sans Serif"/>
                <a:cs typeface="Microsoft Sans Serif"/>
              </a:rPr>
              <a:t>Press: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Shift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+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V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Arial"/>
                <a:cs typeface="Arial"/>
              </a:rPr>
              <a:t>VISUAL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LINE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spc="50" dirty="0">
                <a:latin typeface="Microsoft Sans Serif"/>
                <a:cs typeface="Microsoft Sans Serif"/>
              </a:rPr>
              <a:t>–выделять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построчно</a:t>
            </a:r>
            <a:endParaRPr sz="2100" dirty="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latin typeface="Microsoft Sans Serif"/>
                <a:cs typeface="Microsoft Sans Serif"/>
              </a:rPr>
              <a:t>Press: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^V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Arial"/>
                <a:cs typeface="Arial"/>
              </a:rPr>
              <a:t>VISUAL</a:t>
            </a:r>
            <a:r>
              <a:rPr sz="2100" b="1" spc="-7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BLOCK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-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выделять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по</a:t>
            </a:r>
            <a:r>
              <a:rPr sz="2100" spc="-10" dirty="0">
                <a:latin typeface="Microsoft Sans Serif"/>
                <a:cs typeface="Microsoft Sans Serif"/>
              </a:rPr>
              <a:t> столбцам</a:t>
            </a:r>
            <a:endParaRPr sz="21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45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Microsoft Sans Serif"/>
                <a:cs typeface="Microsoft Sans Serif"/>
              </a:rPr>
              <a:t>y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скопировать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выделенный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участок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(</a:t>
            </a:r>
            <a:r>
              <a:rPr sz="2100" b="1" dirty="0">
                <a:latin typeface="Arial"/>
                <a:cs typeface="Arial"/>
              </a:rPr>
              <a:t>y</a:t>
            </a:r>
            <a:r>
              <a:rPr sz="2100" dirty="0">
                <a:latin typeface="Microsoft Sans Serif"/>
                <a:cs typeface="Microsoft Sans Serif"/>
              </a:rPr>
              <a:t>ank,</a:t>
            </a:r>
            <a:r>
              <a:rPr sz="2100" spc="-40" dirty="0">
                <a:latin typeface="Microsoft Sans Serif"/>
                <a:cs typeface="Microsoft Sans Serif"/>
              </a:rPr>
              <a:t> т.е.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выдернуть)</a:t>
            </a:r>
            <a:endParaRPr sz="21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Microsoft Sans Serif"/>
                <a:cs typeface="Microsoft Sans Serif"/>
              </a:rPr>
              <a:t>d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-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(скопировать</a:t>
            </a:r>
            <a:r>
              <a:rPr sz="2100" dirty="0">
                <a:latin typeface="Microsoft Sans Serif"/>
                <a:cs typeface="Microsoft Sans Serif"/>
              </a:rPr>
              <a:t> и)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удалить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(</a:t>
            </a:r>
            <a:r>
              <a:rPr sz="2100" b="1" spc="-10" dirty="0">
                <a:latin typeface="Arial"/>
                <a:cs typeface="Arial"/>
              </a:rPr>
              <a:t>d</a:t>
            </a:r>
            <a:r>
              <a:rPr sz="2100" spc="-10" dirty="0">
                <a:latin typeface="Microsoft Sans Serif"/>
                <a:cs typeface="Microsoft Sans Serif"/>
              </a:rPr>
              <a:t>elete)</a:t>
            </a:r>
            <a:endParaRPr sz="21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Microsoft Sans Serif"/>
                <a:cs typeface="Microsoft Sans Serif"/>
              </a:rPr>
              <a:t>p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вставить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скопированный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участок</a:t>
            </a:r>
            <a:r>
              <a:rPr sz="2100" spc="-5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(</a:t>
            </a:r>
            <a:r>
              <a:rPr sz="2100" b="1" spc="-10" dirty="0">
                <a:latin typeface="Arial"/>
                <a:cs typeface="Arial"/>
              </a:rPr>
              <a:t>p</a:t>
            </a:r>
            <a:r>
              <a:rPr sz="2100" spc="-10" dirty="0">
                <a:latin typeface="Microsoft Sans Serif"/>
                <a:cs typeface="Microsoft Sans Serif"/>
              </a:rPr>
              <a:t>aste)</a:t>
            </a:r>
            <a:endParaRPr sz="21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45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Microsoft Sans Serif"/>
                <a:cs typeface="Microsoft Sans Serif"/>
              </a:rPr>
              <a:t>~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поменять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регистр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букв</a:t>
            </a:r>
            <a:endParaRPr sz="21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Microsoft Sans Serif"/>
                <a:cs typeface="Microsoft Sans Serif"/>
              </a:rPr>
              <a:t>Shift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+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перейти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к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редактированию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после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b="1" dirty="0">
                <a:latin typeface="Arial"/>
                <a:cs typeface="Arial"/>
              </a:rPr>
              <a:t>VISUAL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BLOCK</a:t>
            </a:r>
            <a:endParaRPr sz="2100" dirty="0">
              <a:latin typeface="Arial"/>
              <a:cs typeface="Arial"/>
            </a:endParaRPr>
          </a:p>
          <a:p>
            <a:pPr marL="241300" marR="5080" indent="-228600">
              <a:lnSpc>
                <a:spcPts val="206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100" dirty="0">
                <a:latin typeface="Microsoft Sans Serif"/>
                <a:cs typeface="Microsoft Sans Serif"/>
              </a:rPr>
              <a:t>Esc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+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Esc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550" dirty="0">
                <a:latin typeface="Microsoft Sans Serif"/>
                <a:cs typeface="Microsoft Sans Serif"/>
              </a:rPr>
              <a:t>–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выйти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из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редактирования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после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выделения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и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применить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ко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spc="-20" dirty="0" err="1">
                <a:latin typeface="Microsoft Sans Serif"/>
                <a:cs typeface="Microsoft Sans Serif"/>
              </a:rPr>
              <a:t>всем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-10" dirty="0" err="1">
                <a:latin typeface="Microsoft Sans Serif"/>
                <a:cs typeface="Microsoft Sans Serif"/>
              </a:rPr>
              <a:t>строкам</a:t>
            </a:r>
            <a:endParaRPr lang="en-US" sz="21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06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endParaRPr lang="en-US" sz="21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06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lang="ru-RU" sz="2100" spc="-10" dirty="0">
                <a:latin typeface="Microsoft Sans Serif"/>
                <a:cs typeface="Microsoft Sans Serif"/>
                <a:hlinkClick r:id="rId2"/>
              </a:rPr>
              <a:t>Подробнее</a:t>
            </a:r>
            <a:endParaRPr lang="ru-RU" sz="21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06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lang="ru-RU" sz="2100" spc="-10" dirty="0">
                <a:latin typeface="Microsoft Sans Serif"/>
                <a:cs typeface="Microsoft Sans Serif"/>
                <a:hlinkClick r:id="rId3"/>
              </a:rPr>
              <a:t>Для </a:t>
            </a:r>
            <a:r>
              <a:rPr lang="en-US" sz="2100" spc="-10" dirty="0">
                <a:latin typeface="Microsoft Sans Serif"/>
                <a:cs typeface="Microsoft Sans Serif"/>
                <a:hlinkClick r:id="rId3"/>
              </a:rPr>
              <a:t>Windows/WSL</a:t>
            </a:r>
            <a:endParaRPr sz="2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Ещё</a:t>
            </a:r>
            <a:r>
              <a:rPr spc="-100" dirty="0"/>
              <a:t> </a:t>
            </a:r>
            <a:r>
              <a:rPr dirty="0"/>
              <a:t>пара</a:t>
            </a:r>
            <a:r>
              <a:rPr spc="-95" dirty="0"/>
              <a:t> </a:t>
            </a:r>
            <a:r>
              <a:rPr spc="-30" dirty="0"/>
              <a:t>полезных</a:t>
            </a:r>
            <a:r>
              <a:rPr spc="-95" dirty="0"/>
              <a:t> </a:t>
            </a:r>
            <a:r>
              <a:rPr spc="-25" dirty="0"/>
              <a:t>команд: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034781" cy="426655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u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25" dirty="0">
                <a:latin typeface="Microsoft Sans Serif"/>
                <a:cs typeface="Microsoft Sans Serif"/>
              </a:rPr>
              <a:t> откатить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</a:t>
            </a:r>
            <a:r>
              <a:rPr sz="2800" b="1" spc="-10" dirty="0">
                <a:latin typeface="Arial"/>
                <a:cs typeface="Arial"/>
              </a:rPr>
              <a:t>u</a:t>
            </a:r>
            <a:r>
              <a:rPr sz="2800" spc="-10" dirty="0">
                <a:latin typeface="Microsoft Sans Serif"/>
                <a:cs typeface="Microsoft Sans Serif"/>
              </a:rPr>
              <a:t>ndo)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^</a:t>
            </a:r>
            <a:r>
              <a:rPr lang="en-US" sz="2800" dirty="0">
                <a:latin typeface="Microsoft Sans Serif"/>
                <a:cs typeface="Microsoft Sans Serif"/>
              </a:rPr>
              <a:t>r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(Ctrl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lang="en-US" sz="2800" spc="-35" dirty="0">
                <a:latin typeface="Microsoft Sans Serif"/>
                <a:cs typeface="Microsoft Sans Serif"/>
              </a:rPr>
              <a:t>r</a:t>
            </a:r>
            <a:r>
              <a:rPr sz="2800" dirty="0">
                <a:latin typeface="Microsoft Sans Serif"/>
                <a:cs typeface="Microsoft Sans Serif"/>
              </a:rPr>
              <a:t>)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откатить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обратно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</a:t>
            </a:r>
            <a:r>
              <a:rPr sz="2800" b="1" spc="-10" dirty="0">
                <a:latin typeface="Arial"/>
                <a:cs typeface="Arial"/>
              </a:rPr>
              <a:t>r</a:t>
            </a:r>
            <a:r>
              <a:rPr sz="2800" spc="-10" dirty="0">
                <a:latin typeface="Microsoft Sans Serif"/>
                <a:cs typeface="Microsoft Sans Serif"/>
              </a:rPr>
              <a:t>edo)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25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10h – </a:t>
            </a:r>
            <a:r>
              <a:rPr lang="ru-RU" sz="2800" spc="-10" dirty="0">
                <a:latin typeface="Microsoft Sans Serif"/>
                <a:cs typeface="Microsoft Sans Serif"/>
              </a:rPr>
              <a:t>сдвинуть курсор вверх на 10 строк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53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:%s/foo/bar/g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сделать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замену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«foo»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«bar»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Char char="•"/>
              <a:tabLst>
                <a:tab pos="69786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% - </a:t>
            </a:r>
            <a:r>
              <a:rPr lang="ru-RU" sz="2800" spc="-10" dirty="0">
                <a:latin typeface="Microsoft Sans Serif"/>
                <a:cs typeface="Microsoft Sans Serif"/>
              </a:rPr>
              <a:t>во всём файле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Char char="•"/>
              <a:tabLst>
                <a:tab pos="697865" algn="l"/>
              </a:tabLst>
            </a:pPr>
            <a:r>
              <a:rPr lang="en-US" sz="2800" b="1" spc="-10" dirty="0">
                <a:latin typeface="Microsoft Sans Serif"/>
                <a:cs typeface="Microsoft Sans Serif"/>
              </a:rPr>
              <a:t>s</a:t>
            </a:r>
            <a:r>
              <a:rPr lang="en-US" sz="2800" spc="-10" dirty="0">
                <a:latin typeface="Microsoft Sans Serif"/>
                <a:cs typeface="Microsoft Sans Serif"/>
              </a:rPr>
              <a:t> – </a:t>
            </a:r>
            <a:r>
              <a:rPr lang="en-US" sz="2800" b="1" spc="-10" dirty="0">
                <a:latin typeface="Microsoft Sans Serif"/>
                <a:cs typeface="Microsoft Sans Serif"/>
              </a:rPr>
              <a:t>s</a:t>
            </a:r>
            <a:r>
              <a:rPr lang="en-US" sz="2800" spc="-10" dirty="0">
                <a:latin typeface="Microsoft Sans Serif"/>
                <a:cs typeface="Microsoft Sans Serif"/>
              </a:rPr>
              <a:t>ubstitute</a:t>
            </a: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Char char="•"/>
              <a:tabLst>
                <a:tab pos="69786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g – </a:t>
            </a:r>
            <a:r>
              <a:rPr lang="ru-RU" sz="2800" spc="-10" dirty="0">
                <a:latin typeface="Microsoft Sans Serif"/>
                <a:cs typeface="Microsoft Sans Serif"/>
              </a:rPr>
              <a:t>все вхождения в строке (а не только первое)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697865" indent="-227965">
              <a:spcBef>
                <a:spcPts val="130"/>
              </a:spcBef>
              <a:buChar char="•"/>
              <a:tabLst>
                <a:tab pos="697865" algn="l"/>
              </a:tabLst>
            </a:pPr>
            <a:endParaRPr lang="en-US" sz="2800" spc="-10" dirty="0">
              <a:latin typeface="Microsoft Sans Serif"/>
              <a:cs typeface="Microsoft Sans Serif"/>
            </a:endParaRPr>
          </a:p>
          <a:p>
            <a:pPr marL="241935" lvl="4" indent="-229235">
              <a:spcBef>
                <a:spcPts val="530"/>
              </a:spcBef>
              <a:buChar char="•"/>
              <a:tabLst>
                <a:tab pos="241935" algn="l"/>
              </a:tabLst>
            </a:pPr>
            <a:endParaRPr lang="en-US" sz="2800" spc="-1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36747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Где</a:t>
            </a:r>
            <a:r>
              <a:rPr spc="-215" dirty="0"/>
              <a:t> </a:t>
            </a:r>
            <a:r>
              <a:rPr spc="-45" dirty="0"/>
              <a:t>заботать?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5125720" cy="966547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630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vimtutor</a:t>
            </a:r>
            <a:endParaRPr sz="2800" dirty="0">
              <a:latin typeface="Microsoft Sans Serif"/>
              <a:cs typeface="Microsoft Sans Serif"/>
            </a:endParaRPr>
          </a:p>
          <a:p>
            <a:pPr marL="12700" marR="5080" indent="229235">
              <a:lnSpc>
                <a:spcPct val="115700"/>
              </a:lnSpc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  <a:hlinkClick r:id="rId2"/>
              </a:rPr>
              <a:t>Настройка</a:t>
            </a:r>
            <a:r>
              <a:rPr sz="2800" spc="-9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800" dirty="0">
                <a:latin typeface="Microsoft Sans Serif"/>
                <a:cs typeface="Microsoft Sans Serif"/>
                <a:hlinkClick r:id="rId2"/>
              </a:rPr>
              <a:t>вима,</a:t>
            </a:r>
            <a:r>
              <a:rPr sz="2800" spc="-95" dirty="0">
                <a:latin typeface="Microsoft Sans Serif"/>
                <a:cs typeface="Microsoft Sans Serif"/>
                <a:hlinkClick r:id="rId2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  <a:hlinkClick r:id="rId2"/>
              </a:rPr>
              <a:t>плагины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VSCode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9709"/>
            <a:ext cx="7042150" cy="462498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65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1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Shift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1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</a:t>
            </a:r>
            <a:r>
              <a:rPr sz="2500" spc="-3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-</a:t>
            </a:r>
            <a:r>
              <a:rPr sz="2500" spc="1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palette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Hot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keys: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 N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создать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новый файл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(</a:t>
            </a:r>
            <a:r>
              <a:rPr sz="2500" b="1" spc="-10" dirty="0">
                <a:latin typeface="Arial"/>
                <a:cs typeface="Arial"/>
              </a:rPr>
              <a:t>n</a:t>
            </a:r>
            <a:r>
              <a:rPr sz="2500" spc="-10" dirty="0">
                <a:latin typeface="Microsoft Sans Serif"/>
                <a:cs typeface="Microsoft Sans Serif"/>
              </a:rPr>
              <a:t>ew)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-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-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</a:t>
            </a:r>
            <a:r>
              <a:rPr sz="2500" spc="-15" dirty="0">
                <a:latin typeface="Microsoft Sans Serif"/>
                <a:cs typeface="Microsoft Sans Serif"/>
              </a:rPr>
              <a:t>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spc="-1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открыть</a:t>
            </a:r>
            <a:r>
              <a:rPr sz="2500" spc="-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файл</a:t>
            </a:r>
            <a:r>
              <a:rPr sz="2500" spc="-10" dirty="0">
                <a:latin typeface="Microsoft Sans Serif"/>
                <a:cs typeface="Microsoft Sans Serif"/>
              </a:rPr>
              <a:t> (</a:t>
            </a:r>
            <a:r>
              <a:rPr sz="2500" b="1" spc="-10" dirty="0">
                <a:latin typeface="Arial"/>
                <a:cs typeface="Arial"/>
              </a:rPr>
              <a:t>o</a:t>
            </a:r>
            <a:r>
              <a:rPr sz="2500" spc="-10" dirty="0">
                <a:latin typeface="Microsoft Sans Serif"/>
                <a:cs typeface="Microsoft Sans Serif"/>
              </a:rPr>
              <a:t>pen)</a:t>
            </a:r>
            <a:endParaRPr lang="en-US" sz="2500" spc="-1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240665" algn="l"/>
              </a:tabLst>
            </a:pPr>
            <a:r>
              <a:rPr lang="en-US" sz="2500" spc="-10" dirty="0">
                <a:latin typeface="Microsoft Sans Serif"/>
                <a:cs typeface="Microsoft Sans Serif"/>
              </a:rPr>
              <a:t>Ctrl + K + O – </a:t>
            </a:r>
            <a:r>
              <a:rPr lang="ru-RU" sz="2500" spc="-10" dirty="0">
                <a:latin typeface="Microsoft Sans Serif"/>
                <a:cs typeface="Microsoft Sans Serif"/>
              </a:rPr>
              <a:t>открыть директорию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Z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откатить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-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Y</a:t>
            </a:r>
            <a:r>
              <a:rPr sz="2500" spc="-45" dirty="0">
                <a:latin typeface="Microsoft Sans Serif"/>
                <a:cs typeface="Microsoft Sans Serif"/>
              </a:rPr>
              <a:t>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откатить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назад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har char="•"/>
              <a:tabLst>
                <a:tab pos="240665" algn="l"/>
                <a:tab pos="2737485" algn="l"/>
              </a:tabLst>
            </a:pPr>
            <a:r>
              <a:rPr sz="2500" dirty="0">
                <a:latin typeface="Microsoft Sans Serif"/>
                <a:cs typeface="Microsoft Sans Serif"/>
              </a:rPr>
              <a:t>Выделить</a:t>
            </a:r>
            <a:r>
              <a:rPr sz="2500" spc="-3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-35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Ctrl</a:t>
            </a:r>
            <a:r>
              <a:rPr sz="2500" dirty="0">
                <a:latin typeface="Microsoft Sans Serif"/>
                <a:cs typeface="Microsoft Sans Serif"/>
              </a:rPr>
              <a:t>	+ D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множественный</a:t>
            </a:r>
            <a:r>
              <a:rPr sz="250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курсор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240665" algn="l"/>
              </a:tabLst>
            </a:pPr>
            <a:r>
              <a:rPr sz="2500" dirty="0">
                <a:latin typeface="Microsoft Sans Serif"/>
                <a:cs typeface="Microsoft Sans Serif"/>
              </a:rPr>
              <a:t>Ctrl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+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/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spc="645" dirty="0">
                <a:latin typeface="Microsoft Sans Serif"/>
                <a:cs typeface="Microsoft Sans Serif"/>
              </a:rPr>
              <a:t>–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добавить/убрать</a:t>
            </a:r>
            <a:r>
              <a:rPr sz="2500" spc="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комментарий</a:t>
            </a:r>
            <a:endParaRPr sz="25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Char char="•"/>
              <a:tabLst>
                <a:tab pos="240665" algn="l"/>
              </a:tabLst>
            </a:pPr>
            <a:r>
              <a:rPr sz="2500" spc="-20" dirty="0">
                <a:latin typeface="Microsoft Sans Serif"/>
                <a:cs typeface="Microsoft Sans Serif"/>
              </a:rPr>
              <a:t>....</a:t>
            </a:r>
            <a:endParaRPr sz="25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36747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Где</a:t>
            </a:r>
            <a:r>
              <a:rPr spc="-215" dirty="0"/>
              <a:t> </a:t>
            </a:r>
            <a:r>
              <a:rPr spc="-45" dirty="0"/>
              <a:t>заботать?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71219" y="1822455"/>
            <a:ext cx="9603105" cy="9419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2890"/>
              </a:lnSpc>
              <a:spcBef>
                <a:spcPts val="585"/>
              </a:spcBef>
              <a:buClr>
                <a:srgbClr val="000000"/>
              </a:buClr>
              <a:buChar char="•"/>
              <a:tabLst>
                <a:tab pos="241300" algn="l"/>
              </a:tabLst>
            </a:pPr>
            <a:r>
              <a:rPr lang="ru-RU" spc="-20" dirty="0">
                <a:hlinkClick r:id="rId2"/>
              </a:rPr>
              <a:t>Шпаргалка по </a:t>
            </a:r>
            <a:r>
              <a:rPr lang="en-US" spc="-20" dirty="0" err="1">
                <a:hlinkClick r:id="rId2"/>
              </a:rPr>
              <a:t>VSCode</a:t>
            </a:r>
            <a:endParaRPr lang="ru-RU" spc="-20" dirty="0">
              <a:hlinkClick r:id="rId3"/>
            </a:endParaRPr>
          </a:p>
          <a:p>
            <a:pPr marL="241935" indent="-229235">
              <a:lnSpc>
                <a:spcPct val="100000"/>
              </a:lnSpc>
              <a:spcBef>
                <a:spcPts val="509"/>
              </a:spcBef>
              <a:buChar char="•"/>
              <a:tabLst>
                <a:tab pos="241935" algn="l"/>
              </a:tabLst>
            </a:pPr>
            <a:r>
              <a:rPr u="none" spc="-10" dirty="0" err="1">
                <a:solidFill>
                  <a:srgbClr val="000000"/>
                </a:solidFill>
              </a:rPr>
              <a:t>Можно</a:t>
            </a:r>
            <a:r>
              <a:rPr u="none" spc="-10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настроить</a:t>
            </a:r>
            <a:r>
              <a:rPr u="none" spc="-10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hotkeys</a:t>
            </a:r>
            <a:r>
              <a:rPr u="none" spc="-100" dirty="0">
                <a:solidFill>
                  <a:srgbClr val="000000"/>
                </a:solidFill>
              </a:rPr>
              <a:t> </a:t>
            </a:r>
            <a:r>
              <a:rPr u="none" spc="-10" dirty="0" err="1">
                <a:solidFill>
                  <a:srgbClr val="000000"/>
                </a:solidFill>
                <a:hlinkClick r:id="rId4"/>
              </a:rPr>
              <a:t>самому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1302</TotalTime>
  <Words>732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Microsoft Sans Serif</vt:lpstr>
      <vt:lpstr>Times New Roman</vt:lpstr>
      <vt:lpstr>Office Theme</vt:lpstr>
      <vt:lpstr>Семинар по С++ №2</vt:lpstr>
      <vt:lpstr>Структура страниц man</vt:lpstr>
      <vt:lpstr>Номер страницы man это важно!</vt:lpstr>
      <vt:lpstr>more, less. Навигация</vt:lpstr>
      <vt:lpstr>more, less. Поиск</vt:lpstr>
      <vt:lpstr>Как настроить красивые цвета в man? (и не только)</vt:lpstr>
      <vt:lpstr>VIM...</vt:lpstr>
      <vt:lpstr>Режим INSERT</vt:lpstr>
      <vt:lpstr>Режим COMMAND</vt:lpstr>
      <vt:lpstr>Навигация</vt:lpstr>
      <vt:lpstr>VISUAL режимы</vt:lpstr>
      <vt:lpstr>Ещё пара полезных команд:</vt:lpstr>
      <vt:lpstr>Где заботать?</vt:lpstr>
      <vt:lpstr>VSCode</vt:lpstr>
      <vt:lpstr>Где заботать?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Семинар_2</dc:title>
  <dc:creator>Konstantin Dragun</dc:creator>
  <cp:lastModifiedBy>Konstantin Dragun</cp:lastModifiedBy>
  <cp:revision>9</cp:revision>
  <dcterms:created xsi:type="dcterms:W3CDTF">2024-09-11T11:00:46Z</dcterms:created>
  <dcterms:modified xsi:type="dcterms:W3CDTF">2025-09-07T21:32:37Z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Keynote</vt:lpwstr>
  </property>
  <property fmtid="{D5CDD505-2E9C-101B-9397-08002B2CF9AE}" pid="4" name="LastSaved">
    <vt:filetime>2024-09-11T00:00:00Z</vt:filetime>
  </property>
  <property fmtid="{D5CDD505-2E9C-101B-9397-08002B2CF9AE}" pid="5" name="Producer">
    <vt:lpwstr>macOS Version 13.3.1 (Build 22E261) Quartz PDFContext</vt:lpwstr>
  </property>
</Properties>
</file>