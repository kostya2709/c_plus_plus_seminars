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62" r:id="rId4"/>
    <p:sldId id="263" r:id="rId5"/>
    <p:sldId id="265" r:id="rId6"/>
    <p:sldId id="266" r:id="rId7"/>
    <p:sldId id="267" r:id="rId8"/>
    <p:sldId id="268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34581"/>
            <a:ext cx="938212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24393"/>
            <a:ext cx="8915400" cy="4464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language/ub.html" TargetMode="External"/><Relationship Id="rId2" Type="http://schemas.openxmlformats.org/officeDocument/2006/relationships/hyperlink" Target="https://habr.com/ru/articles/229963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4428" y="1573752"/>
            <a:ext cx="7002145" cy="2440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700" dirty="0"/>
              <a:t>Семинар</a:t>
            </a:r>
            <a:r>
              <a:rPr sz="5700" spc="-105" dirty="0"/>
              <a:t> </a:t>
            </a:r>
            <a:r>
              <a:rPr sz="5700" dirty="0"/>
              <a:t>по</a:t>
            </a:r>
            <a:r>
              <a:rPr sz="5700" spc="-105" dirty="0"/>
              <a:t> </a:t>
            </a:r>
            <a:r>
              <a:rPr sz="5700" dirty="0"/>
              <a:t>C++</a:t>
            </a:r>
            <a:r>
              <a:rPr sz="5700" spc="-105" dirty="0"/>
              <a:t> </a:t>
            </a:r>
            <a:r>
              <a:rPr sz="5700" spc="155" dirty="0"/>
              <a:t>№</a:t>
            </a:r>
            <a:r>
              <a:rPr lang="en-US" sz="5700" spc="155" dirty="0"/>
              <a:t>4</a:t>
            </a:r>
            <a:endParaRPr sz="5700" dirty="0"/>
          </a:p>
          <a:p>
            <a:pPr marL="635" algn="ctr">
              <a:lnSpc>
                <a:spcPct val="100000"/>
              </a:lnSpc>
              <a:spcBef>
                <a:spcPts val="5335"/>
              </a:spcBef>
            </a:pPr>
            <a:r>
              <a:rPr lang="ru-RU" sz="5700" dirty="0"/>
              <a:t>Виды ошибок</a:t>
            </a:r>
            <a:endParaRPr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CE (Compilation Error)</a:t>
            </a:r>
            <a:endParaRPr spc="-1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5F681-6C8A-4F29-9011-C361D170771B}"/>
              </a:ext>
            </a:extLst>
          </p:cNvPr>
          <p:cNvSpPr txBox="1"/>
          <p:nvPr/>
        </p:nvSpPr>
        <p:spPr>
          <a:xfrm>
            <a:off x="916940" y="1981201"/>
            <a:ext cx="97605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Виды </a:t>
            </a:r>
            <a:r>
              <a:rPr lang="en-US" sz="2400" dirty="0"/>
              <a:t>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Лексические – непонятный токен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Синтаксические</a:t>
            </a:r>
            <a:r>
              <a:rPr lang="en-US" sz="2400" dirty="0"/>
              <a:t> – </a:t>
            </a:r>
            <a:r>
              <a:rPr lang="ru-RU" sz="2400" dirty="0"/>
              <a:t>не удалось </a:t>
            </a:r>
            <a:r>
              <a:rPr lang="ru-RU" sz="2400" dirty="0" err="1"/>
              <a:t>распарсить</a:t>
            </a:r>
            <a:r>
              <a:rPr lang="ru-RU" sz="2400" dirty="0"/>
              <a:t> выражение согласно грамматике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Семантические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Неопределённая операция над данным типом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Обращение к необъявленной переменной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Передача неверного числа аргументов в функцию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Неоднозначность в обращении к переменной (например, при </a:t>
            </a:r>
            <a:r>
              <a:rPr lang="en-US" sz="2400" dirty="0"/>
              <a:t>using namespace</a:t>
            </a:r>
            <a:r>
              <a:rPr lang="ru-RU" sz="2400" dirty="0"/>
              <a:t>)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…</a:t>
            </a:r>
            <a:endParaRPr lang="ru-RU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648F-38DC-477F-8A19-0DAD7189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 (Runtime Error)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EAD609-F6AA-4354-8290-B16DAA10DD75}"/>
              </a:ext>
            </a:extLst>
          </p:cNvPr>
          <p:cNvSpPr txBox="1"/>
          <p:nvPr/>
        </p:nvSpPr>
        <p:spPr>
          <a:xfrm>
            <a:off x="761999" y="1828800"/>
            <a:ext cx="107746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Segmentation Fault – </a:t>
            </a:r>
            <a:r>
              <a:rPr lang="ru-RU" sz="2400" dirty="0"/>
              <a:t>вышли далеко за границы вектора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Floating point exception – </a:t>
            </a:r>
            <a:r>
              <a:rPr lang="ru-RU" sz="2400" dirty="0"/>
              <a:t>целочисленное деление на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Aborted – assert </a:t>
            </a:r>
            <a:r>
              <a:rPr lang="ru-RU" sz="2400" dirty="0"/>
              <a:t>упал</a:t>
            </a:r>
          </a:p>
        </p:txBody>
      </p:sp>
    </p:spTree>
    <p:extLst>
      <p:ext uri="{BB962C8B-B14F-4D97-AF65-F5344CB8AC3E}">
        <p14:creationId xmlns:p14="http://schemas.microsoft.com/office/powerpoint/2010/main" val="2731346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F5C8-AC09-443C-9A1D-F15CF8623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UB (Undefined Behavior)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591DD-192B-47E1-8412-E26B6431EA64}"/>
              </a:ext>
            </a:extLst>
          </p:cNvPr>
          <p:cNvSpPr txBox="1"/>
          <p:nvPr/>
        </p:nvSpPr>
        <p:spPr>
          <a:xfrm>
            <a:off x="1066800" y="2087880"/>
            <a:ext cx="103174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Переполнение знаковых чисел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Обращение за границы массива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Бесконечный цикл без </a:t>
            </a:r>
            <a:r>
              <a:rPr lang="en-US" sz="2400" dirty="0"/>
              <a:t>side-</a:t>
            </a:r>
            <a:r>
              <a:rPr lang="ru-RU" sz="2400" dirty="0"/>
              <a:t>эффектов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Разыменование</a:t>
            </a:r>
            <a:r>
              <a:rPr lang="en-US" sz="2400" dirty="0"/>
              <a:t> </a:t>
            </a:r>
            <a:r>
              <a:rPr lang="ru-RU" sz="2400" dirty="0"/>
              <a:t>нулевого указателя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Не вернуть значение из функции, возвращающей не </a:t>
            </a:r>
            <a:r>
              <a:rPr lang="en-US" sz="2400" dirty="0"/>
              <a:t>void</a:t>
            </a: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83238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9238-5BA6-457D-B6A8-588F074F6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Unspecified behavior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7884F-6FFA-4924-A9E5-859C38A367BB}"/>
              </a:ext>
            </a:extLst>
          </p:cNvPr>
          <p:cNvSpPr txBox="1"/>
          <p:nvPr/>
        </p:nvSpPr>
        <p:spPr>
          <a:xfrm>
            <a:off x="1143000" y="2209799"/>
            <a:ext cx="9906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/>
              <a:t>Порядок вычисления аргументов операторов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Порядок вычисления аргументов функции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DejaVuSans"/>
              </a:rPr>
              <a:t>Each unspecified behavior results in one of a set of valid results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43540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9627-DEC1-4F2C-8E55-5A59AA98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Defined Behavior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F6A03B-EF2B-4D0E-841E-007EDE3FF72B}"/>
              </a:ext>
            </a:extLst>
          </p:cNvPr>
          <p:cNvSpPr txBox="1"/>
          <p:nvPr/>
        </p:nvSpPr>
        <p:spPr>
          <a:xfrm>
            <a:off x="1295400" y="2057400"/>
            <a:ext cx="9982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behavior of the program varies between implementations, and the conforming implementation must document the effects of each behavior.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type of std::</a:t>
            </a:r>
            <a:r>
              <a:rPr lang="en-US" sz="2400" dirty="0" err="1"/>
              <a:t>size_t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number of bits in a byte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text of std::</a:t>
            </a:r>
            <a:r>
              <a:rPr lang="en-US" sz="2400" dirty="0" err="1"/>
              <a:t>bad_alloc</a:t>
            </a:r>
            <a:r>
              <a:rPr lang="en-US" sz="2400" dirty="0"/>
              <a:t>::what</a:t>
            </a:r>
          </a:p>
          <a:p>
            <a:endParaRPr lang="en-US" sz="2400" dirty="0"/>
          </a:p>
          <a:p>
            <a:r>
              <a:rPr lang="en-US" sz="2400" dirty="0"/>
              <a:t>A subset of implementation-defined behavior is </a:t>
            </a:r>
            <a:r>
              <a:rPr lang="en-US" sz="2400" i="1" dirty="0"/>
              <a:t>locale-specific</a:t>
            </a:r>
            <a:r>
              <a:rPr lang="en-US" sz="2400" dirty="0"/>
              <a:t> behavior, which depends on the implementation-supplied locale.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486896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712E7-0266-4A04-8207-F88EFC381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9" y="634581"/>
            <a:ext cx="10589261" cy="677108"/>
          </a:xfrm>
        </p:spPr>
        <p:txBody>
          <a:bodyPr/>
          <a:lstStyle/>
          <a:p>
            <a:r>
              <a:rPr lang="en-US" dirty="0"/>
              <a:t>ill-formed, no diagnostic requires (IFNDR)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32F954-277F-48E6-BC33-C0D9EEA41276}"/>
              </a:ext>
            </a:extLst>
          </p:cNvPr>
          <p:cNvSpPr txBox="1"/>
          <p:nvPr/>
        </p:nvSpPr>
        <p:spPr>
          <a:xfrm>
            <a:off x="1029969" y="2590800"/>
            <a:ext cx="10363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program has semantic errors which may not be diagnosable in general case (e.g. violations of the ODR or other errors that are only detectable at link time).</a:t>
            </a:r>
          </a:p>
          <a:p>
            <a:endParaRPr lang="en-US" sz="2400" dirty="0"/>
          </a:p>
          <a:p>
            <a:r>
              <a:rPr lang="en-US" sz="2400" dirty="0"/>
              <a:t>The behavior is undefined if such program is executed.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56002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E0453-8BB3-418C-92F8-72FF0B16B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Erroneous Behavior</a:t>
            </a:r>
            <a:r>
              <a:rPr lang="ru-RU" dirty="0"/>
              <a:t> (</a:t>
            </a:r>
            <a:r>
              <a:rPr lang="en-US" dirty="0"/>
              <a:t>since C++26</a:t>
            </a:r>
            <a:r>
              <a:rPr lang="ru-RU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BAA6A-F7C0-4739-95FD-AE5D7EA4A86A}"/>
              </a:ext>
            </a:extLst>
          </p:cNvPr>
          <p:cNvSpPr txBox="1"/>
          <p:nvPr/>
        </p:nvSpPr>
        <p:spPr>
          <a:xfrm>
            <a:off x="916938" y="2240280"/>
            <a:ext cx="105892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Чтение из неинициализированной переменной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 отличие от </a:t>
            </a:r>
            <a:r>
              <a:rPr lang="en-US" sz="2400" dirty="0"/>
              <a:t>UB, </a:t>
            </a:r>
            <a:r>
              <a:rPr lang="ru-RU" sz="2400" dirty="0"/>
              <a:t>не может произойти всё, что угодно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Сделано по соображениям безопасности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Компиляторам рекомендуется диагностировать его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Можем пометить определение без инициализации </a:t>
            </a:r>
            <a:r>
              <a:rPr lang="en-US" sz="2400" b="1" dirty="0"/>
              <a:t>[[</a:t>
            </a:r>
            <a:r>
              <a:rPr lang="en-US" sz="2400" b="1" dirty="0" err="1"/>
              <a:t>indeterminiate</a:t>
            </a:r>
            <a:r>
              <a:rPr lang="en-US" sz="2400" b="1" dirty="0"/>
              <a:t>]]</a:t>
            </a:r>
            <a:r>
              <a:rPr lang="ru-RU" sz="2400" b="1" dirty="0"/>
              <a:t>,</a:t>
            </a:r>
            <a:r>
              <a:rPr lang="ru-RU" sz="2400" dirty="0"/>
              <a:t> если хотим присвоить значение позднее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002185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96BF-CBA4-422A-99C5-E92EC4B59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почитать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BD0DAA-24DE-4A1C-A303-A9B744F37705}"/>
              </a:ext>
            </a:extLst>
          </p:cNvPr>
          <p:cNvSpPr txBox="1"/>
          <p:nvPr/>
        </p:nvSpPr>
        <p:spPr>
          <a:xfrm>
            <a:off x="838200" y="1676400"/>
            <a:ext cx="105765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hlinkClick r:id="rId2"/>
              </a:rPr>
              <a:t>Великая теорема Ферма и </a:t>
            </a:r>
            <a:r>
              <a:rPr lang="en-US" sz="2400" dirty="0">
                <a:hlinkClick r:id="rId2"/>
              </a:rPr>
              <a:t>UB</a:t>
            </a:r>
            <a:endParaRPr lang="en-US" sz="2400" dirty="0"/>
          </a:p>
          <a:p>
            <a:r>
              <a:rPr lang="en-US" sz="2400" dirty="0" err="1">
                <a:hlinkClick r:id="rId3"/>
              </a:rPr>
              <a:t>Cppreference</a:t>
            </a:r>
            <a:endParaRPr lang="en-US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1500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601</TotalTime>
  <Words>304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DejaVuSans</vt:lpstr>
      <vt:lpstr>Microsoft Sans Serif</vt:lpstr>
      <vt:lpstr>Office Theme</vt:lpstr>
      <vt:lpstr>Семинар по C++ №4 Виды ошибок</vt:lpstr>
      <vt:lpstr>CE (Compilation Error)</vt:lpstr>
      <vt:lpstr>RE (Runtime Error)</vt:lpstr>
      <vt:lpstr>UB (Undefined Behavior)</vt:lpstr>
      <vt:lpstr>Unspecified behavior</vt:lpstr>
      <vt:lpstr>Implementation Defined Behavior</vt:lpstr>
      <vt:lpstr>ill-formed, no diagnostic requires (IFNDR)</vt:lpstr>
      <vt:lpstr>Erroneous Behavior (since C++26)</vt:lpstr>
      <vt:lpstr>Что почитать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по C++ №4 Компилятор</dc:title>
  <dc:creator>Konstantin Dragun</dc:creator>
  <cp:lastModifiedBy>Konstantin Dragun</cp:lastModifiedBy>
  <cp:revision>38</cp:revision>
  <dcterms:created xsi:type="dcterms:W3CDTF">2024-09-25T16:22:41Z</dcterms:created>
  <dcterms:modified xsi:type="dcterms:W3CDTF">2025-09-21T20:51:56Z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2022-10-28T00:00:00Z</vt:filetime>
  </property>
  <property fmtid="{D5CDD505-2E9C-101B-9397-08002B2CF9AE}" pid="3" name="Creator">
    <vt:lpwstr>R7-Office/7.2.0.134</vt:lpwstr>
  </property>
  <property fmtid="{D5CDD505-2E9C-101B-9397-08002B2CF9AE}" pid="4" name="LastSaved">
    <vt:filetime>2024-09-25T00:00:00Z</vt:filetime>
  </property>
  <property fmtid="{D5CDD505-2E9C-101B-9397-08002B2CF9AE}" pid="5" name="Producer">
    <vt:lpwstr>R7-Office/7.2.0.134</vt:lpwstr>
  </property>
</Properties>
</file>