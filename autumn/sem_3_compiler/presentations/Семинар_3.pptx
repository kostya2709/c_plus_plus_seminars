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3" r:id="rId4"/>
    <p:sldId id="274" r:id="rId5"/>
    <p:sldId id="275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89" r:id="rId22"/>
    <p:sldId id="290" r:id="rId23"/>
    <p:sldId id="292" r:id="rId24"/>
    <p:sldId id="291" r:id="rId25"/>
    <p:sldId id="293" r:id="rId26"/>
    <p:sldId id="276" r:id="rId27"/>
    <p:sldId id="279" r:id="rId28"/>
    <p:sldId id="278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954" y="2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34581"/>
            <a:ext cx="938212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24393"/>
            <a:ext cx="8915400" cy="4464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cc.gnu.org/onlinedocs/gcc/Optimize-Options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ithare.com/infographics-operation-costs-in-cpu-clock-cycle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cc.gnu.org/onlinedocs/gcc/Warning-Options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4428" y="1573752"/>
            <a:ext cx="7002145" cy="244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700" dirty="0"/>
              <a:t>Семинар</a:t>
            </a:r>
            <a:r>
              <a:rPr sz="5700" spc="-105" dirty="0"/>
              <a:t> </a:t>
            </a:r>
            <a:r>
              <a:rPr sz="5700" dirty="0"/>
              <a:t>по</a:t>
            </a:r>
            <a:r>
              <a:rPr sz="5700" spc="-105" dirty="0"/>
              <a:t> </a:t>
            </a:r>
            <a:r>
              <a:rPr sz="5700" dirty="0"/>
              <a:t>C++</a:t>
            </a:r>
            <a:r>
              <a:rPr sz="5700" spc="-105" dirty="0"/>
              <a:t> </a:t>
            </a:r>
            <a:r>
              <a:rPr sz="5700" spc="155" dirty="0"/>
              <a:t>№</a:t>
            </a:r>
            <a:r>
              <a:rPr lang="ru-RU" sz="5700" spc="155" dirty="0"/>
              <a:t>3</a:t>
            </a:r>
            <a:endParaRPr sz="5700" dirty="0"/>
          </a:p>
          <a:p>
            <a:pPr marL="635" algn="ctr">
              <a:lnSpc>
                <a:spcPct val="100000"/>
              </a:lnSpc>
              <a:spcBef>
                <a:spcPts val="5335"/>
              </a:spcBef>
            </a:pPr>
            <a:r>
              <a:rPr sz="5700" spc="-10" dirty="0"/>
              <a:t>Компилятор</a:t>
            </a:r>
            <a:endParaRPr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Компилятор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8452"/>
            <a:ext cx="10210165" cy="32645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spc="-30" dirty="0">
                <a:latin typeface="Microsoft Sans Serif"/>
                <a:cs typeface="Microsoft Sans Serif"/>
              </a:rPr>
              <a:t>Компилятор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программа,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переводящий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написанный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на </a:t>
            </a:r>
            <a:r>
              <a:rPr sz="2800" dirty="0">
                <a:latin typeface="Microsoft Sans Serif"/>
                <a:cs typeface="Microsoft Sans Serif"/>
              </a:rPr>
              <a:t>одном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языке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программирования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текст,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код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на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другом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языке программирования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Microsoft Sans Serif"/>
                <a:cs typeface="Microsoft Sans Serif"/>
              </a:rPr>
              <a:t>Примеры: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latin typeface="Microsoft Sans Serif"/>
                <a:cs typeface="Microsoft Sans Serif"/>
              </a:rPr>
              <a:t>g++: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C++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-</a:t>
            </a:r>
            <a:r>
              <a:rPr sz="2800" dirty="0">
                <a:latin typeface="Microsoft Sans Serif"/>
                <a:cs typeface="Microsoft Sans Serif"/>
              </a:rPr>
              <a:t>&gt;</a:t>
            </a:r>
            <a:r>
              <a:rPr sz="2800" spc="-10" dirty="0">
                <a:latin typeface="Microsoft Sans Serif"/>
                <a:cs typeface="Microsoft Sans Serif"/>
              </a:rPr>
              <a:t> assembly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latin typeface="Microsoft Sans Serif"/>
                <a:cs typeface="Microsoft Sans Serif"/>
              </a:rPr>
              <a:t>JDK: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Java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-</a:t>
            </a:r>
            <a:r>
              <a:rPr sz="2800" dirty="0">
                <a:latin typeface="Microsoft Sans Serif"/>
                <a:cs typeface="Microsoft Sans Serif"/>
              </a:rPr>
              <a:t>&gt;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Java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Byte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Code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97586-7D0C-4178-9CA3-9F4EEB152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Стадии компиляции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6A458-8463-433D-ADA0-EA9C0D18E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1200"/>
            <a:ext cx="10591800" cy="34470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 err="1"/>
              <a:t>Препроцессинг</a:t>
            </a:r>
            <a:r>
              <a:rPr lang="ru-RU" sz="3200" dirty="0"/>
              <a:t> - текстовая подстановка (</a:t>
            </a:r>
            <a:r>
              <a:rPr lang="ru-RU" sz="3200" b="1" dirty="0"/>
              <a:t>-</a:t>
            </a:r>
            <a:r>
              <a:rPr lang="en-US" sz="3200" b="1" dirty="0"/>
              <a:t>E</a:t>
            </a:r>
            <a:r>
              <a:rPr lang="ru-RU" sz="32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Компиляция</a:t>
            </a:r>
            <a:r>
              <a:rPr lang="en-US" sz="3200" dirty="0"/>
              <a:t> - </a:t>
            </a:r>
            <a:r>
              <a:rPr lang="ru-RU" sz="3200" dirty="0"/>
              <a:t>преобразования кода в ассемблер (-</a:t>
            </a:r>
            <a:r>
              <a:rPr lang="en-US" sz="3200" dirty="0"/>
              <a:t>S</a:t>
            </a:r>
            <a:r>
              <a:rPr lang="ru-RU" sz="32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Ассемблирование</a:t>
            </a:r>
            <a:r>
              <a:rPr lang="en-US" sz="3200" dirty="0"/>
              <a:t> - </a:t>
            </a:r>
            <a:r>
              <a:rPr lang="ru-RU" sz="3200" dirty="0"/>
              <a:t>перевод ассемблерного файла в машинный код – объектный файл (</a:t>
            </a:r>
            <a:r>
              <a:rPr lang="en-US" sz="3200" dirty="0"/>
              <a:t>-c</a:t>
            </a:r>
            <a:r>
              <a:rPr lang="ru-RU" sz="32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Линковка</a:t>
            </a:r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Сохранить все промежуточные файлы</a:t>
            </a:r>
            <a:r>
              <a:rPr lang="en-US" sz="3200" dirty="0"/>
              <a:t>:</a:t>
            </a:r>
            <a:r>
              <a:rPr lang="ru-RU" sz="3200" dirty="0"/>
              <a:t> </a:t>
            </a:r>
            <a:r>
              <a:rPr lang="ru-RU" sz="3200" b="1" dirty="0"/>
              <a:t>--</a:t>
            </a:r>
            <a:r>
              <a:rPr lang="en-US" sz="3200" b="1" dirty="0"/>
              <a:t>save-temps</a:t>
            </a:r>
          </a:p>
        </p:txBody>
      </p:sp>
    </p:spTree>
    <p:extLst>
      <p:ext uri="{BB962C8B-B14F-4D97-AF65-F5344CB8AC3E}">
        <p14:creationId xmlns:p14="http://schemas.microsoft.com/office/powerpoint/2010/main" val="3800248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80F5-C521-44C4-8F64-A9443C422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Ассемблерный код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2F57B-95E1-405D-903B-FDB040431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724393"/>
            <a:ext cx="8915400" cy="3323987"/>
          </a:xfrm>
        </p:spPr>
        <p:txBody>
          <a:bodyPr/>
          <a:lstStyle/>
          <a:p>
            <a:r>
              <a:rPr lang="ru-RU" dirty="0"/>
              <a:t>Как посмотреть</a:t>
            </a:r>
            <a:r>
              <a:rPr lang="en-US" dirty="0"/>
              <a:t>:</a:t>
            </a:r>
          </a:p>
          <a:p>
            <a:endParaRPr lang="ru-RU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На сайте </a:t>
            </a:r>
            <a:r>
              <a:rPr lang="en-US" dirty="0">
                <a:hlinkClick r:id="rId2"/>
              </a:rPr>
              <a:t>godbolt.org</a:t>
            </a:r>
            <a:endParaRPr lang="ru-RU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Скомпилировать исходники</a:t>
            </a:r>
            <a:r>
              <a:rPr lang="en-US" dirty="0"/>
              <a:t>: </a:t>
            </a:r>
          </a:p>
          <a:p>
            <a:r>
              <a:rPr lang="en-US" b="1" dirty="0"/>
              <a:t>	</a:t>
            </a:r>
            <a:r>
              <a:rPr lang="en-US" b="1" dirty="0" err="1"/>
              <a:t>gcc</a:t>
            </a:r>
            <a:r>
              <a:rPr lang="en-US" b="1" dirty="0"/>
              <a:t> –S main.cpp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Дизассемблировать исполняемый файл</a:t>
            </a:r>
            <a:r>
              <a:rPr lang="en-US" dirty="0"/>
              <a:t>:</a:t>
            </a:r>
          </a:p>
          <a:p>
            <a:r>
              <a:rPr lang="en-US" b="1" dirty="0"/>
              <a:t>	</a:t>
            </a:r>
            <a:r>
              <a:rPr lang="en-US" b="1" dirty="0" err="1"/>
              <a:t>objdump</a:t>
            </a:r>
            <a:r>
              <a:rPr lang="en-US" b="1" dirty="0"/>
              <a:t> –d –M intel </a:t>
            </a:r>
            <a:r>
              <a:rPr lang="en-US" b="1" dirty="0" err="1"/>
              <a:t>a.out</a:t>
            </a:r>
            <a:r>
              <a:rPr lang="en-US" b="1" dirty="0"/>
              <a:t> &gt; </a:t>
            </a:r>
            <a:r>
              <a:rPr lang="en-US" b="1" dirty="0" err="1"/>
              <a:t>disassm</a:t>
            </a:r>
            <a:endParaRPr lang="en-US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749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ED3CC-7FEE-42A5-828F-EB62C1F9C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10589261" cy="1354217"/>
          </a:xfrm>
        </p:spPr>
        <p:txBody>
          <a:bodyPr/>
          <a:lstStyle/>
          <a:p>
            <a:r>
              <a:rPr lang="en-US" dirty="0"/>
              <a:t>TLDR; </a:t>
            </a:r>
            <a:r>
              <a:rPr lang="ru-RU" dirty="0"/>
              <a:t>Как разбивать программу на файлы?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4B8B3-008B-4748-B4F0-DFFDB9CEE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9125" y="2895600"/>
            <a:ext cx="8915400" cy="290848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Объявления в </a:t>
            </a:r>
            <a:r>
              <a:rPr lang="en-US" b="1" dirty="0"/>
              <a:t>.</a:t>
            </a:r>
            <a:r>
              <a:rPr lang="en-US" b="1" dirty="0" err="1"/>
              <a:t>hpp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Реализация в </a:t>
            </a:r>
            <a:r>
              <a:rPr lang="en-US" b="1" dirty="0"/>
              <a:t>.</a:t>
            </a:r>
            <a:r>
              <a:rPr lang="en-US" b="1" dirty="0" err="1"/>
              <a:t>cpp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#pragma once </a:t>
            </a:r>
            <a:r>
              <a:rPr lang="en-US" dirty="0"/>
              <a:t>or </a:t>
            </a:r>
            <a:r>
              <a:rPr lang="en-US" b="1" dirty="0"/>
              <a:t>#ifndef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Линковать в один исполняемый файл</a:t>
            </a:r>
            <a:r>
              <a:rPr lang="en-US" dirty="0"/>
              <a:t>:</a:t>
            </a:r>
          </a:p>
          <a:p>
            <a:r>
              <a:rPr lang="ru-RU" dirty="0"/>
              <a:t>	</a:t>
            </a:r>
            <a:r>
              <a:rPr lang="en-US" b="1" dirty="0"/>
              <a:t>g++ main.cpp my_lib.cpp</a:t>
            </a:r>
          </a:p>
          <a:p>
            <a:r>
              <a:rPr lang="ru-RU" dirty="0"/>
              <a:t>	или</a:t>
            </a:r>
            <a:endParaRPr lang="en-US" dirty="0"/>
          </a:p>
          <a:p>
            <a:r>
              <a:rPr lang="ru-RU" dirty="0"/>
              <a:t>	</a:t>
            </a:r>
            <a:r>
              <a:rPr lang="en-US" b="1" dirty="0"/>
              <a:t>g++ </a:t>
            </a:r>
            <a:r>
              <a:rPr lang="en-US" b="1" dirty="0" err="1"/>
              <a:t>main.o</a:t>
            </a:r>
            <a:r>
              <a:rPr lang="en-US" b="1" dirty="0"/>
              <a:t> </a:t>
            </a:r>
            <a:r>
              <a:rPr lang="en-US" b="1" dirty="0" err="1"/>
              <a:t>my_lib.o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00043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Интерпретатор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8452"/>
            <a:ext cx="9787255" cy="23698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Char char="•"/>
              <a:tabLst>
                <a:tab pos="241300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Интерпретатор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компьютерная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программа,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которая </a:t>
            </a:r>
            <a:r>
              <a:rPr sz="2800" dirty="0">
                <a:latin typeface="Microsoft Sans Serif"/>
                <a:cs typeface="Microsoft Sans Serif"/>
              </a:rPr>
              <a:t>выполняет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инструкции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без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компиляции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машинный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язык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Font typeface="Microsoft Sans Serif"/>
              <a:buChar char="•"/>
            </a:pP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Примеры: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Python,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Bash,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Make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Структура</a:t>
            </a:r>
            <a:r>
              <a:rPr spc="-215" dirty="0"/>
              <a:t> </a:t>
            </a:r>
            <a:r>
              <a:rPr spc="-25" dirty="0"/>
              <a:t>компилятора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1889" y="3942505"/>
            <a:ext cx="9881870" cy="262636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marR="245110" indent="-228600">
              <a:lnSpc>
                <a:spcPts val="3020"/>
              </a:lnSpc>
              <a:spcBef>
                <a:spcPts val="484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800" b="1" dirty="0">
                <a:latin typeface="Arial"/>
                <a:cs typeface="Arial"/>
              </a:rPr>
              <a:t>Frontend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трансляция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исходного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кода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промежуточное </a:t>
            </a:r>
            <a:r>
              <a:rPr sz="2800" dirty="0">
                <a:latin typeface="Microsoft Sans Serif"/>
                <a:cs typeface="Microsoft Sans Serif"/>
              </a:rPr>
              <a:t>представление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(</a:t>
            </a:r>
            <a:r>
              <a:rPr sz="2800" b="1" dirty="0">
                <a:latin typeface="Arial"/>
                <a:cs typeface="Arial"/>
              </a:rPr>
              <a:t>IR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b="1" dirty="0">
                <a:latin typeface="Arial"/>
                <a:cs typeface="Arial"/>
              </a:rPr>
              <a:t>I</a:t>
            </a:r>
            <a:r>
              <a:rPr sz="2800" dirty="0">
                <a:latin typeface="Microsoft Sans Serif"/>
                <a:cs typeface="Microsoft Sans Serif"/>
              </a:rPr>
              <a:t>ntermediate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b="1" spc="-10" dirty="0">
                <a:latin typeface="Arial"/>
                <a:cs typeface="Arial"/>
              </a:rPr>
              <a:t>R</a:t>
            </a:r>
            <a:r>
              <a:rPr sz="2800" spc="-10" dirty="0">
                <a:latin typeface="Microsoft Sans Serif"/>
                <a:cs typeface="Microsoft Sans Serif"/>
              </a:rPr>
              <a:t>epresentation)</a:t>
            </a:r>
            <a:endParaRPr sz="280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Char char="•"/>
              <a:tabLst>
                <a:tab pos="241300" algn="l"/>
                <a:tab pos="339725" algn="l"/>
              </a:tabLst>
            </a:pPr>
            <a:r>
              <a:rPr sz="2800" dirty="0">
                <a:latin typeface="Microsoft Sans Serif"/>
                <a:cs typeface="Microsoft Sans Serif"/>
              </a:rPr>
              <a:t>	</a:t>
            </a:r>
            <a:r>
              <a:rPr sz="2800" b="1" dirty="0">
                <a:latin typeface="Arial"/>
                <a:cs typeface="Arial"/>
              </a:rPr>
              <a:t>Optimizer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оптимизация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промежуточного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представления </a:t>
            </a:r>
            <a:r>
              <a:rPr sz="2800" spc="-20" dirty="0">
                <a:latin typeface="Microsoft Sans Serif"/>
                <a:cs typeface="Microsoft Sans Serif"/>
              </a:rPr>
              <a:t>кода</a:t>
            </a:r>
            <a:endParaRPr sz="2800">
              <a:latin typeface="Microsoft Sans Serif"/>
              <a:cs typeface="Microsoft Sans Serif"/>
            </a:endParaRPr>
          </a:p>
          <a:p>
            <a:pPr marL="240665" marR="97790" indent="-228600">
              <a:lnSpc>
                <a:spcPts val="3020"/>
              </a:lnSpc>
              <a:spcBef>
                <a:spcPts val="1010"/>
              </a:spcBef>
              <a:buChar char="•"/>
              <a:tabLst>
                <a:tab pos="240665" algn="l"/>
                <a:tab pos="339725" algn="l"/>
              </a:tabLst>
            </a:pPr>
            <a:r>
              <a:rPr sz="2800" dirty="0">
                <a:latin typeface="Microsoft Sans Serif"/>
                <a:cs typeface="Microsoft Sans Serif"/>
              </a:rPr>
              <a:t>	</a:t>
            </a:r>
            <a:r>
              <a:rPr sz="2800" b="1" dirty="0">
                <a:latin typeface="Arial"/>
                <a:cs typeface="Arial"/>
              </a:rPr>
              <a:t>Backend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трансляция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промежуточного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представления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в </a:t>
            </a:r>
            <a:r>
              <a:rPr sz="2800" dirty="0">
                <a:latin typeface="Microsoft Sans Serif"/>
                <a:cs typeface="Microsoft Sans Serif"/>
              </a:rPr>
              <a:t>исполняемый</a:t>
            </a:r>
            <a:r>
              <a:rPr sz="2800" spc="-19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код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655" y="1347106"/>
            <a:ext cx="10738685" cy="26125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Преимущество</a:t>
            </a:r>
            <a:r>
              <a:rPr spc="-229" dirty="0"/>
              <a:t> </a:t>
            </a:r>
            <a:r>
              <a:rPr spc="-20" dirty="0"/>
              <a:t>такой</a:t>
            </a:r>
            <a:r>
              <a:rPr spc="-225" dirty="0"/>
              <a:t> </a:t>
            </a:r>
            <a:r>
              <a:rPr spc="-30" dirty="0"/>
              <a:t>декомпозиции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745" y="2653391"/>
            <a:ext cx="10396507" cy="18466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Frontend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302" y="3211284"/>
            <a:ext cx="9907391" cy="16875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Preprocessing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4124"/>
            <a:ext cx="7682865" cy="3145092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76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g++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-</a:t>
            </a:r>
            <a:r>
              <a:rPr sz="2800" dirty="0">
                <a:latin typeface="Microsoft Sans Serif"/>
                <a:cs typeface="Microsoft Sans Serif"/>
              </a:rPr>
              <a:t>E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main.cpp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Only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preprocess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the</a:t>
            </a:r>
            <a:r>
              <a:rPr sz="2800" spc="-20" dirty="0">
                <a:latin typeface="Microsoft Sans Serif"/>
                <a:cs typeface="Microsoft Sans Serif"/>
              </a:rPr>
              <a:t> file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g++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-</a:t>
            </a:r>
            <a:r>
              <a:rPr sz="2800" dirty="0">
                <a:latin typeface="Microsoft Sans Serif"/>
                <a:cs typeface="Microsoft Sans Serif"/>
              </a:rPr>
              <a:t>DDEBUG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main.cpp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define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something</a:t>
            </a:r>
            <a:endParaRPr sz="2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20"/>
              </a:spcBef>
              <a:buFont typeface="Microsoft Sans Serif"/>
              <a:buChar char="•"/>
            </a:pP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It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expands: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5"/>
              </a:spcBef>
              <a:buChar char="•"/>
              <a:tabLst>
                <a:tab pos="241935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#include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#define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/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#ifdef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#else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#endif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/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#i</a:t>
            </a:r>
            <a:r>
              <a:rPr lang="en-US" sz="2800" spc="-25" dirty="0">
                <a:latin typeface="Microsoft Sans Serif"/>
                <a:cs typeface="Microsoft Sans Serif"/>
              </a:rPr>
              <a:t>f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Lexer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4" y="2680605"/>
            <a:ext cx="10877548" cy="27717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Parser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141" y="1973034"/>
            <a:ext cx="11763049" cy="48849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Python</a:t>
            </a:r>
            <a:r>
              <a:rPr spc="-50" dirty="0"/>
              <a:t> </a:t>
            </a:r>
            <a:r>
              <a:rPr dirty="0"/>
              <a:t>(lexer</a:t>
            </a:r>
            <a:r>
              <a:rPr spc="-45" dirty="0"/>
              <a:t> </a:t>
            </a:r>
            <a:r>
              <a:rPr dirty="0"/>
              <a:t>+</a:t>
            </a:r>
            <a:r>
              <a:rPr spc="-45" dirty="0"/>
              <a:t> </a:t>
            </a:r>
            <a:r>
              <a:rPr spc="-10" dirty="0"/>
              <a:t>parser)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284" y="789212"/>
            <a:ext cx="11219058" cy="60483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Middle-</a:t>
            </a:r>
            <a:r>
              <a:rPr spc="-25" dirty="0"/>
              <a:t>end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098" y="3075212"/>
            <a:ext cx="10591798" cy="21240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Semantic</a:t>
            </a:r>
            <a:r>
              <a:rPr spc="-155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98" y="3143250"/>
            <a:ext cx="10473260" cy="18764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Code</a:t>
            </a:r>
            <a:r>
              <a:rPr spc="-75" dirty="0"/>
              <a:t> </a:t>
            </a:r>
            <a:r>
              <a:rPr spc="-10" dirty="0"/>
              <a:t>optimization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724393"/>
            <a:ext cx="8915400" cy="3995966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40"/>
              </a:spcBef>
              <a:buChar char="•"/>
              <a:tabLst>
                <a:tab pos="240029" algn="l"/>
              </a:tabLst>
            </a:pPr>
            <a:r>
              <a:rPr dirty="0"/>
              <a:t>Peephole</a:t>
            </a:r>
            <a:r>
              <a:rPr spc="-100" dirty="0"/>
              <a:t> </a:t>
            </a:r>
            <a:r>
              <a:rPr spc="-10" dirty="0"/>
              <a:t>optimization</a:t>
            </a: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Char char="•"/>
              <a:tabLst>
                <a:tab pos="240029" algn="l"/>
              </a:tabLst>
            </a:pPr>
            <a:r>
              <a:rPr dirty="0"/>
              <a:t>Loop</a:t>
            </a:r>
            <a:r>
              <a:rPr spc="5" dirty="0"/>
              <a:t> </a:t>
            </a:r>
            <a:r>
              <a:rPr spc="-10" dirty="0"/>
              <a:t>optimizations</a:t>
            </a: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Char char="•"/>
              <a:tabLst>
                <a:tab pos="240029" algn="l"/>
              </a:tabLst>
            </a:pPr>
            <a:r>
              <a:rPr spc="-10" dirty="0" err="1"/>
              <a:t>Inlining</a:t>
            </a:r>
            <a:endParaRPr spc="-10" dirty="0"/>
          </a:p>
          <a:p>
            <a:pPr marL="240029" indent="-227329">
              <a:lnSpc>
                <a:spcPct val="100000"/>
              </a:lnSpc>
              <a:spcBef>
                <a:spcPts val="640"/>
              </a:spcBef>
              <a:buChar char="•"/>
              <a:tabLst>
                <a:tab pos="240029" algn="l"/>
              </a:tabLst>
            </a:pPr>
            <a:r>
              <a:rPr dirty="0"/>
              <a:t>Constant </a:t>
            </a:r>
            <a:r>
              <a:rPr spc="-10" dirty="0"/>
              <a:t>propagation</a:t>
            </a: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Char char="•"/>
              <a:tabLst>
                <a:tab pos="240029" algn="l"/>
              </a:tabLst>
            </a:pPr>
            <a:r>
              <a:rPr spc="-10" dirty="0"/>
              <a:t>Dead-</a:t>
            </a:r>
            <a:r>
              <a:rPr dirty="0"/>
              <a:t>code</a:t>
            </a:r>
            <a:r>
              <a:rPr spc="40" dirty="0"/>
              <a:t> </a:t>
            </a:r>
            <a:r>
              <a:rPr spc="-10" dirty="0"/>
              <a:t>elimination</a:t>
            </a:r>
          </a:p>
          <a:p>
            <a:pPr>
              <a:lnSpc>
                <a:spcPct val="100000"/>
              </a:lnSpc>
              <a:spcBef>
                <a:spcPts val="1470"/>
              </a:spcBef>
              <a:buFont typeface="Microsoft Sans Serif"/>
              <a:buChar char="•"/>
            </a:pPr>
            <a:endParaRPr spc="-10" dirty="0"/>
          </a:p>
          <a:p>
            <a:pPr marL="240029" indent="-227329">
              <a:lnSpc>
                <a:spcPct val="100000"/>
              </a:lnSpc>
              <a:buClr>
                <a:srgbClr val="000000"/>
              </a:buClr>
              <a:buChar char="•"/>
              <a:tabLst>
                <a:tab pos="240029" algn="l"/>
              </a:tabLst>
            </a:pPr>
            <a:r>
              <a:rPr u="sng" spc="-10" dirty="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hlinkClick r:id="rId2"/>
              </a:rPr>
              <a:t>https://gcc.gnu.org/onlinedocs/gcc/Optimize-Options.html</a:t>
            </a: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Char char="•"/>
              <a:tabLst>
                <a:tab pos="240029" algn="l"/>
              </a:tabLst>
            </a:pPr>
            <a:r>
              <a:rPr spc="-20" dirty="0"/>
              <a:t>-</a:t>
            </a:r>
            <a:r>
              <a:rPr dirty="0"/>
              <a:t>O0,</a:t>
            </a:r>
            <a:r>
              <a:rPr spc="10" dirty="0"/>
              <a:t> </a:t>
            </a:r>
            <a:r>
              <a:rPr spc="-20" dirty="0"/>
              <a:t>-</a:t>
            </a:r>
            <a:r>
              <a:rPr dirty="0"/>
              <a:t>O1,</a:t>
            </a:r>
            <a:r>
              <a:rPr spc="10" dirty="0"/>
              <a:t> </a:t>
            </a:r>
            <a:r>
              <a:rPr spc="-20" dirty="0"/>
              <a:t>-</a:t>
            </a:r>
            <a:r>
              <a:rPr dirty="0"/>
              <a:t>O2,</a:t>
            </a:r>
            <a:r>
              <a:rPr spc="10" dirty="0"/>
              <a:t> </a:t>
            </a:r>
            <a:r>
              <a:rPr spc="-20" dirty="0"/>
              <a:t>-</a:t>
            </a:r>
            <a:r>
              <a:rPr dirty="0"/>
              <a:t>O3,</a:t>
            </a:r>
            <a:r>
              <a:rPr spc="10" dirty="0"/>
              <a:t> </a:t>
            </a:r>
            <a:r>
              <a:rPr spc="-20" dirty="0"/>
              <a:t>-</a:t>
            </a:r>
            <a:r>
              <a:rPr dirty="0"/>
              <a:t>Ofast,</a:t>
            </a:r>
            <a:r>
              <a:rPr spc="10" dirty="0"/>
              <a:t> </a:t>
            </a:r>
            <a:r>
              <a:rPr spc="-20" dirty="0"/>
              <a:t>-</a:t>
            </a:r>
            <a:r>
              <a:rPr spc="-25" dirty="0"/>
              <a:t>Og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Speed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operations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9723" y="1571056"/>
            <a:ext cx="6004460" cy="486047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04631" y="6494300"/>
            <a:ext cx="6596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Microsoft Sans Serif"/>
                <a:cs typeface="Microsoft Sans Serif"/>
                <a:hlinkClick r:id="rId3"/>
              </a:rPr>
              <a:t>http://ithare.com/infographics-</a:t>
            </a:r>
            <a:r>
              <a:rPr sz="1800" spc="-20" dirty="0">
                <a:latin typeface="Microsoft Sans Serif"/>
                <a:cs typeface="Microsoft Sans Serif"/>
                <a:hlinkClick r:id="rId3"/>
              </a:rPr>
              <a:t>operation-costs-in-cpu-clock-</a:t>
            </a:r>
            <a:r>
              <a:rPr sz="1800" spc="-10" dirty="0">
                <a:latin typeface="Microsoft Sans Serif"/>
                <a:cs typeface="Microsoft Sans Serif"/>
                <a:hlinkClick r:id="rId3"/>
              </a:rPr>
              <a:t>cycles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Warnings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808452"/>
            <a:ext cx="670306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100"/>
              </a:spcBef>
              <a:buChar char="•"/>
              <a:tabLst>
                <a:tab pos="241935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-</a:t>
            </a:r>
            <a:r>
              <a:rPr sz="2800" dirty="0">
                <a:latin typeface="Microsoft Sans Serif"/>
                <a:cs typeface="Microsoft Sans Serif"/>
              </a:rPr>
              <a:t>Wall,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–Wextra,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-</a:t>
            </a:r>
            <a:r>
              <a:rPr sz="2800" spc="-10" dirty="0" err="1">
                <a:latin typeface="Microsoft Sans Serif"/>
                <a:cs typeface="Microsoft Sans Serif"/>
              </a:rPr>
              <a:t>Werror</a:t>
            </a:r>
            <a:r>
              <a:rPr lang="en-US" sz="2800" spc="-10" dirty="0">
                <a:latin typeface="Microsoft Sans Serif"/>
                <a:cs typeface="Microsoft Sans Serif"/>
              </a:rPr>
              <a:t>, -</a:t>
            </a:r>
            <a:r>
              <a:rPr lang="en-US" sz="2800" spc="-10" dirty="0" err="1">
                <a:latin typeface="Microsoft Sans Serif"/>
                <a:cs typeface="Microsoft Sans Serif"/>
              </a:rPr>
              <a:t>Wpedantic</a:t>
            </a:r>
            <a:endParaRPr sz="28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341596"/>
            <a:ext cx="91573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100"/>
              </a:spcBef>
              <a:buChar char="•"/>
              <a:tabLst>
                <a:tab pos="241935" algn="l"/>
              </a:tabLst>
            </a:pPr>
            <a:r>
              <a:rPr sz="2800" u="sng" spc="-25" dirty="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Microsoft Sans Serif"/>
                <a:cs typeface="Microsoft Sans Serif"/>
                <a:hlinkClick r:id="rId2"/>
              </a:rPr>
              <a:t>https://gcc.gnu.org/onlinedocs/gcc/Warning-</a:t>
            </a:r>
            <a:r>
              <a:rPr sz="2800" u="sng" spc="-10" dirty="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Microsoft Sans Serif"/>
                <a:cs typeface="Microsoft Sans Serif"/>
                <a:hlinkClick r:id="rId2"/>
              </a:rPr>
              <a:t>Options.html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Binary</a:t>
            </a:r>
            <a:r>
              <a:rPr spc="-75" dirty="0"/>
              <a:t> </a:t>
            </a:r>
            <a:r>
              <a:rPr spc="-10" dirty="0"/>
              <a:t>Translation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4124"/>
            <a:ext cx="4056379" cy="155892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76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Apple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Rosetta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2006: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PowerPC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-</a:t>
            </a:r>
            <a:r>
              <a:rPr sz="2800" dirty="0">
                <a:latin typeface="Microsoft Sans Serif"/>
                <a:cs typeface="Microsoft Sans Serif"/>
              </a:rPr>
              <a:t>&gt;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Intel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2020: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Intel</a:t>
            </a:r>
            <a:r>
              <a:rPr sz="2800" spc="-20" dirty="0">
                <a:latin typeface="Microsoft Sans Serif"/>
                <a:cs typeface="Microsoft Sans Serif"/>
              </a:rPr>
              <a:t> -</a:t>
            </a:r>
            <a:r>
              <a:rPr sz="2800" dirty="0">
                <a:latin typeface="Microsoft Sans Serif"/>
                <a:cs typeface="Microsoft Sans Serif"/>
              </a:rPr>
              <a:t>&gt;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ARM</a:t>
            </a:r>
            <a:r>
              <a:rPr sz="2800" spc="-20" dirty="0">
                <a:latin typeface="Microsoft Sans Serif"/>
                <a:cs typeface="Microsoft Sans Serif"/>
              </a:rPr>
              <a:t> (M1)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3356" y="711879"/>
            <a:ext cx="6342877" cy="581886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1" y="979321"/>
            <a:ext cx="5715000" cy="156966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76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Dragon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Book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Engineering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compiler</a:t>
            </a:r>
            <a:endParaRPr lang="ru-RU" sz="2800" spc="-1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5"/>
              </a:spcBef>
              <a:buChar char="•"/>
              <a:tabLst>
                <a:tab pos="241935" algn="l"/>
              </a:tabLst>
            </a:pPr>
            <a:r>
              <a:rPr lang="ru-RU" sz="2800" spc="-10" dirty="0">
                <a:latin typeface="Microsoft Sans Serif"/>
                <a:cs typeface="Microsoft Sans Serif"/>
              </a:rPr>
              <a:t>Оптимизирующие компиляторы</a:t>
            </a:r>
            <a:endParaRPr sz="2800" dirty="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0824" y="2693041"/>
            <a:ext cx="3153648" cy="3947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541" y="2676774"/>
            <a:ext cx="2646556" cy="394779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77580AB-9AB0-4264-A0B5-BF30509E7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199" y="2062234"/>
            <a:ext cx="3162208" cy="479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EBFBF1FB-D424-4AAB-8D28-5B5549AE3611}"/>
              </a:ext>
            </a:extLst>
          </p:cNvPr>
          <p:cNvSpPr txBox="1">
            <a:spLocks/>
          </p:cNvSpPr>
          <p:nvPr/>
        </p:nvSpPr>
        <p:spPr>
          <a:xfrm>
            <a:off x="462338" y="135500"/>
            <a:ext cx="54864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5400" spc="-10" dirty="0"/>
              <a:t>Что почитать</a:t>
            </a:r>
            <a:endParaRPr lang="en-US" sz="5400" spc="-1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346-ACF6-4B19-ACB5-4B84FF06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148169"/>
            <a:ext cx="9382125" cy="695960"/>
          </a:xfrm>
        </p:spPr>
        <p:txBody>
          <a:bodyPr/>
          <a:lstStyle/>
          <a:p>
            <a:r>
              <a:rPr lang="ru-RU" dirty="0"/>
              <a:t>Компиляция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72EE3-729D-4864-9FE7-074FB46DCC2E}"/>
              </a:ext>
            </a:extLst>
          </p:cNvPr>
          <p:cNvSpPr/>
          <p:nvPr/>
        </p:nvSpPr>
        <p:spPr>
          <a:xfrm>
            <a:off x="1404938" y="1469566"/>
            <a:ext cx="2895599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13954-DD28-430F-9A21-7ADC80E2205F}"/>
              </a:ext>
            </a:extLst>
          </p:cNvPr>
          <p:cNvSpPr txBox="1"/>
          <p:nvPr/>
        </p:nvSpPr>
        <p:spPr>
          <a:xfrm>
            <a:off x="1376358" y="1454067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main.cpp</a:t>
            </a:r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6B711-22DD-4C20-8B4B-FC9D4359D1C5}"/>
              </a:ext>
            </a:extLst>
          </p:cNvPr>
          <p:cNvSpPr/>
          <p:nvPr/>
        </p:nvSpPr>
        <p:spPr>
          <a:xfrm>
            <a:off x="1647822" y="2611456"/>
            <a:ext cx="2286000" cy="2133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0F7C6-A3A0-405A-B0A0-6B962856E4EA}"/>
              </a:ext>
            </a:extLst>
          </p:cNvPr>
          <p:cNvSpPr txBox="1"/>
          <p:nvPr/>
        </p:nvSpPr>
        <p:spPr>
          <a:xfrm>
            <a:off x="1662109" y="264003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main() {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E141B-D00F-4B8C-99E0-28D0A61D1DF3}"/>
              </a:ext>
            </a:extLst>
          </p:cNvPr>
          <p:cNvSpPr txBox="1"/>
          <p:nvPr/>
        </p:nvSpPr>
        <p:spPr>
          <a:xfrm>
            <a:off x="1947858" y="3204209"/>
            <a:ext cx="176212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33669-C797-4C23-AD8B-93E81716B807}"/>
              </a:ext>
            </a:extLst>
          </p:cNvPr>
          <p:cNvSpPr txBox="1"/>
          <p:nvPr/>
        </p:nvSpPr>
        <p:spPr>
          <a:xfrm>
            <a:off x="1947859" y="3658432"/>
            <a:ext cx="1762125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important_func</a:t>
            </a:r>
            <a:r>
              <a:rPr lang="ru-RU" sz="1600" dirty="0"/>
              <a:t>()</a:t>
            </a:r>
            <a:r>
              <a:rPr lang="en-US" sz="1600" dirty="0"/>
              <a:t>;</a:t>
            </a: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FCD45-469D-48BC-87FF-D0426EB02ACB}"/>
              </a:ext>
            </a:extLst>
          </p:cNvPr>
          <p:cNvSpPr txBox="1"/>
          <p:nvPr/>
        </p:nvSpPr>
        <p:spPr>
          <a:xfrm>
            <a:off x="1728784" y="421165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A52A50-0BDD-4980-A806-EC38F878563F}"/>
              </a:ext>
            </a:extLst>
          </p:cNvPr>
          <p:cNvSpPr txBox="1"/>
          <p:nvPr/>
        </p:nvSpPr>
        <p:spPr>
          <a:xfrm>
            <a:off x="4333876" y="5334000"/>
            <a:ext cx="3971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g++ -c main.cpp</a:t>
            </a:r>
          </a:p>
          <a:p>
            <a:r>
              <a:rPr lang="en-US" dirty="0" err="1"/>
              <a:t>objdump</a:t>
            </a:r>
            <a:r>
              <a:rPr lang="en-US" dirty="0"/>
              <a:t> –M intel –d </a:t>
            </a:r>
            <a:r>
              <a:rPr lang="en-US" dirty="0" err="1"/>
              <a:t>main.o</a:t>
            </a:r>
            <a:r>
              <a:rPr lang="en-US" dirty="0"/>
              <a:t> &gt; dump</a:t>
            </a:r>
          </a:p>
          <a:p>
            <a:r>
              <a:rPr lang="ru-RU" dirty="0"/>
              <a:t>или</a:t>
            </a:r>
          </a:p>
          <a:p>
            <a:r>
              <a:rPr lang="en-US" dirty="0"/>
              <a:t>g++ -S main.cpp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9634C6-B8BD-4005-8484-7B6D648CF0A2}"/>
              </a:ext>
            </a:extLst>
          </p:cNvPr>
          <p:cNvSpPr txBox="1"/>
          <p:nvPr/>
        </p:nvSpPr>
        <p:spPr>
          <a:xfrm>
            <a:off x="1645440" y="1806296"/>
            <a:ext cx="2286000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F3B4D3-CAE0-4A02-B939-44203D800A2E}"/>
              </a:ext>
            </a:extLst>
          </p:cNvPr>
          <p:cNvSpPr txBox="1"/>
          <p:nvPr/>
        </p:nvSpPr>
        <p:spPr>
          <a:xfrm>
            <a:off x="1647822" y="2221021"/>
            <a:ext cx="2286000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void </a:t>
            </a:r>
            <a:r>
              <a:rPr lang="en-US" sz="1600" dirty="0" err="1"/>
              <a:t>important_func</a:t>
            </a:r>
            <a:r>
              <a:rPr lang="ru-RU" sz="1600" dirty="0"/>
              <a:t>()</a:t>
            </a:r>
            <a:r>
              <a:rPr lang="en-US" sz="1600" dirty="0"/>
              <a:t>;</a:t>
            </a:r>
            <a:endParaRPr lang="ru-RU" sz="16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46856E-505C-469C-867B-84DF87F86A4F}"/>
              </a:ext>
            </a:extLst>
          </p:cNvPr>
          <p:cNvSpPr/>
          <p:nvPr/>
        </p:nvSpPr>
        <p:spPr>
          <a:xfrm>
            <a:off x="6186488" y="1469566"/>
            <a:ext cx="5219700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86E140-7227-4AD6-AA9B-3147FBD36D64}"/>
              </a:ext>
            </a:extLst>
          </p:cNvPr>
          <p:cNvSpPr txBox="1"/>
          <p:nvPr/>
        </p:nvSpPr>
        <p:spPr>
          <a:xfrm>
            <a:off x="6157908" y="1454067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main.o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DAD37E-E288-4BA8-B9CD-024AD5AC4501}"/>
              </a:ext>
            </a:extLst>
          </p:cNvPr>
          <p:cNvSpPr txBox="1"/>
          <p:nvPr/>
        </p:nvSpPr>
        <p:spPr>
          <a:xfrm>
            <a:off x="6210300" y="1835067"/>
            <a:ext cx="51958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0000000000000000 &lt;main&gt;:</a:t>
            </a:r>
          </a:p>
          <a:p>
            <a:r>
              <a:rPr lang="en-US" sz="1200" dirty="0"/>
              <a:t>   0:   f3 0f 1e fa            endbr64</a:t>
            </a:r>
          </a:p>
          <a:p>
            <a:r>
              <a:rPr lang="en-US" sz="1200" dirty="0"/>
              <a:t>   4:   55                        push   </a:t>
            </a:r>
            <a:r>
              <a:rPr lang="en-US" sz="1200" dirty="0" err="1"/>
              <a:t>rbp</a:t>
            </a:r>
            <a:endParaRPr lang="en-US" sz="1200" dirty="0"/>
          </a:p>
          <a:p>
            <a:r>
              <a:rPr lang="en-US" sz="1200" dirty="0"/>
              <a:t>   5:   48 89 e5              mov    </a:t>
            </a:r>
            <a:r>
              <a:rPr lang="en-US" sz="1200" dirty="0" err="1"/>
              <a:t>rbp,rsp</a:t>
            </a:r>
            <a:endParaRPr lang="en-US" sz="1200" dirty="0"/>
          </a:p>
          <a:p>
            <a:r>
              <a:rPr lang="en-US" sz="1200" dirty="0"/>
              <a:t>   </a:t>
            </a:r>
            <a:r>
              <a:rPr lang="en-US" sz="1200" b="1" dirty="0">
                <a:solidFill>
                  <a:srgbClr val="00B050"/>
                </a:solidFill>
              </a:rPr>
              <a:t>8:   e8 00 00 00 00    call   d &lt;main+0xd&gt;        # _Z11useful_funcv</a:t>
            </a:r>
          </a:p>
          <a:p>
            <a:r>
              <a:rPr lang="en-US" sz="1200" dirty="0"/>
              <a:t>   </a:t>
            </a:r>
            <a:r>
              <a:rPr lang="en-US" sz="1200" b="1" dirty="0">
                <a:solidFill>
                  <a:srgbClr val="7030A0"/>
                </a:solidFill>
              </a:rPr>
              <a:t>d:   e8 00 00 00 00    call   12 &lt;main+0x12&gt; &gt; # _Z14important_funcv</a:t>
            </a:r>
          </a:p>
          <a:p>
            <a:r>
              <a:rPr lang="en-US" sz="1200" dirty="0"/>
              <a:t>  12:   b8 00 00 00 00   mov    eax,0x0</a:t>
            </a:r>
          </a:p>
          <a:p>
            <a:r>
              <a:rPr lang="en-US" sz="1200" dirty="0"/>
              <a:t>  17:   5d                       pop    </a:t>
            </a:r>
            <a:r>
              <a:rPr lang="en-US" sz="1200" dirty="0" err="1"/>
              <a:t>rbp</a:t>
            </a:r>
            <a:endParaRPr lang="en-US" sz="1200" dirty="0"/>
          </a:p>
          <a:p>
            <a:r>
              <a:rPr lang="en-US" sz="1200" dirty="0"/>
              <a:t>  18:   c3                       ret </a:t>
            </a:r>
            <a:endParaRPr lang="ru-RU" sz="1200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2B386E4-D8AA-4B46-BCA7-423973B26FF5}"/>
              </a:ext>
            </a:extLst>
          </p:cNvPr>
          <p:cNvSpPr/>
          <p:nvPr/>
        </p:nvSpPr>
        <p:spPr>
          <a:xfrm>
            <a:off x="4648200" y="2567204"/>
            <a:ext cx="1447800" cy="1131779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959322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346-ACF6-4B19-ACB5-4B84FF06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27014"/>
            <a:ext cx="2743200" cy="695960"/>
          </a:xfrm>
        </p:spPr>
        <p:txBody>
          <a:bodyPr/>
          <a:lstStyle/>
          <a:p>
            <a:r>
              <a:rPr lang="ru-RU" dirty="0"/>
              <a:t>Линковка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A52A50-0BDD-4980-A806-EC38F878563F}"/>
              </a:ext>
            </a:extLst>
          </p:cNvPr>
          <p:cNvSpPr txBox="1"/>
          <p:nvPr/>
        </p:nvSpPr>
        <p:spPr>
          <a:xfrm>
            <a:off x="4638674" y="6172200"/>
            <a:ext cx="2914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g++ </a:t>
            </a:r>
            <a:r>
              <a:rPr lang="en-US" dirty="0" err="1"/>
              <a:t>main.o</a:t>
            </a:r>
            <a:r>
              <a:rPr lang="en-US" dirty="0"/>
              <a:t> </a:t>
            </a:r>
            <a:r>
              <a:rPr lang="en-US" dirty="0" err="1"/>
              <a:t>my_lib.o</a:t>
            </a:r>
            <a:r>
              <a:rPr lang="en-US" dirty="0"/>
              <a:t> </a:t>
            </a:r>
            <a:r>
              <a:rPr lang="en-US" dirty="0" err="1"/>
              <a:t>src.o</a:t>
            </a:r>
            <a:r>
              <a:rPr lang="en-US" dirty="0"/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46856E-505C-469C-867B-84DF87F86A4F}"/>
              </a:ext>
            </a:extLst>
          </p:cNvPr>
          <p:cNvSpPr/>
          <p:nvPr/>
        </p:nvSpPr>
        <p:spPr>
          <a:xfrm>
            <a:off x="152400" y="869153"/>
            <a:ext cx="5219700" cy="21788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86E140-7227-4AD6-AA9B-3147FBD36D64}"/>
              </a:ext>
            </a:extLst>
          </p:cNvPr>
          <p:cNvSpPr txBox="1"/>
          <p:nvPr/>
        </p:nvSpPr>
        <p:spPr>
          <a:xfrm>
            <a:off x="123820" y="853654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main.o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DAD37E-E288-4BA8-B9CD-024AD5AC4501}"/>
              </a:ext>
            </a:extLst>
          </p:cNvPr>
          <p:cNvSpPr txBox="1"/>
          <p:nvPr/>
        </p:nvSpPr>
        <p:spPr>
          <a:xfrm>
            <a:off x="176212" y="1234654"/>
            <a:ext cx="51958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0000000000000000 &lt;main&gt;:</a:t>
            </a:r>
          </a:p>
          <a:p>
            <a:r>
              <a:rPr lang="en-US" sz="1200" dirty="0"/>
              <a:t>   0:   f3 0f 1e fa            endbr64</a:t>
            </a:r>
          </a:p>
          <a:p>
            <a:r>
              <a:rPr lang="en-US" sz="1200" dirty="0"/>
              <a:t>   4:   55                        push   </a:t>
            </a:r>
            <a:r>
              <a:rPr lang="en-US" sz="1200" dirty="0" err="1"/>
              <a:t>rbp</a:t>
            </a:r>
            <a:endParaRPr lang="en-US" sz="1200" dirty="0"/>
          </a:p>
          <a:p>
            <a:r>
              <a:rPr lang="en-US" sz="1200" dirty="0"/>
              <a:t>   5:   48 89 e5              mov    </a:t>
            </a:r>
            <a:r>
              <a:rPr lang="en-US" sz="1200" dirty="0" err="1"/>
              <a:t>rbp,rsp</a:t>
            </a:r>
            <a:endParaRPr lang="en-US" sz="1200" dirty="0"/>
          </a:p>
          <a:p>
            <a:r>
              <a:rPr lang="en-US" sz="1200" dirty="0"/>
              <a:t>   </a:t>
            </a:r>
            <a:r>
              <a:rPr lang="en-US" sz="1200" b="1" dirty="0">
                <a:solidFill>
                  <a:srgbClr val="00B050"/>
                </a:solidFill>
              </a:rPr>
              <a:t>8:   e8 00 00 00 00    call   d &lt;main+0xd&gt;        # _Z11useful_funcv</a:t>
            </a:r>
          </a:p>
          <a:p>
            <a:r>
              <a:rPr lang="en-US" sz="1200" dirty="0"/>
              <a:t>   </a:t>
            </a:r>
            <a:r>
              <a:rPr lang="en-US" sz="1200" b="1" dirty="0">
                <a:solidFill>
                  <a:srgbClr val="7030A0"/>
                </a:solidFill>
              </a:rPr>
              <a:t>d:   e8 00 00 00 00    call   12 &lt;main+0x12&gt; &gt; # _Z14important_funcv</a:t>
            </a:r>
          </a:p>
          <a:p>
            <a:r>
              <a:rPr lang="en-US" sz="1200" dirty="0"/>
              <a:t>  12:   b8 00 00 00 00   mov    eax,0x0</a:t>
            </a:r>
          </a:p>
          <a:p>
            <a:r>
              <a:rPr lang="en-US" sz="1200" dirty="0"/>
              <a:t>  17:   5d                       pop    </a:t>
            </a:r>
            <a:r>
              <a:rPr lang="en-US" sz="1200" dirty="0" err="1"/>
              <a:t>rbp</a:t>
            </a:r>
            <a:endParaRPr lang="en-US" sz="1200" dirty="0"/>
          </a:p>
          <a:p>
            <a:r>
              <a:rPr lang="en-US" sz="1200" dirty="0"/>
              <a:t>  18:   c3                       ret </a:t>
            </a:r>
            <a:endParaRPr lang="ru-RU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77B54B-1F94-479F-9041-0E70833C0677}"/>
              </a:ext>
            </a:extLst>
          </p:cNvPr>
          <p:cNvSpPr/>
          <p:nvPr/>
        </p:nvSpPr>
        <p:spPr>
          <a:xfrm>
            <a:off x="6019800" y="853654"/>
            <a:ext cx="5219700" cy="21788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F84C64-83A4-4E3E-B86F-F1818EA7802C}"/>
              </a:ext>
            </a:extLst>
          </p:cNvPr>
          <p:cNvSpPr txBox="1"/>
          <p:nvPr/>
        </p:nvSpPr>
        <p:spPr>
          <a:xfrm>
            <a:off x="5991220" y="838155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my_lib.o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36CCF9-034D-46C9-9832-C74597B17400}"/>
              </a:ext>
            </a:extLst>
          </p:cNvPr>
          <p:cNvSpPr txBox="1"/>
          <p:nvPr/>
        </p:nvSpPr>
        <p:spPr>
          <a:xfrm>
            <a:off x="6043612" y="1219155"/>
            <a:ext cx="51958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0000000000000000 &lt;_Z11useful_funcv&gt;:</a:t>
            </a:r>
          </a:p>
          <a:p>
            <a:r>
              <a:rPr lang="en-US" sz="1200" dirty="0"/>
              <a:t>   0:   f3 0f 1e fa            endbr64</a:t>
            </a:r>
          </a:p>
          <a:p>
            <a:r>
              <a:rPr lang="en-US" sz="1200" dirty="0"/>
              <a:t>   4:   55                        push   </a:t>
            </a:r>
            <a:r>
              <a:rPr lang="en-US" sz="1200" dirty="0" err="1"/>
              <a:t>rbp</a:t>
            </a:r>
            <a:endParaRPr lang="en-US" sz="1200" dirty="0"/>
          </a:p>
          <a:p>
            <a:r>
              <a:rPr lang="en-US" sz="1200" dirty="0"/>
              <a:t>   5:   48 89 e5              mov    </a:t>
            </a:r>
            <a:r>
              <a:rPr lang="en-US" sz="1200" dirty="0" err="1"/>
              <a:t>rbp,rsp</a:t>
            </a:r>
            <a:endParaRPr lang="en-US" sz="1200" dirty="0"/>
          </a:p>
          <a:p>
            <a:r>
              <a:rPr lang="en-US" sz="1200" dirty="0"/>
              <a:t>  ………</a:t>
            </a:r>
            <a:r>
              <a:rPr lang="da-DK" sz="1200" dirty="0"/>
              <a:t> </a:t>
            </a:r>
          </a:p>
          <a:p>
            <a:r>
              <a:rPr lang="da-DK" sz="1200" dirty="0"/>
              <a:t>  21:   90                      nop</a:t>
            </a:r>
          </a:p>
          <a:p>
            <a:r>
              <a:rPr lang="da-DK" sz="1200" dirty="0"/>
              <a:t>  22:   5d                      pop    rbp</a:t>
            </a:r>
          </a:p>
          <a:p>
            <a:r>
              <a:rPr lang="da-DK" sz="1200" dirty="0"/>
              <a:t>  23:   c3                      ret </a:t>
            </a:r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FF9FEF-55C6-4181-A5F2-D552D94AD0FF}"/>
              </a:ext>
            </a:extLst>
          </p:cNvPr>
          <p:cNvSpPr/>
          <p:nvPr/>
        </p:nvSpPr>
        <p:spPr>
          <a:xfrm>
            <a:off x="3200399" y="3142032"/>
            <a:ext cx="6677025" cy="2464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8BE08C-25A2-49FB-A75D-6EEB52E43FF0}"/>
              </a:ext>
            </a:extLst>
          </p:cNvPr>
          <p:cNvSpPr txBox="1"/>
          <p:nvPr/>
        </p:nvSpPr>
        <p:spPr>
          <a:xfrm>
            <a:off x="3171820" y="3126533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src.o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20C643-A021-4DE4-A0F3-D92B64378682}"/>
              </a:ext>
            </a:extLst>
          </p:cNvPr>
          <p:cNvSpPr txBox="1"/>
          <p:nvPr/>
        </p:nvSpPr>
        <p:spPr>
          <a:xfrm>
            <a:off x="3228975" y="3406490"/>
            <a:ext cx="66770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0000000000000000 &lt;_Z14important_funcv&gt;:</a:t>
            </a:r>
          </a:p>
          <a:p>
            <a:r>
              <a:rPr lang="en-US" sz="1200" dirty="0"/>
              <a:t>   0:   f3 0f 1e fa                    endbr64</a:t>
            </a:r>
          </a:p>
          <a:p>
            <a:r>
              <a:rPr lang="en-US" sz="1200" dirty="0"/>
              <a:t>   4:   55                                push   </a:t>
            </a:r>
            <a:r>
              <a:rPr lang="en-US" sz="1200" dirty="0" err="1"/>
              <a:t>rbp</a:t>
            </a:r>
            <a:endParaRPr lang="en-US" sz="1200" dirty="0"/>
          </a:p>
          <a:p>
            <a:r>
              <a:rPr lang="en-US" sz="1200" dirty="0"/>
              <a:t>   5:   48 89 e5                      mov    </a:t>
            </a:r>
            <a:r>
              <a:rPr lang="en-US" sz="1200" dirty="0" err="1"/>
              <a:t>rbp,rsp</a:t>
            </a:r>
            <a:endParaRPr lang="en-US" sz="1200" dirty="0"/>
          </a:p>
          <a:p>
            <a:r>
              <a:rPr lang="en-US" sz="1200" dirty="0"/>
              <a:t>……..</a:t>
            </a:r>
          </a:p>
          <a:p>
            <a:r>
              <a:rPr lang="en-US" sz="1200" dirty="0"/>
              <a:t>  20:   e8 00 00 00 00           call   25 &lt;_Z14important_funcv+0x25&gt; # std::</a:t>
            </a:r>
            <a:r>
              <a:rPr lang="en-US" sz="1200" dirty="0" err="1"/>
              <a:t>cout</a:t>
            </a:r>
            <a:endParaRPr lang="en-US" sz="1200" dirty="0"/>
          </a:p>
          <a:p>
            <a:r>
              <a:rPr lang="en-US" sz="1200" dirty="0"/>
              <a:t>  25:   c7 45 fc 01 00 00 00   mov    DWORD PTR [rbp-0x4],0x1</a:t>
            </a:r>
          </a:p>
          <a:p>
            <a:r>
              <a:rPr lang="en-US" sz="1200" b="1" dirty="0">
                <a:solidFill>
                  <a:srgbClr val="00B050"/>
                </a:solidFill>
              </a:rPr>
              <a:t>  2c:   e8 00 00 00 00            call   31 &lt;_Z14important_funcv+0x31&gt; # &lt;_Z11useful_funcv&gt;</a:t>
            </a:r>
          </a:p>
          <a:p>
            <a:r>
              <a:rPr lang="en-US" sz="1200" dirty="0"/>
              <a:t>  31:   8b 45 fc                       mov    </a:t>
            </a:r>
            <a:r>
              <a:rPr lang="en-US" sz="1200" dirty="0" err="1"/>
              <a:t>eax,DWORD</a:t>
            </a:r>
            <a:r>
              <a:rPr lang="en-US" sz="1200" dirty="0"/>
              <a:t> PTR [rbp-0x4]</a:t>
            </a:r>
          </a:p>
          <a:p>
            <a:r>
              <a:rPr lang="en-US" sz="1200" dirty="0"/>
              <a:t>  34:   c9                                leave</a:t>
            </a:r>
          </a:p>
          <a:p>
            <a:r>
              <a:rPr lang="en-US" sz="1200" dirty="0"/>
              <a:t>  35:   c3                                ret 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196643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346-ACF6-4B19-ACB5-4B84FF06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27014"/>
            <a:ext cx="2743200" cy="695960"/>
          </a:xfrm>
        </p:spPr>
        <p:txBody>
          <a:bodyPr/>
          <a:lstStyle/>
          <a:p>
            <a:r>
              <a:rPr lang="ru-RU" dirty="0"/>
              <a:t>Линковка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A52A50-0BDD-4980-A806-EC38F878563F}"/>
              </a:ext>
            </a:extLst>
          </p:cNvPr>
          <p:cNvSpPr txBox="1"/>
          <p:nvPr/>
        </p:nvSpPr>
        <p:spPr>
          <a:xfrm>
            <a:off x="2538413" y="6407603"/>
            <a:ext cx="686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g++ </a:t>
            </a:r>
            <a:r>
              <a:rPr lang="en-US" dirty="0" err="1"/>
              <a:t>main.o</a:t>
            </a:r>
            <a:r>
              <a:rPr lang="en-US" dirty="0"/>
              <a:t> </a:t>
            </a:r>
            <a:r>
              <a:rPr lang="en-US" dirty="0" err="1"/>
              <a:t>my_lib.o</a:t>
            </a:r>
            <a:r>
              <a:rPr lang="en-US" dirty="0"/>
              <a:t> </a:t>
            </a:r>
            <a:r>
              <a:rPr lang="en-US" dirty="0" err="1"/>
              <a:t>src.o</a:t>
            </a:r>
            <a:r>
              <a:rPr lang="en-US" dirty="0"/>
              <a:t> ; </a:t>
            </a:r>
            <a:r>
              <a:rPr lang="en-US" dirty="0" err="1"/>
              <a:t>objdump</a:t>
            </a:r>
            <a:r>
              <a:rPr lang="en-US" dirty="0"/>
              <a:t> –M intel –d </a:t>
            </a:r>
            <a:r>
              <a:rPr lang="en-US" dirty="0" err="1"/>
              <a:t>a.out</a:t>
            </a:r>
            <a:r>
              <a:rPr lang="en-US" dirty="0"/>
              <a:t> &gt; dump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46856E-505C-469C-867B-84DF87F86A4F}"/>
              </a:ext>
            </a:extLst>
          </p:cNvPr>
          <p:cNvSpPr/>
          <p:nvPr/>
        </p:nvSpPr>
        <p:spPr>
          <a:xfrm>
            <a:off x="152400" y="750889"/>
            <a:ext cx="10972800" cy="56195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86E140-7227-4AD6-AA9B-3147FBD36D64}"/>
              </a:ext>
            </a:extLst>
          </p:cNvPr>
          <p:cNvSpPr txBox="1"/>
          <p:nvPr/>
        </p:nvSpPr>
        <p:spPr>
          <a:xfrm>
            <a:off x="152400" y="799275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a.out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DAD37E-E288-4BA8-B9CD-024AD5AC4501}"/>
              </a:ext>
            </a:extLst>
          </p:cNvPr>
          <p:cNvSpPr txBox="1"/>
          <p:nvPr/>
        </p:nvSpPr>
        <p:spPr>
          <a:xfrm>
            <a:off x="209551" y="1296160"/>
            <a:ext cx="4657724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0000000000001149 &lt;main&gt;:</a:t>
            </a:r>
          </a:p>
          <a:p>
            <a:r>
              <a:rPr lang="en-US" sz="1200" dirty="0"/>
              <a:t>    1149:   f3 0f 1e fa              endbr64</a:t>
            </a:r>
          </a:p>
          <a:p>
            <a:r>
              <a:rPr lang="en-US" sz="1200" dirty="0"/>
              <a:t>    114d:   55                          push   </a:t>
            </a:r>
            <a:r>
              <a:rPr lang="en-US" sz="1200" dirty="0" err="1"/>
              <a:t>rbp</a:t>
            </a:r>
            <a:endParaRPr lang="en-US" sz="1200" dirty="0"/>
          </a:p>
          <a:p>
            <a:r>
              <a:rPr lang="en-US" sz="1200" dirty="0"/>
              <a:t>    114e:   48 89 e5                mov    </a:t>
            </a:r>
            <a:r>
              <a:rPr lang="en-US" sz="1200" dirty="0" err="1"/>
              <a:t>rbp,rsp</a:t>
            </a:r>
            <a:endParaRPr lang="en-US" sz="1200" dirty="0"/>
          </a:p>
          <a:p>
            <a:r>
              <a:rPr lang="en-US" sz="1200" b="1" dirty="0">
                <a:solidFill>
                  <a:srgbClr val="00B050"/>
                </a:solidFill>
              </a:rPr>
              <a:t>    1151:   e8 42 00 00 00      call   1198 &lt;_Z11useful_funcv&gt;</a:t>
            </a:r>
          </a:p>
          <a:p>
            <a:r>
              <a:rPr lang="en-US" sz="1200" b="1" dirty="0">
                <a:solidFill>
                  <a:srgbClr val="7030A0"/>
                </a:solidFill>
              </a:rPr>
              <a:t>    1156:   e8 07 00 00 00      call   1162 &lt;_Z14important_funcv&gt;</a:t>
            </a:r>
          </a:p>
          <a:p>
            <a:r>
              <a:rPr lang="en-US" sz="1200" dirty="0"/>
              <a:t>    115b:   b8 00 00 00 00      mov    eax,0x0</a:t>
            </a:r>
          </a:p>
          <a:p>
            <a:r>
              <a:rPr lang="en-US" sz="1200" dirty="0"/>
              <a:t>    1160:   5d                          pop    </a:t>
            </a:r>
            <a:r>
              <a:rPr lang="en-US" sz="1200" dirty="0" err="1"/>
              <a:t>rbp</a:t>
            </a:r>
            <a:endParaRPr lang="en-US" sz="1200" dirty="0"/>
          </a:p>
          <a:p>
            <a:r>
              <a:rPr lang="en-US" sz="1200" dirty="0"/>
              <a:t>    1161:   c3                          ret</a:t>
            </a:r>
            <a:endParaRPr lang="ru-RU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36CCF9-034D-46C9-9832-C74597B17400}"/>
              </a:ext>
            </a:extLst>
          </p:cNvPr>
          <p:cNvSpPr txBox="1"/>
          <p:nvPr/>
        </p:nvSpPr>
        <p:spPr>
          <a:xfrm>
            <a:off x="5095875" y="1014638"/>
            <a:ext cx="5791200" cy="230832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0000000000001198 &lt;_Z11useful_funcv&gt;:</a:t>
            </a:r>
          </a:p>
          <a:p>
            <a:r>
              <a:rPr lang="en-US" sz="1200" dirty="0"/>
              <a:t>1198:   f3 0f 1e fa                      endbr64</a:t>
            </a:r>
          </a:p>
          <a:p>
            <a:r>
              <a:rPr lang="en-US" sz="1200" dirty="0"/>
              <a:t>119c:   55                                  push   </a:t>
            </a:r>
            <a:r>
              <a:rPr lang="en-US" sz="1200" dirty="0" err="1"/>
              <a:t>rbp</a:t>
            </a:r>
            <a:r>
              <a:rPr lang="en-US" sz="1200" dirty="0"/>
              <a:t> </a:t>
            </a:r>
          </a:p>
          <a:p>
            <a:r>
              <a:rPr lang="en-US" sz="1200" dirty="0"/>
              <a:t>119d:   48 89 e5                        mov    </a:t>
            </a:r>
            <a:r>
              <a:rPr lang="en-US" sz="1200" dirty="0" err="1"/>
              <a:t>rbp,rsp</a:t>
            </a:r>
            <a:endParaRPr lang="en-US" sz="1200" dirty="0"/>
          </a:p>
          <a:p>
            <a:r>
              <a:rPr lang="en-US" sz="1200" dirty="0"/>
              <a:t>11a0:   48 8d 05 70 0e 00 00    lea    </a:t>
            </a:r>
            <a:r>
              <a:rPr lang="en-US" sz="1200" dirty="0" err="1"/>
              <a:t>rax</a:t>
            </a:r>
            <a:r>
              <a:rPr lang="en-US" sz="1200" dirty="0"/>
              <a:t>,[rip+0xe70] </a:t>
            </a:r>
          </a:p>
          <a:p>
            <a:r>
              <a:rPr lang="en-US" sz="1200" dirty="0"/>
              <a:t>11a7:   48 89 c6                        mov    </a:t>
            </a:r>
            <a:r>
              <a:rPr lang="en-US" sz="1200" dirty="0" err="1"/>
              <a:t>rsi,rax</a:t>
            </a:r>
            <a:endParaRPr lang="en-US" sz="1200" dirty="0"/>
          </a:p>
          <a:p>
            <a:r>
              <a:rPr lang="en-US" sz="1200" dirty="0"/>
              <a:t>11aa:   48 8d 05 8f 2e 00 00     lea    </a:t>
            </a:r>
            <a:r>
              <a:rPr lang="en-US" sz="1200" dirty="0" err="1"/>
              <a:t>rax</a:t>
            </a:r>
            <a:r>
              <a:rPr lang="en-US" sz="1200" dirty="0"/>
              <a:t>,[rip+0x2e8f]        # 4040 &lt;_ZSt4cout….&gt; </a:t>
            </a:r>
          </a:p>
          <a:p>
            <a:r>
              <a:rPr lang="en-US" sz="1200" dirty="0"/>
              <a:t>11b1:   48 89 c7                        mov    </a:t>
            </a:r>
            <a:r>
              <a:rPr lang="en-US" sz="1200" dirty="0" err="1"/>
              <a:t>rdi,rax</a:t>
            </a:r>
            <a:r>
              <a:rPr lang="en-US" sz="1200" dirty="0"/>
              <a:t> </a:t>
            </a:r>
          </a:p>
          <a:p>
            <a:r>
              <a:rPr lang="en-US" sz="1200" dirty="0"/>
              <a:t>11b4:   e8 97 </a:t>
            </a:r>
            <a:r>
              <a:rPr lang="en-US" sz="1200" dirty="0" err="1"/>
              <a:t>fe</a:t>
            </a:r>
            <a:r>
              <a:rPr lang="en-US" sz="1200" dirty="0"/>
              <a:t> ff </a:t>
            </a:r>
            <a:r>
              <a:rPr lang="en-US" sz="1200" dirty="0" err="1"/>
              <a:t>ff</a:t>
            </a:r>
            <a:r>
              <a:rPr lang="en-US" sz="1200" dirty="0"/>
              <a:t>                   call   1050 &lt;_ZStlsISt11char_traitsIcE….&gt;</a:t>
            </a:r>
          </a:p>
          <a:p>
            <a:r>
              <a:rPr lang="en-US" sz="1200" dirty="0"/>
              <a:t>11b9:   90                                  </a:t>
            </a:r>
            <a:r>
              <a:rPr lang="en-US" sz="1200" dirty="0" err="1"/>
              <a:t>nop</a:t>
            </a:r>
            <a:endParaRPr lang="en-US" sz="1200" dirty="0"/>
          </a:p>
          <a:p>
            <a:r>
              <a:rPr lang="en-US" sz="1200" dirty="0"/>
              <a:t>11ba:   5d                                  pop    </a:t>
            </a:r>
            <a:r>
              <a:rPr lang="en-US" sz="1200" dirty="0" err="1"/>
              <a:t>rbp</a:t>
            </a:r>
            <a:r>
              <a:rPr lang="en-US" sz="1200" dirty="0"/>
              <a:t> </a:t>
            </a:r>
          </a:p>
          <a:p>
            <a:r>
              <a:rPr lang="en-US" sz="1200" dirty="0"/>
              <a:t>11bb:   c3                                  ret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20C643-A021-4DE4-A0F3-D92B64378682}"/>
              </a:ext>
            </a:extLst>
          </p:cNvPr>
          <p:cNvSpPr txBox="1"/>
          <p:nvPr/>
        </p:nvSpPr>
        <p:spPr>
          <a:xfrm>
            <a:off x="3009899" y="3429000"/>
            <a:ext cx="617219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0000000000001162 &lt;_Z14important_funcv&gt;:</a:t>
            </a:r>
          </a:p>
          <a:p>
            <a:r>
              <a:rPr lang="en-US" sz="1200" dirty="0"/>
              <a:t>1162:   f3 0f 1e fa                      endbr64</a:t>
            </a:r>
          </a:p>
          <a:p>
            <a:r>
              <a:rPr lang="en-US" sz="1200" dirty="0"/>
              <a:t>1166:   55                                  push   </a:t>
            </a:r>
            <a:r>
              <a:rPr lang="en-US" sz="1200" dirty="0" err="1"/>
              <a:t>rbp</a:t>
            </a:r>
            <a:endParaRPr lang="en-US" sz="1200" dirty="0"/>
          </a:p>
          <a:p>
            <a:r>
              <a:rPr lang="en-US" sz="1200" dirty="0"/>
              <a:t>1167:   48 89 e5                        mov    </a:t>
            </a:r>
            <a:r>
              <a:rPr lang="en-US" sz="1200" dirty="0" err="1"/>
              <a:t>rbp,rsp</a:t>
            </a:r>
            <a:endParaRPr lang="en-US" sz="1200" dirty="0"/>
          </a:p>
          <a:p>
            <a:r>
              <a:rPr lang="en-US" sz="1200" dirty="0"/>
              <a:t>116a:   48 83 </a:t>
            </a:r>
            <a:r>
              <a:rPr lang="en-US" sz="1200" dirty="0" err="1"/>
              <a:t>ec</a:t>
            </a:r>
            <a:r>
              <a:rPr lang="en-US" sz="1200" dirty="0"/>
              <a:t> 10                   sub    rsp,0x10</a:t>
            </a:r>
          </a:p>
          <a:p>
            <a:r>
              <a:rPr lang="en-US" sz="1200" dirty="0"/>
              <a:t>116e:   48 8d 05 8f 0e 00 00     lea    </a:t>
            </a:r>
            <a:r>
              <a:rPr lang="en-US" sz="1200" dirty="0" err="1"/>
              <a:t>rax</a:t>
            </a:r>
            <a:r>
              <a:rPr lang="en-US" sz="1200" dirty="0"/>
              <a:t>,[rip+0xe8f]        # 2004 &lt;_IO_stdin_used+0x4&gt;</a:t>
            </a:r>
          </a:p>
          <a:p>
            <a:r>
              <a:rPr lang="en-US" sz="1200" dirty="0"/>
              <a:t>1175:   48 89 c6                        mov    </a:t>
            </a:r>
            <a:r>
              <a:rPr lang="en-US" sz="1200" dirty="0" err="1"/>
              <a:t>rsi,rax</a:t>
            </a:r>
            <a:endParaRPr lang="en-US" sz="1200" dirty="0"/>
          </a:p>
          <a:p>
            <a:r>
              <a:rPr lang="en-US" sz="1200" dirty="0"/>
              <a:t>1178:   48 8d 05 c1 2e 00 00    lea    </a:t>
            </a:r>
            <a:r>
              <a:rPr lang="en-US" sz="1200" dirty="0" err="1"/>
              <a:t>rax</a:t>
            </a:r>
            <a:r>
              <a:rPr lang="en-US" sz="1200" dirty="0"/>
              <a:t>,[rip+0x2ec1]        # 4040 _ZSt4cout….</a:t>
            </a:r>
          </a:p>
          <a:p>
            <a:r>
              <a:rPr lang="en-US" sz="1200" dirty="0"/>
              <a:t>117f:   48 89 c7                         mov    </a:t>
            </a:r>
            <a:r>
              <a:rPr lang="en-US" sz="1200" dirty="0" err="1"/>
              <a:t>rdi,rax</a:t>
            </a:r>
            <a:endParaRPr lang="en-US" sz="1200" dirty="0"/>
          </a:p>
          <a:p>
            <a:r>
              <a:rPr lang="en-US" sz="1200" dirty="0"/>
              <a:t> 1182:   e8 c9 </a:t>
            </a:r>
            <a:r>
              <a:rPr lang="en-US" sz="1200" dirty="0" err="1"/>
              <a:t>fe</a:t>
            </a:r>
            <a:r>
              <a:rPr lang="en-US" sz="1200" dirty="0"/>
              <a:t> ff </a:t>
            </a:r>
            <a:r>
              <a:rPr lang="en-US" sz="1200" dirty="0" err="1"/>
              <a:t>ff</a:t>
            </a:r>
            <a:r>
              <a:rPr lang="en-US" sz="1200" dirty="0"/>
              <a:t>                  call   1050 &lt;_ZStlsISt11char_traitsIcE….&gt;</a:t>
            </a:r>
          </a:p>
          <a:p>
            <a:r>
              <a:rPr lang="en-US" sz="1200" dirty="0"/>
              <a:t>1187:   c7 45 fc 01 00 00 00     mov    DWORD PTR [rbp-0x4],0x1</a:t>
            </a:r>
          </a:p>
          <a:p>
            <a:r>
              <a:rPr lang="en-US" sz="1200" b="1" dirty="0">
                <a:solidFill>
                  <a:srgbClr val="00B050"/>
                </a:solidFill>
              </a:rPr>
              <a:t>118e:   e8 05 00 00 00             call   1198 &lt;_Z11useful_funcv&gt;</a:t>
            </a:r>
          </a:p>
          <a:p>
            <a:r>
              <a:rPr lang="en-US" sz="1200" dirty="0"/>
              <a:t>1193:   8b 45 fc                        mov    </a:t>
            </a:r>
            <a:r>
              <a:rPr lang="en-US" sz="1200" dirty="0" err="1"/>
              <a:t>eax,DWORD</a:t>
            </a:r>
            <a:r>
              <a:rPr lang="en-US" sz="1200" dirty="0"/>
              <a:t> PTR [rbp-0x4] </a:t>
            </a:r>
          </a:p>
          <a:p>
            <a:r>
              <a:rPr lang="en-US" sz="1200" dirty="0"/>
              <a:t>1196:   c9                                 leave </a:t>
            </a:r>
          </a:p>
          <a:p>
            <a:r>
              <a:rPr lang="en-US" sz="1200" dirty="0"/>
              <a:t>1197:   c3                                 ret 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212385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747DF-7768-4F6D-8939-7BAC9899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1000"/>
            <a:ext cx="9382125" cy="695960"/>
          </a:xfrm>
        </p:spPr>
        <p:txBody>
          <a:bodyPr/>
          <a:lstStyle/>
          <a:p>
            <a:r>
              <a:rPr lang="ru-RU" dirty="0"/>
              <a:t>Таблица символов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0E676-9D57-443E-8A7E-C1924D5AEF05}"/>
              </a:ext>
            </a:extLst>
          </p:cNvPr>
          <p:cNvSpPr txBox="1"/>
          <p:nvPr/>
        </p:nvSpPr>
        <p:spPr>
          <a:xfrm>
            <a:off x="685800" y="1295400"/>
            <a:ext cx="88392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main.o</a:t>
            </a:r>
            <a:r>
              <a:rPr lang="en-US" dirty="0"/>
              <a:t>:     file format elf64-x86-64</a:t>
            </a:r>
          </a:p>
          <a:p>
            <a:endParaRPr lang="en-US" dirty="0"/>
          </a:p>
          <a:p>
            <a:r>
              <a:rPr lang="en-US" dirty="0"/>
              <a:t>SYMBOL TABLE:</a:t>
            </a:r>
          </a:p>
          <a:p>
            <a:r>
              <a:rPr lang="en-US" dirty="0"/>
              <a:t>0000000000000000 l    df *ABS* 0000000000000000 main.cpp</a:t>
            </a:r>
          </a:p>
          <a:p>
            <a:r>
              <a:rPr lang="en-US" dirty="0"/>
              <a:t>0000000000000000 l    d   .text   0000000000000000 .text</a:t>
            </a:r>
          </a:p>
          <a:p>
            <a:r>
              <a:rPr lang="en-US" b="1" dirty="0"/>
              <a:t>0000000000000000 g     F .text   0000000000000019 main</a:t>
            </a:r>
          </a:p>
          <a:p>
            <a:r>
              <a:rPr lang="en-US" b="1" dirty="0">
                <a:solidFill>
                  <a:srgbClr val="00B050"/>
                </a:solidFill>
              </a:rPr>
              <a:t>0000000000000000        *UND*  0000000000000000 _Z11useful_funcv</a:t>
            </a:r>
          </a:p>
          <a:p>
            <a:r>
              <a:rPr lang="en-US" b="1" dirty="0">
                <a:solidFill>
                  <a:srgbClr val="7030A0"/>
                </a:solidFill>
              </a:rPr>
              <a:t>0000000000000000        *UND*  0000000000000000 _Z14important_funcv</a:t>
            </a:r>
            <a:endParaRPr lang="ru-RU" b="1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0C2F75-C78F-464D-AC63-5AF6E5E97195}"/>
              </a:ext>
            </a:extLst>
          </p:cNvPr>
          <p:cNvSpPr txBox="1"/>
          <p:nvPr/>
        </p:nvSpPr>
        <p:spPr>
          <a:xfrm>
            <a:off x="666750" y="3822164"/>
            <a:ext cx="885825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src.o</a:t>
            </a:r>
            <a:r>
              <a:rPr lang="en-US" dirty="0"/>
              <a:t>:     file format elf64-x86-64</a:t>
            </a:r>
          </a:p>
          <a:p>
            <a:endParaRPr lang="en-US" dirty="0"/>
          </a:p>
          <a:p>
            <a:r>
              <a:rPr lang="en-US" dirty="0"/>
              <a:t>SYMBOL TABLE:</a:t>
            </a:r>
          </a:p>
          <a:p>
            <a:r>
              <a:rPr lang="en-US" dirty="0"/>
              <a:t>0000000000000000 l    df *ABS*  0000000000000000 src.cpp</a:t>
            </a:r>
          </a:p>
          <a:p>
            <a:r>
              <a:rPr lang="en-US" dirty="0"/>
              <a:t>0000000000000000 l    d  .text  0000000000000000 .text</a:t>
            </a:r>
          </a:p>
          <a:p>
            <a:r>
              <a:rPr lang="en-US" dirty="0"/>
              <a:t>………</a:t>
            </a:r>
          </a:p>
          <a:p>
            <a:r>
              <a:rPr lang="en-US" b="1" dirty="0">
                <a:solidFill>
                  <a:srgbClr val="7030A0"/>
                </a:solidFill>
              </a:rPr>
              <a:t>0000000000000000 g     F .text  0000000000000036 _Z14important_funcv</a:t>
            </a:r>
          </a:p>
          <a:p>
            <a:r>
              <a:rPr lang="en-US" dirty="0"/>
              <a:t>0000000000000000         *UND*  0000000000000000 _ZSt4cout</a:t>
            </a:r>
          </a:p>
          <a:p>
            <a:r>
              <a:rPr lang="en-US" dirty="0"/>
              <a:t>0000000000000000         *UND*  0000000000000000 _ZStlsISt11char_traitsIcE…</a:t>
            </a:r>
          </a:p>
          <a:p>
            <a:r>
              <a:rPr lang="en-US" b="1" dirty="0">
                <a:solidFill>
                  <a:srgbClr val="00B050"/>
                </a:solidFill>
              </a:rPr>
              <a:t>0000000000000000         *UND*  0000000000000000 _Z11useful_funcv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1076E0-1494-4A4C-88D4-82FEDA6DEE25}"/>
              </a:ext>
            </a:extLst>
          </p:cNvPr>
          <p:cNvSpPr txBox="1"/>
          <p:nvPr/>
        </p:nvSpPr>
        <p:spPr>
          <a:xfrm>
            <a:off x="9753600" y="226489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objdump</a:t>
            </a:r>
            <a:r>
              <a:rPr lang="en-US" dirty="0"/>
              <a:t> –t </a:t>
            </a:r>
            <a:r>
              <a:rPr lang="en-US" dirty="0" err="1"/>
              <a:t>main.o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A9CED-F282-49AA-AF71-C82114A8699B}"/>
              </a:ext>
            </a:extLst>
          </p:cNvPr>
          <p:cNvSpPr txBox="1"/>
          <p:nvPr/>
        </p:nvSpPr>
        <p:spPr>
          <a:xfrm>
            <a:off x="9753600" y="5068659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objdump</a:t>
            </a:r>
            <a:r>
              <a:rPr lang="en-US" dirty="0"/>
              <a:t> –t </a:t>
            </a:r>
            <a:r>
              <a:rPr lang="en-US" dirty="0" err="1"/>
              <a:t>src.o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8281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747DF-7768-4F6D-8939-7BAC9899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1000"/>
            <a:ext cx="9382125" cy="695960"/>
          </a:xfrm>
        </p:spPr>
        <p:txBody>
          <a:bodyPr/>
          <a:lstStyle/>
          <a:p>
            <a:r>
              <a:rPr lang="ru-RU" dirty="0"/>
              <a:t>Таблица символов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0E676-9D57-443E-8A7E-C1924D5AEF05}"/>
              </a:ext>
            </a:extLst>
          </p:cNvPr>
          <p:cNvSpPr txBox="1"/>
          <p:nvPr/>
        </p:nvSpPr>
        <p:spPr>
          <a:xfrm>
            <a:off x="685800" y="1295400"/>
            <a:ext cx="883920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a.out</a:t>
            </a:r>
            <a:r>
              <a:rPr lang="en-US" dirty="0">
                <a:solidFill>
                  <a:schemeClr val="tx1"/>
                </a:solidFill>
              </a:rPr>
              <a:t>:     file format elf64-x86-64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SYMBOL TABLE: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……..</a:t>
            </a:r>
          </a:p>
          <a:p>
            <a:r>
              <a:rPr lang="en-US" b="1" dirty="0">
                <a:solidFill>
                  <a:schemeClr val="tx1"/>
                </a:solidFill>
              </a:rPr>
              <a:t>0000000000001149 g     F .text  0000000000000019              main</a:t>
            </a:r>
          </a:p>
          <a:p>
            <a:r>
              <a:rPr lang="en-US" b="1" dirty="0">
                <a:solidFill>
                  <a:srgbClr val="00B050"/>
                </a:solidFill>
              </a:rPr>
              <a:t>0000000000001198 g     F .text  0000000000000024              _Z11useful_funcv</a:t>
            </a:r>
          </a:p>
          <a:p>
            <a:r>
              <a:rPr lang="en-US" b="1" dirty="0">
                <a:solidFill>
                  <a:srgbClr val="7030A0"/>
                </a:solidFill>
              </a:rPr>
              <a:t>0000000000001162 g     F .text  0000000000000036              _Z14important_funcv</a:t>
            </a:r>
          </a:p>
          <a:p>
            <a:r>
              <a:rPr lang="en-US" dirty="0">
                <a:solidFill>
                  <a:schemeClr val="tx1"/>
                </a:solidFill>
              </a:rPr>
              <a:t>0000000000004040 g     O .</a:t>
            </a:r>
            <a:r>
              <a:rPr lang="en-US" dirty="0" err="1">
                <a:solidFill>
                  <a:schemeClr val="tx1"/>
                </a:solidFill>
              </a:rPr>
              <a:t>bss</a:t>
            </a:r>
            <a:r>
              <a:rPr lang="en-US" dirty="0">
                <a:solidFill>
                  <a:schemeClr val="tx1"/>
                </a:solidFill>
              </a:rPr>
              <a:t>   0000000000000110              _ZSt4cout...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1076E0-1494-4A4C-88D4-82FEDA6DEE25}"/>
              </a:ext>
            </a:extLst>
          </p:cNvPr>
          <p:cNvSpPr txBox="1"/>
          <p:nvPr/>
        </p:nvSpPr>
        <p:spPr>
          <a:xfrm>
            <a:off x="9677400" y="254189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objdump</a:t>
            </a:r>
            <a:r>
              <a:rPr lang="en-US" dirty="0"/>
              <a:t> –t </a:t>
            </a:r>
            <a:r>
              <a:rPr lang="en-US" dirty="0" err="1"/>
              <a:t>a.out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449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346-ACF6-4B19-ACB5-4B84FF060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Линковка (версия 1)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72EE3-729D-4864-9FE7-074FB46DCC2E}"/>
              </a:ext>
            </a:extLst>
          </p:cNvPr>
          <p:cNvSpPr/>
          <p:nvPr/>
        </p:nvSpPr>
        <p:spPr>
          <a:xfrm>
            <a:off x="1666876" y="1872356"/>
            <a:ext cx="2733676" cy="304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13954-DD28-430F-9A21-7ADC80E2205F}"/>
              </a:ext>
            </a:extLst>
          </p:cNvPr>
          <p:cNvSpPr txBox="1"/>
          <p:nvPr/>
        </p:nvSpPr>
        <p:spPr>
          <a:xfrm>
            <a:off x="1704976" y="1872356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main.cpp</a:t>
            </a:r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6B711-22DD-4C20-8B4B-FC9D4359D1C5}"/>
              </a:ext>
            </a:extLst>
          </p:cNvPr>
          <p:cNvSpPr/>
          <p:nvPr/>
        </p:nvSpPr>
        <p:spPr>
          <a:xfrm>
            <a:off x="1895476" y="2472431"/>
            <a:ext cx="2286000" cy="2133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0F7C6-A3A0-405A-B0A0-6B962856E4EA}"/>
              </a:ext>
            </a:extLst>
          </p:cNvPr>
          <p:cNvSpPr txBox="1"/>
          <p:nvPr/>
        </p:nvSpPr>
        <p:spPr>
          <a:xfrm>
            <a:off x="1905001" y="250100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main() {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E141B-D00F-4B8C-99E0-28D0A61D1DF3}"/>
              </a:ext>
            </a:extLst>
          </p:cNvPr>
          <p:cNvSpPr txBox="1"/>
          <p:nvPr/>
        </p:nvSpPr>
        <p:spPr>
          <a:xfrm>
            <a:off x="2190750" y="3065184"/>
            <a:ext cx="176212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33669-C797-4C23-AD8B-93E81716B807}"/>
              </a:ext>
            </a:extLst>
          </p:cNvPr>
          <p:cNvSpPr txBox="1"/>
          <p:nvPr/>
        </p:nvSpPr>
        <p:spPr>
          <a:xfrm>
            <a:off x="2190751" y="3519407"/>
            <a:ext cx="1762125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important_func</a:t>
            </a:r>
            <a:r>
              <a:rPr lang="ru-RU" sz="1600" dirty="0"/>
              <a:t>()</a:t>
            </a:r>
            <a:r>
              <a:rPr lang="en-US" sz="1600" dirty="0"/>
              <a:t>;</a:t>
            </a: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FCD45-469D-48BC-87FF-D0426EB02ACB}"/>
              </a:ext>
            </a:extLst>
          </p:cNvPr>
          <p:cNvSpPr txBox="1"/>
          <p:nvPr/>
        </p:nvSpPr>
        <p:spPr>
          <a:xfrm>
            <a:off x="1971676" y="407263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D41F6-B929-4FFF-9EC8-9A486A147541}"/>
              </a:ext>
            </a:extLst>
          </p:cNvPr>
          <p:cNvSpPr/>
          <p:nvPr/>
        </p:nvSpPr>
        <p:spPr>
          <a:xfrm>
            <a:off x="4714876" y="1872356"/>
            <a:ext cx="2743200" cy="304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FC57FA-6061-48A7-ABEA-15F3770234EB}"/>
              </a:ext>
            </a:extLst>
          </p:cNvPr>
          <p:cNvSpPr txBox="1"/>
          <p:nvPr/>
        </p:nvSpPr>
        <p:spPr>
          <a:xfrm>
            <a:off x="4752976" y="187235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my_lib.cpp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070339-46EA-46D9-A9AE-FB369B070808}"/>
              </a:ext>
            </a:extLst>
          </p:cNvPr>
          <p:cNvSpPr/>
          <p:nvPr/>
        </p:nvSpPr>
        <p:spPr>
          <a:xfrm>
            <a:off x="4943476" y="2472431"/>
            <a:ext cx="2352676" cy="213360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2D2C0-3B96-4E97-9FE8-E99357B6E713}"/>
              </a:ext>
            </a:extLst>
          </p:cNvPr>
          <p:cNvSpPr txBox="1"/>
          <p:nvPr/>
        </p:nvSpPr>
        <p:spPr>
          <a:xfrm>
            <a:off x="4943476" y="2472431"/>
            <a:ext cx="235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B70690-5DB2-48B7-807F-9D991B528EE7}"/>
              </a:ext>
            </a:extLst>
          </p:cNvPr>
          <p:cNvSpPr txBox="1"/>
          <p:nvPr/>
        </p:nvSpPr>
        <p:spPr>
          <a:xfrm>
            <a:off x="5019676" y="407263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22F5A8-B251-4E99-B6F9-654B344337A0}"/>
              </a:ext>
            </a:extLst>
          </p:cNvPr>
          <p:cNvSpPr/>
          <p:nvPr/>
        </p:nvSpPr>
        <p:spPr>
          <a:xfrm>
            <a:off x="7772400" y="1872356"/>
            <a:ext cx="2962275" cy="304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CD93A-473D-4530-ABE0-42A8427B4777}"/>
              </a:ext>
            </a:extLst>
          </p:cNvPr>
          <p:cNvSpPr txBox="1"/>
          <p:nvPr/>
        </p:nvSpPr>
        <p:spPr>
          <a:xfrm>
            <a:off x="7810501" y="187235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src.cpp</a:t>
            </a:r>
            <a:endParaRPr lang="ru-R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3AB157-6357-4937-8F1E-144A7808777A}"/>
              </a:ext>
            </a:extLst>
          </p:cNvPr>
          <p:cNvSpPr/>
          <p:nvPr/>
        </p:nvSpPr>
        <p:spPr>
          <a:xfrm>
            <a:off x="8001000" y="2472431"/>
            <a:ext cx="2581277" cy="21336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6131D2-8819-4154-95B8-A6BE8380ABD3}"/>
              </a:ext>
            </a:extLst>
          </p:cNvPr>
          <p:cNvSpPr txBox="1"/>
          <p:nvPr/>
        </p:nvSpPr>
        <p:spPr>
          <a:xfrm>
            <a:off x="8001001" y="2472431"/>
            <a:ext cx="258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important_func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6E908-B4B5-46D5-B5FD-97B1BE0107FD}"/>
              </a:ext>
            </a:extLst>
          </p:cNvPr>
          <p:cNvSpPr txBox="1"/>
          <p:nvPr/>
        </p:nvSpPr>
        <p:spPr>
          <a:xfrm>
            <a:off x="8077201" y="407263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D3D16A-C9CB-41DA-8D91-24C353CD98AC}"/>
              </a:ext>
            </a:extLst>
          </p:cNvPr>
          <p:cNvSpPr txBox="1"/>
          <p:nvPr/>
        </p:nvSpPr>
        <p:spPr>
          <a:xfrm>
            <a:off x="8372476" y="3091556"/>
            <a:ext cx="1924048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A52A50-0BDD-4980-A806-EC38F878563F}"/>
              </a:ext>
            </a:extLst>
          </p:cNvPr>
          <p:cNvSpPr txBox="1"/>
          <p:nvPr/>
        </p:nvSpPr>
        <p:spPr>
          <a:xfrm>
            <a:off x="4333876" y="5334000"/>
            <a:ext cx="289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g++ -c main.cpp</a:t>
            </a:r>
          </a:p>
          <a:p>
            <a:r>
              <a:rPr lang="en-US" dirty="0"/>
              <a:t>g++ -c my_lib.cpp</a:t>
            </a:r>
          </a:p>
          <a:p>
            <a:r>
              <a:rPr lang="en-US" dirty="0"/>
              <a:t>g++ -c src.cpp</a:t>
            </a:r>
          </a:p>
          <a:p>
            <a:r>
              <a:rPr lang="en-US" dirty="0"/>
              <a:t>g++ </a:t>
            </a:r>
            <a:r>
              <a:rPr lang="en-US" dirty="0" err="1"/>
              <a:t>main.o</a:t>
            </a:r>
            <a:r>
              <a:rPr lang="en-US" dirty="0"/>
              <a:t> </a:t>
            </a:r>
            <a:r>
              <a:rPr lang="en-US" dirty="0" err="1"/>
              <a:t>my_lib.o</a:t>
            </a:r>
            <a:r>
              <a:rPr lang="en-US" dirty="0"/>
              <a:t> </a:t>
            </a:r>
            <a:r>
              <a:rPr lang="en-US" dirty="0" err="1"/>
              <a:t>src.o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3752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346-ACF6-4B19-ACB5-4B84FF060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Линковка (версия 1)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72EE3-729D-4864-9FE7-074FB46DCC2E}"/>
              </a:ext>
            </a:extLst>
          </p:cNvPr>
          <p:cNvSpPr/>
          <p:nvPr/>
        </p:nvSpPr>
        <p:spPr>
          <a:xfrm>
            <a:off x="1666876" y="1872356"/>
            <a:ext cx="2733676" cy="304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13954-DD28-430F-9A21-7ADC80E2205F}"/>
              </a:ext>
            </a:extLst>
          </p:cNvPr>
          <p:cNvSpPr txBox="1"/>
          <p:nvPr/>
        </p:nvSpPr>
        <p:spPr>
          <a:xfrm>
            <a:off x="1704976" y="1872356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main.cpp</a:t>
            </a:r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6B711-22DD-4C20-8B4B-FC9D4359D1C5}"/>
              </a:ext>
            </a:extLst>
          </p:cNvPr>
          <p:cNvSpPr/>
          <p:nvPr/>
        </p:nvSpPr>
        <p:spPr>
          <a:xfrm>
            <a:off x="1895476" y="2472431"/>
            <a:ext cx="2286000" cy="2133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0F7C6-A3A0-405A-B0A0-6B962856E4EA}"/>
              </a:ext>
            </a:extLst>
          </p:cNvPr>
          <p:cNvSpPr txBox="1"/>
          <p:nvPr/>
        </p:nvSpPr>
        <p:spPr>
          <a:xfrm>
            <a:off x="1905001" y="250100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main() {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E141B-D00F-4B8C-99E0-28D0A61D1DF3}"/>
              </a:ext>
            </a:extLst>
          </p:cNvPr>
          <p:cNvSpPr txBox="1"/>
          <p:nvPr/>
        </p:nvSpPr>
        <p:spPr>
          <a:xfrm>
            <a:off x="2190750" y="3065184"/>
            <a:ext cx="176212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33669-C797-4C23-AD8B-93E81716B807}"/>
              </a:ext>
            </a:extLst>
          </p:cNvPr>
          <p:cNvSpPr txBox="1"/>
          <p:nvPr/>
        </p:nvSpPr>
        <p:spPr>
          <a:xfrm>
            <a:off x="2190751" y="3519407"/>
            <a:ext cx="1762125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important_func</a:t>
            </a:r>
            <a:r>
              <a:rPr lang="ru-RU" sz="1600" dirty="0"/>
              <a:t>()</a:t>
            </a:r>
            <a:r>
              <a:rPr lang="en-US" sz="1600" dirty="0"/>
              <a:t>;</a:t>
            </a: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FCD45-469D-48BC-87FF-D0426EB02ACB}"/>
              </a:ext>
            </a:extLst>
          </p:cNvPr>
          <p:cNvSpPr txBox="1"/>
          <p:nvPr/>
        </p:nvSpPr>
        <p:spPr>
          <a:xfrm>
            <a:off x="1971676" y="407263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D41F6-B929-4FFF-9EC8-9A486A147541}"/>
              </a:ext>
            </a:extLst>
          </p:cNvPr>
          <p:cNvSpPr/>
          <p:nvPr/>
        </p:nvSpPr>
        <p:spPr>
          <a:xfrm>
            <a:off x="4714876" y="1872356"/>
            <a:ext cx="2743200" cy="304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FC57FA-6061-48A7-ABEA-15F3770234EB}"/>
              </a:ext>
            </a:extLst>
          </p:cNvPr>
          <p:cNvSpPr txBox="1"/>
          <p:nvPr/>
        </p:nvSpPr>
        <p:spPr>
          <a:xfrm>
            <a:off x="4752976" y="187235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my_lib.cpp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070339-46EA-46D9-A9AE-FB369B070808}"/>
              </a:ext>
            </a:extLst>
          </p:cNvPr>
          <p:cNvSpPr/>
          <p:nvPr/>
        </p:nvSpPr>
        <p:spPr>
          <a:xfrm>
            <a:off x="4943476" y="2472431"/>
            <a:ext cx="2352676" cy="213360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2D2C0-3B96-4E97-9FE8-E99357B6E713}"/>
              </a:ext>
            </a:extLst>
          </p:cNvPr>
          <p:cNvSpPr txBox="1"/>
          <p:nvPr/>
        </p:nvSpPr>
        <p:spPr>
          <a:xfrm>
            <a:off x="4943476" y="2472431"/>
            <a:ext cx="235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B70690-5DB2-48B7-807F-9D991B528EE7}"/>
              </a:ext>
            </a:extLst>
          </p:cNvPr>
          <p:cNvSpPr txBox="1"/>
          <p:nvPr/>
        </p:nvSpPr>
        <p:spPr>
          <a:xfrm>
            <a:off x="5019676" y="407263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22F5A8-B251-4E99-B6F9-654B344337A0}"/>
              </a:ext>
            </a:extLst>
          </p:cNvPr>
          <p:cNvSpPr/>
          <p:nvPr/>
        </p:nvSpPr>
        <p:spPr>
          <a:xfrm>
            <a:off x="7772400" y="1872356"/>
            <a:ext cx="2962275" cy="304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CD93A-473D-4530-ABE0-42A8427B4777}"/>
              </a:ext>
            </a:extLst>
          </p:cNvPr>
          <p:cNvSpPr txBox="1"/>
          <p:nvPr/>
        </p:nvSpPr>
        <p:spPr>
          <a:xfrm>
            <a:off x="7810501" y="187235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src.cpp</a:t>
            </a:r>
            <a:endParaRPr lang="ru-R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3AB157-6357-4937-8F1E-144A7808777A}"/>
              </a:ext>
            </a:extLst>
          </p:cNvPr>
          <p:cNvSpPr/>
          <p:nvPr/>
        </p:nvSpPr>
        <p:spPr>
          <a:xfrm>
            <a:off x="8001000" y="2472431"/>
            <a:ext cx="2581277" cy="21336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6131D2-8819-4154-95B8-A6BE8380ABD3}"/>
              </a:ext>
            </a:extLst>
          </p:cNvPr>
          <p:cNvSpPr txBox="1"/>
          <p:nvPr/>
        </p:nvSpPr>
        <p:spPr>
          <a:xfrm>
            <a:off x="8001001" y="2472431"/>
            <a:ext cx="258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important_func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6E908-B4B5-46D5-B5FD-97B1BE0107FD}"/>
              </a:ext>
            </a:extLst>
          </p:cNvPr>
          <p:cNvSpPr txBox="1"/>
          <p:nvPr/>
        </p:nvSpPr>
        <p:spPr>
          <a:xfrm>
            <a:off x="8077201" y="407263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D3D16A-C9CB-41DA-8D91-24C353CD98AC}"/>
              </a:ext>
            </a:extLst>
          </p:cNvPr>
          <p:cNvSpPr txBox="1"/>
          <p:nvPr/>
        </p:nvSpPr>
        <p:spPr>
          <a:xfrm>
            <a:off x="8372476" y="3091556"/>
            <a:ext cx="1924048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DC4684-B8FC-4BB4-BFF4-944677F624F6}"/>
              </a:ext>
            </a:extLst>
          </p:cNvPr>
          <p:cNvSpPr txBox="1"/>
          <p:nvPr/>
        </p:nvSpPr>
        <p:spPr>
          <a:xfrm>
            <a:off x="2581276" y="5253671"/>
            <a:ext cx="74771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g++ -c main.cpp – </a:t>
            </a:r>
            <a:r>
              <a:rPr lang="en-US" b="1" dirty="0">
                <a:solidFill>
                  <a:srgbClr val="C00000"/>
                </a:solidFill>
              </a:rPr>
              <a:t>CE: ‘</a:t>
            </a:r>
            <a:r>
              <a:rPr lang="en-US" b="1" dirty="0" err="1">
                <a:solidFill>
                  <a:srgbClr val="C00000"/>
                </a:solidFill>
              </a:rPr>
              <a:t>useful_func</a:t>
            </a:r>
            <a:r>
              <a:rPr lang="en-US" b="1" dirty="0">
                <a:solidFill>
                  <a:srgbClr val="C00000"/>
                </a:solidFill>
              </a:rPr>
              <a:t>’ was not declared in this scope</a:t>
            </a:r>
          </a:p>
          <a:p>
            <a:r>
              <a:rPr lang="en-US" dirty="0"/>
              <a:t>g++ -c my_lib.cpp - </a:t>
            </a:r>
            <a:r>
              <a:rPr lang="en-US" b="1" dirty="0">
                <a:solidFill>
                  <a:srgbClr val="00B050"/>
                </a:solidFill>
              </a:rPr>
              <a:t>OK</a:t>
            </a:r>
          </a:p>
          <a:p>
            <a:r>
              <a:rPr lang="en-US" dirty="0"/>
              <a:t>g++ -c src.cpp – </a:t>
            </a:r>
            <a:r>
              <a:rPr lang="en-US" b="1" dirty="0">
                <a:solidFill>
                  <a:srgbClr val="C00000"/>
                </a:solidFill>
              </a:rPr>
              <a:t>CE: ‘</a:t>
            </a:r>
            <a:r>
              <a:rPr lang="en-US" b="1" dirty="0" err="1">
                <a:solidFill>
                  <a:srgbClr val="C00000"/>
                </a:solidFill>
              </a:rPr>
              <a:t>useful_func</a:t>
            </a:r>
            <a:r>
              <a:rPr lang="en-US" b="1" dirty="0">
                <a:solidFill>
                  <a:srgbClr val="C00000"/>
                </a:solidFill>
              </a:rPr>
              <a:t>’ was not declared in this scope </a:t>
            </a:r>
          </a:p>
          <a:p>
            <a:r>
              <a:rPr lang="en-US" dirty="0"/>
              <a:t>g++ </a:t>
            </a:r>
            <a:r>
              <a:rPr lang="en-US" dirty="0" err="1"/>
              <a:t>main.o</a:t>
            </a:r>
            <a:r>
              <a:rPr lang="en-US" dirty="0"/>
              <a:t> </a:t>
            </a:r>
            <a:r>
              <a:rPr lang="en-US" dirty="0" err="1"/>
              <a:t>my_lib.o</a:t>
            </a:r>
            <a:r>
              <a:rPr lang="en-US" dirty="0"/>
              <a:t> </a:t>
            </a:r>
            <a:r>
              <a:rPr lang="en-US" dirty="0" err="1"/>
              <a:t>src.o</a:t>
            </a:r>
            <a:r>
              <a:rPr lang="en-US" dirty="0"/>
              <a:t> –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9726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346-ACF6-4B19-ACB5-4B84FF06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148169"/>
            <a:ext cx="9382125" cy="695960"/>
          </a:xfrm>
        </p:spPr>
        <p:txBody>
          <a:bodyPr/>
          <a:lstStyle/>
          <a:p>
            <a:r>
              <a:rPr lang="ru-RU" dirty="0"/>
              <a:t>Линковка (версия </a:t>
            </a:r>
            <a:r>
              <a:rPr lang="en-US" dirty="0"/>
              <a:t>2</a:t>
            </a:r>
            <a:r>
              <a:rPr lang="ru-RU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72EE3-729D-4864-9FE7-074FB46DCC2E}"/>
              </a:ext>
            </a:extLst>
          </p:cNvPr>
          <p:cNvSpPr/>
          <p:nvPr/>
        </p:nvSpPr>
        <p:spPr>
          <a:xfrm>
            <a:off x="1404938" y="1469566"/>
            <a:ext cx="2895599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13954-DD28-430F-9A21-7ADC80E2205F}"/>
              </a:ext>
            </a:extLst>
          </p:cNvPr>
          <p:cNvSpPr txBox="1"/>
          <p:nvPr/>
        </p:nvSpPr>
        <p:spPr>
          <a:xfrm>
            <a:off x="1376358" y="1454067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main.cpp</a:t>
            </a:r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6B711-22DD-4C20-8B4B-FC9D4359D1C5}"/>
              </a:ext>
            </a:extLst>
          </p:cNvPr>
          <p:cNvSpPr/>
          <p:nvPr/>
        </p:nvSpPr>
        <p:spPr>
          <a:xfrm>
            <a:off x="1647822" y="2611456"/>
            <a:ext cx="2286000" cy="2133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0F7C6-A3A0-405A-B0A0-6B962856E4EA}"/>
              </a:ext>
            </a:extLst>
          </p:cNvPr>
          <p:cNvSpPr txBox="1"/>
          <p:nvPr/>
        </p:nvSpPr>
        <p:spPr>
          <a:xfrm>
            <a:off x="1662109" y="264003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main() {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E141B-D00F-4B8C-99E0-28D0A61D1DF3}"/>
              </a:ext>
            </a:extLst>
          </p:cNvPr>
          <p:cNvSpPr txBox="1"/>
          <p:nvPr/>
        </p:nvSpPr>
        <p:spPr>
          <a:xfrm>
            <a:off x="1947858" y="3204209"/>
            <a:ext cx="176212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33669-C797-4C23-AD8B-93E81716B807}"/>
              </a:ext>
            </a:extLst>
          </p:cNvPr>
          <p:cNvSpPr txBox="1"/>
          <p:nvPr/>
        </p:nvSpPr>
        <p:spPr>
          <a:xfrm>
            <a:off x="1947859" y="3658432"/>
            <a:ext cx="1762125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important_func</a:t>
            </a:r>
            <a:r>
              <a:rPr lang="ru-RU" sz="1600" dirty="0"/>
              <a:t>()</a:t>
            </a:r>
            <a:r>
              <a:rPr lang="en-US" sz="1600" dirty="0"/>
              <a:t>;</a:t>
            </a: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FCD45-469D-48BC-87FF-D0426EB02ACB}"/>
              </a:ext>
            </a:extLst>
          </p:cNvPr>
          <p:cNvSpPr txBox="1"/>
          <p:nvPr/>
        </p:nvSpPr>
        <p:spPr>
          <a:xfrm>
            <a:off x="1728784" y="421165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D41F6-B929-4FFF-9EC8-9A486A147541}"/>
              </a:ext>
            </a:extLst>
          </p:cNvPr>
          <p:cNvSpPr/>
          <p:nvPr/>
        </p:nvSpPr>
        <p:spPr>
          <a:xfrm>
            <a:off x="4600573" y="1469566"/>
            <a:ext cx="2857503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FC57FA-6061-48A7-ABEA-15F3770234EB}"/>
              </a:ext>
            </a:extLst>
          </p:cNvPr>
          <p:cNvSpPr txBox="1"/>
          <p:nvPr/>
        </p:nvSpPr>
        <p:spPr>
          <a:xfrm>
            <a:off x="4600574" y="1477662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my_lib.cpp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070339-46EA-46D9-A9AE-FB369B070808}"/>
              </a:ext>
            </a:extLst>
          </p:cNvPr>
          <p:cNvSpPr/>
          <p:nvPr/>
        </p:nvSpPr>
        <p:spPr>
          <a:xfrm>
            <a:off x="4943475" y="2057400"/>
            <a:ext cx="2352677" cy="2687656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2D2C0-3B96-4E97-9FE8-E99357B6E713}"/>
              </a:ext>
            </a:extLst>
          </p:cNvPr>
          <p:cNvSpPr txBox="1"/>
          <p:nvPr/>
        </p:nvSpPr>
        <p:spPr>
          <a:xfrm>
            <a:off x="4943476" y="2099030"/>
            <a:ext cx="235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B70690-5DB2-48B7-807F-9D991B528EE7}"/>
              </a:ext>
            </a:extLst>
          </p:cNvPr>
          <p:cNvSpPr txBox="1"/>
          <p:nvPr/>
        </p:nvSpPr>
        <p:spPr>
          <a:xfrm>
            <a:off x="5029200" y="425729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22F5A8-B251-4E99-B6F9-654B344337A0}"/>
              </a:ext>
            </a:extLst>
          </p:cNvPr>
          <p:cNvSpPr/>
          <p:nvPr/>
        </p:nvSpPr>
        <p:spPr>
          <a:xfrm>
            <a:off x="7758112" y="1477662"/>
            <a:ext cx="2976563" cy="34426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CD93A-473D-4530-ABE0-42A8427B4777}"/>
              </a:ext>
            </a:extLst>
          </p:cNvPr>
          <p:cNvSpPr txBox="1"/>
          <p:nvPr/>
        </p:nvSpPr>
        <p:spPr>
          <a:xfrm>
            <a:off x="7772401" y="149135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src.cpp</a:t>
            </a:r>
            <a:endParaRPr lang="ru-R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3AB157-6357-4937-8F1E-144A7808777A}"/>
              </a:ext>
            </a:extLst>
          </p:cNvPr>
          <p:cNvSpPr/>
          <p:nvPr/>
        </p:nvSpPr>
        <p:spPr>
          <a:xfrm>
            <a:off x="8001000" y="2472430"/>
            <a:ext cx="2581277" cy="2272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6131D2-8819-4154-95B8-A6BE8380ABD3}"/>
              </a:ext>
            </a:extLst>
          </p:cNvPr>
          <p:cNvSpPr txBox="1"/>
          <p:nvPr/>
        </p:nvSpPr>
        <p:spPr>
          <a:xfrm>
            <a:off x="8001001" y="2472431"/>
            <a:ext cx="258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important_func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6E908-B4B5-46D5-B5FD-97B1BE0107FD}"/>
              </a:ext>
            </a:extLst>
          </p:cNvPr>
          <p:cNvSpPr txBox="1"/>
          <p:nvPr/>
        </p:nvSpPr>
        <p:spPr>
          <a:xfrm>
            <a:off x="8077201" y="429642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D3D16A-C9CB-41DA-8D91-24C353CD98AC}"/>
              </a:ext>
            </a:extLst>
          </p:cNvPr>
          <p:cNvSpPr txBox="1"/>
          <p:nvPr/>
        </p:nvSpPr>
        <p:spPr>
          <a:xfrm>
            <a:off x="8372476" y="3091556"/>
            <a:ext cx="1926588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A52A50-0BDD-4980-A806-EC38F878563F}"/>
              </a:ext>
            </a:extLst>
          </p:cNvPr>
          <p:cNvSpPr txBox="1"/>
          <p:nvPr/>
        </p:nvSpPr>
        <p:spPr>
          <a:xfrm>
            <a:off x="4333876" y="5334000"/>
            <a:ext cx="289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g++ -c main.cpp</a:t>
            </a:r>
          </a:p>
          <a:p>
            <a:r>
              <a:rPr lang="en-US" dirty="0"/>
              <a:t>g++ -c my_lib.cpp</a:t>
            </a:r>
          </a:p>
          <a:p>
            <a:r>
              <a:rPr lang="en-US" dirty="0"/>
              <a:t>g++ -c src.cpp</a:t>
            </a:r>
          </a:p>
          <a:p>
            <a:r>
              <a:rPr lang="en-US" dirty="0"/>
              <a:t>g++ </a:t>
            </a:r>
            <a:r>
              <a:rPr lang="en-US" dirty="0" err="1"/>
              <a:t>main.o</a:t>
            </a:r>
            <a:r>
              <a:rPr lang="en-US" dirty="0"/>
              <a:t> </a:t>
            </a:r>
            <a:r>
              <a:rPr lang="en-US" dirty="0" err="1"/>
              <a:t>my_lib.o</a:t>
            </a:r>
            <a:r>
              <a:rPr lang="en-US" dirty="0"/>
              <a:t> </a:t>
            </a:r>
            <a:r>
              <a:rPr lang="en-US" dirty="0" err="1"/>
              <a:t>src.o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9634C6-B8BD-4005-8484-7B6D648CF0A2}"/>
              </a:ext>
            </a:extLst>
          </p:cNvPr>
          <p:cNvSpPr txBox="1"/>
          <p:nvPr/>
        </p:nvSpPr>
        <p:spPr>
          <a:xfrm>
            <a:off x="1645440" y="1806296"/>
            <a:ext cx="2286000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F3B4D3-CAE0-4A02-B939-44203D800A2E}"/>
              </a:ext>
            </a:extLst>
          </p:cNvPr>
          <p:cNvSpPr txBox="1"/>
          <p:nvPr/>
        </p:nvSpPr>
        <p:spPr>
          <a:xfrm>
            <a:off x="1647822" y="2221021"/>
            <a:ext cx="2286000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void </a:t>
            </a:r>
            <a:r>
              <a:rPr lang="en-US" sz="1600" dirty="0" err="1"/>
              <a:t>important_func</a:t>
            </a:r>
            <a:r>
              <a:rPr lang="ru-RU" sz="1600" dirty="0"/>
              <a:t>()</a:t>
            </a:r>
            <a:r>
              <a:rPr lang="en-US" sz="1600" dirty="0"/>
              <a:t>;</a:t>
            </a:r>
            <a:endParaRPr lang="ru-RU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CCD3BA-DE07-4619-B157-E185A1A507E6}"/>
              </a:ext>
            </a:extLst>
          </p:cNvPr>
          <p:cNvSpPr txBox="1"/>
          <p:nvPr/>
        </p:nvSpPr>
        <p:spPr>
          <a:xfrm>
            <a:off x="8001000" y="1879838"/>
            <a:ext cx="2581276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540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346-ACF6-4B19-ACB5-4B84FF06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148169"/>
            <a:ext cx="9382125" cy="695960"/>
          </a:xfrm>
        </p:spPr>
        <p:txBody>
          <a:bodyPr/>
          <a:lstStyle/>
          <a:p>
            <a:r>
              <a:rPr lang="ru-RU" dirty="0"/>
              <a:t>Линковка (версия </a:t>
            </a:r>
            <a:r>
              <a:rPr lang="en-US" dirty="0"/>
              <a:t>2</a:t>
            </a:r>
            <a:r>
              <a:rPr lang="ru-RU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72EE3-729D-4864-9FE7-074FB46DCC2E}"/>
              </a:ext>
            </a:extLst>
          </p:cNvPr>
          <p:cNvSpPr/>
          <p:nvPr/>
        </p:nvSpPr>
        <p:spPr>
          <a:xfrm>
            <a:off x="1404938" y="1469566"/>
            <a:ext cx="2895599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13954-DD28-430F-9A21-7ADC80E2205F}"/>
              </a:ext>
            </a:extLst>
          </p:cNvPr>
          <p:cNvSpPr txBox="1"/>
          <p:nvPr/>
        </p:nvSpPr>
        <p:spPr>
          <a:xfrm>
            <a:off x="1376358" y="1454067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main.cpp</a:t>
            </a:r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6B711-22DD-4C20-8B4B-FC9D4359D1C5}"/>
              </a:ext>
            </a:extLst>
          </p:cNvPr>
          <p:cNvSpPr/>
          <p:nvPr/>
        </p:nvSpPr>
        <p:spPr>
          <a:xfrm>
            <a:off x="1647822" y="2611456"/>
            <a:ext cx="2286000" cy="2133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0F7C6-A3A0-405A-B0A0-6B962856E4EA}"/>
              </a:ext>
            </a:extLst>
          </p:cNvPr>
          <p:cNvSpPr txBox="1"/>
          <p:nvPr/>
        </p:nvSpPr>
        <p:spPr>
          <a:xfrm>
            <a:off x="1662109" y="264003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main() {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E141B-D00F-4B8C-99E0-28D0A61D1DF3}"/>
              </a:ext>
            </a:extLst>
          </p:cNvPr>
          <p:cNvSpPr txBox="1"/>
          <p:nvPr/>
        </p:nvSpPr>
        <p:spPr>
          <a:xfrm>
            <a:off x="1947858" y="3204209"/>
            <a:ext cx="176212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33669-C797-4C23-AD8B-93E81716B807}"/>
              </a:ext>
            </a:extLst>
          </p:cNvPr>
          <p:cNvSpPr txBox="1"/>
          <p:nvPr/>
        </p:nvSpPr>
        <p:spPr>
          <a:xfrm>
            <a:off x="1947859" y="3658432"/>
            <a:ext cx="1762125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important_func</a:t>
            </a:r>
            <a:r>
              <a:rPr lang="ru-RU" sz="1600" dirty="0"/>
              <a:t>()</a:t>
            </a:r>
            <a:r>
              <a:rPr lang="en-US" sz="1600" dirty="0"/>
              <a:t>;</a:t>
            </a: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FCD45-469D-48BC-87FF-D0426EB02ACB}"/>
              </a:ext>
            </a:extLst>
          </p:cNvPr>
          <p:cNvSpPr txBox="1"/>
          <p:nvPr/>
        </p:nvSpPr>
        <p:spPr>
          <a:xfrm>
            <a:off x="1728784" y="421165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D41F6-B929-4FFF-9EC8-9A486A147541}"/>
              </a:ext>
            </a:extLst>
          </p:cNvPr>
          <p:cNvSpPr/>
          <p:nvPr/>
        </p:nvSpPr>
        <p:spPr>
          <a:xfrm>
            <a:off x="4600573" y="1469566"/>
            <a:ext cx="2857503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FC57FA-6061-48A7-ABEA-15F3770234EB}"/>
              </a:ext>
            </a:extLst>
          </p:cNvPr>
          <p:cNvSpPr txBox="1"/>
          <p:nvPr/>
        </p:nvSpPr>
        <p:spPr>
          <a:xfrm>
            <a:off x="4600574" y="1477662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my_lib.cpp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070339-46EA-46D9-A9AE-FB369B070808}"/>
              </a:ext>
            </a:extLst>
          </p:cNvPr>
          <p:cNvSpPr/>
          <p:nvPr/>
        </p:nvSpPr>
        <p:spPr>
          <a:xfrm>
            <a:off x="4943475" y="2057400"/>
            <a:ext cx="2352677" cy="2687656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2D2C0-3B96-4E97-9FE8-E99357B6E713}"/>
              </a:ext>
            </a:extLst>
          </p:cNvPr>
          <p:cNvSpPr txBox="1"/>
          <p:nvPr/>
        </p:nvSpPr>
        <p:spPr>
          <a:xfrm>
            <a:off x="4943476" y="2099030"/>
            <a:ext cx="235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B70690-5DB2-48B7-807F-9D991B528EE7}"/>
              </a:ext>
            </a:extLst>
          </p:cNvPr>
          <p:cNvSpPr txBox="1"/>
          <p:nvPr/>
        </p:nvSpPr>
        <p:spPr>
          <a:xfrm>
            <a:off x="5029200" y="425729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22F5A8-B251-4E99-B6F9-654B344337A0}"/>
              </a:ext>
            </a:extLst>
          </p:cNvPr>
          <p:cNvSpPr/>
          <p:nvPr/>
        </p:nvSpPr>
        <p:spPr>
          <a:xfrm>
            <a:off x="7758112" y="1477662"/>
            <a:ext cx="2976563" cy="34426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CD93A-473D-4530-ABE0-42A8427B4777}"/>
              </a:ext>
            </a:extLst>
          </p:cNvPr>
          <p:cNvSpPr txBox="1"/>
          <p:nvPr/>
        </p:nvSpPr>
        <p:spPr>
          <a:xfrm>
            <a:off x="7772401" y="149135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src.cpp</a:t>
            </a:r>
            <a:endParaRPr lang="ru-R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3AB157-6357-4937-8F1E-144A7808777A}"/>
              </a:ext>
            </a:extLst>
          </p:cNvPr>
          <p:cNvSpPr/>
          <p:nvPr/>
        </p:nvSpPr>
        <p:spPr>
          <a:xfrm>
            <a:off x="8001000" y="2472430"/>
            <a:ext cx="2581277" cy="2272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6131D2-8819-4154-95B8-A6BE8380ABD3}"/>
              </a:ext>
            </a:extLst>
          </p:cNvPr>
          <p:cNvSpPr txBox="1"/>
          <p:nvPr/>
        </p:nvSpPr>
        <p:spPr>
          <a:xfrm>
            <a:off x="8001001" y="2472431"/>
            <a:ext cx="258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important_func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6E908-B4B5-46D5-B5FD-97B1BE0107FD}"/>
              </a:ext>
            </a:extLst>
          </p:cNvPr>
          <p:cNvSpPr txBox="1"/>
          <p:nvPr/>
        </p:nvSpPr>
        <p:spPr>
          <a:xfrm>
            <a:off x="8077201" y="429642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D3D16A-C9CB-41DA-8D91-24C353CD98AC}"/>
              </a:ext>
            </a:extLst>
          </p:cNvPr>
          <p:cNvSpPr txBox="1"/>
          <p:nvPr/>
        </p:nvSpPr>
        <p:spPr>
          <a:xfrm>
            <a:off x="8372476" y="3091556"/>
            <a:ext cx="1926588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A52A50-0BDD-4980-A806-EC38F878563F}"/>
              </a:ext>
            </a:extLst>
          </p:cNvPr>
          <p:cNvSpPr txBox="1"/>
          <p:nvPr/>
        </p:nvSpPr>
        <p:spPr>
          <a:xfrm>
            <a:off x="4333875" y="5334000"/>
            <a:ext cx="3438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g++ -c main.cpp – </a:t>
            </a:r>
            <a:r>
              <a:rPr lang="en-US" b="1" dirty="0">
                <a:solidFill>
                  <a:srgbClr val="00B050"/>
                </a:solidFill>
              </a:rPr>
              <a:t>OK </a:t>
            </a:r>
          </a:p>
          <a:p>
            <a:r>
              <a:rPr lang="en-US" dirty="0"/>
              <a:t>g++ -c my_lib.cpp – </a:t>
            </a:r>
            <a:r>
              <a:rPr lang="en-US" b="1" dirty="0">
                <a:solidFill>
                  <a:srgbClr val="00B050"/>
                </a:solidFill>
              </a:rPr>
              <a:t>OK </a:t>
            </a:r>
            <a:endParaRPr lang="en-US" dirty="0"/>
          </a:p>
          <a:p>
            <a:r>
              <a:rPr lang="en-US" dirty="0"/>
              <a:t>g++ -c src.cpp – </a:t>
            </a:r>
            <a:r>
              <a:rPr lang="en-US" b="1" dirty="0">
                <a:solidFill>
                  <a:srgbClr val="00B050"/>
                </a:solidFill>
              </a:rPr>
              <a:t>OK </a:t>
            </a:r>
            <a:endParaRPr lang="en-US" dirty="0"/>
          </a:p>
          <a:p>
            <a:r>
              <a:rPr lang="en-US" dirty="0"/>
              <a:t>g++ </a:t>
            </a:r>
            <a:r>
              <a:rPr lang="en-US" dirty="0" err="1"/>
              <a:t>main.o</a:t>
            </a:r>
            <a:r>
              <a:rPr lang="en-US" dirty="0"/>
              <a:t> </a:t>
            </a:r>
            <a:r>
              <a:rPr lang="en-US" dirty="0" err="1"/>
              <a:t>my_lib.o</a:t>
            </a:r>
            <a:r>
              <a:rPr lang="en-US" dirty="0"/>
              <a:t> </a:t>
            </a:r>
            <a:r>
              <a:rPr lang="en-US" dirty="0" err="1"/>
              <a:t>src.o</a:t>
            </a:r>
            <a:r>
              <a:rPr lang="en-US" dirty="0"/>
              <a:t> – </a:t>
            </a:r>
            <a:r>
              <a:rPr lang="en-US" b="1" dirty="0">
                <a:solidFill>
                  <a:srgbClr val="00B050"/>
                </a:solidFill>
              </a:rPr>
              <a:t>OK 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9634C6-B8BD-4005-8484-7B6D648CF0A2}"/>
              </a:ext>
            </a:extLst>
          </p:cNvPr>
          <p:cNvSpPr txBox="1"/>
          <p:nvPr/>
        </p:nvSpPr>
        <p:spPr>
          <a:xfrm>
            <a:off x="1645440" y="1806296"/>
            <a:ext cx="2286000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F3B4D3-CAE0-4A02-B939-44203D800A2E}"/>
              </a:ext>
            </a:extLst>
          </p:cNvPr>
          <p:cNvSpPr txBox="1"/>
          <p:nvPr/>
        </p:nvSpPr>
        <p:spPr>
          <a:xfrm>
            <a:off x="1647822" y="2221021"/>
            <a:ext cx="2286000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void </a:t>
            </a:r>
            <a:r>
              <a:rPr lang="en-US" sz="1600" dirty="0" err="1"/>
              <a:t>important_func</a:t>
            </a:r>
            <a:r>
              <a:rPr lang="ru-RU" sz="1600" dirty="0"/>
              <a:t>()</a:t>
            </a:r>
            <a:r>
              <a:rPr lang="en-US" sz="1600" dirty="0"/>
              <a:t>;</a:t>
            </a:r>
            <a:endParaRPr lang="ru-RU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CCD3BA-DE07-4619-B157-E185A1A507E6}"/>
              </a:ext>
            </a:extLst>
          </p:cNvPr>
          <p:cNvSpPr txBox="1"/>
          <p:nvPr/>
        </p:nvSpPr>
        <p:spPr>
          <a:xfrm>
            <a:off x="8001000" y="1879838"/>
            <a:ext cx="2581276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2447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346-ACF6-4B19-ACB5-4B84FF06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148169"/>
            <a:ext cx="9382125" cy="695960"/>
          </a:xfrm>
        </p:spPr>
        <p:txBody>
          <a:bodyPr/>
          <a:lstStyle/>
          <a:p>
            <a:r>
              <a:rPr lang="ru-RU" dirty="0"/>
              <a:t>Линковка (версия </a:t>
            </a:r>
            <a:r>
              <a:rPr lang="en-US" dirty="0"/>
              <a:t>3</a:t>
            </a:r>
            <a:r>
              <a:rPr lang="ru-RU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72EE3-729D-4864-9FE7-074FB46DCC2E}"/>
              </a:ext>
            </a:extLst>
          </p:cNvPr>
          <p:cNvSpPr/>
          <p:nvPr/>
        </p:nvSpPr>
        <p:spPr>
          <a:xfrm>
            <a:off x="121441" y="1421760"/>
            <a:ext cx="2895599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13954-DD28-430F-9A21-7ADC80E2205F}"/>
              </a:ext>
            </a:extLst>
          </p:cNvPr>
          <p:cNvSpPr txBox="1"/>
          <p:nvPr/>
        </p:nvSpPr>
        <p:spPr>
          <a:xfrm>
            <a:off x="92861" y="1406261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main.cpp</a:t>
            </a:r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6B711-22DD-4C20-8B4B-FC9D4359D1C5}"/>
              </a:ext>
            </a:extLst>
          </p:cNvPr>
          <p:cNvSpPr/>
          <p:nvPr/>
        </p:nvSpPr>
        <p:spPr>
          <a:xfrm>
            <a:off x="364324" y="2563650"/>
            <a:ext cx="2378873" cy="2133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0F7C6-A3A0-405A-B0A0-6B962856E4EA}"/>
              </a:ext>
            </a:extLst>
          </p:cNvPr>
          <p:cNvSpPr txBox="1"/>
          <p:nvPr/>
        </p:nvSpPr>
        <p:spPr>
          <a:xfrm>
            <a:off x="378612" y="2592225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main() {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E141B-D00F-4B8C-99E0-28D0A61D1DF3}"/>
              </a:ext>
            </a:extLst>
          </p:cNvPr>
          <p:cNvSpPr txBox="1"/>
          <p:nvPr/>
        </p:nvSpPr>
        <p:spPr>
          <a:xfrm>
            <a:off x="664361" y="3156403"/>
            <a:ext cx="176212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33669-C797-4C23-AD8B-93E81716B807}"/>
              </a:ext>
            </a:extLst>
          </p:cNvPr>
          <p:cNvSpPr txBox="1"/>
          <p:nvPr/>
        </p:nvSpPr>
        <p:spPr>
          <a:xfrm>
            <a:off x="664362" y="3610626"/>
            <a:ext cx="1762125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important_func</a:t>
            </a:r>
            <a:r>
              <a:rPr lang="ru-RU" sz="1600" dirty="0"/>
              <a:t>()</a:t>
            </a:r>
            <a:r>
              <a:rPr lang="en-US" sz="1600" dirty="0"/>
              <a:t>;</a:t>
            </a: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FCD45-469D-48BC-87FF-D0426EB02ACB}"/>
              </a:ext>
            </a:extLst>
          </p:cNvPr>
          <p:cNvSpPr txBox="1"/>
          <p:nvPr/>
        </p:nvSpPr>
        <p:spPr>
          <a:xfrm>
            <a:off x="445287" y="416385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D41F6-B929-4FFF-9EC8-9A486A147541}"/>
              </a:ext>
            </a:extLst>
          </p:cNvPr>
          <p:cNvSpPr/>
          <p:nvPr/>
        </p:nvSpPr>
        <p:spPr>
          <a:xfrm>
            <a:off x="3117056" y="1431008"/>
            <a:ext cx="2857503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FC57FA-6061-48A7-ABEA-15F3770234EB}"/>
              </a:ext>
            </a:extLst>
          </p:cNvPr>
          <p:cNvSpPr txBox="1"/>
          <p:nvPr/>
        </p:nvSpPr>
        <p:spPr>
          <a:xfrm>
            <a:off x="3117057" y="143910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my_lib.cpp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070339-46EA-46D9-A9AE-FB369B070808}"/>
              </a:ext>
            </a:extLst>
          </p:cNvPr>
          <p:cNvSpPr/>
          <p:nvPr/>
        </p:nvSpPr>
        <p:spPr>
          <a:xfrm>
            <a:off x="3338519" y="2018842"/>
            <a:ext cx="2357432" cy="268765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2D2C0-3B96-4E97-9FE8-E99357B6E713}"/>
              </a:ext>
            </a:extLst>
          </p:cNvPr>
          <p:cNvSpPr txBox="1"/>
          <p:nvPr/>
        </p:nvSpPr>
        <p:spPr>
          <a:xfrm>
            <a:off x="3459959" y="2060472"/>
            <a:ext cx="235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B70690-5DB2-48B7-807F-9D991B528EE7}"/>
              </a:ext>
            </a:extLst>
          </p:cNvPr>
          <p:cNvSpPr txBox="1"/>
          <p:nvPr/>
        </p:nvSpPr>
        <p:spPr>
          <a:xfrm>
            <a:off x="3545683" y="421873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22F5A8-B251-4E99-B6F9-654B344337A0}"/>
              </a:ext>
            </a:extLst>
          </p:cNvPr>
          <p:cNvSpPr/>
          <p:nvPr/>
        </p:nvSpPr>
        <p:spPr>
          <a:xfrm>
            <a:off x="6096000" y="1431008"/>
            <a:ext cx="2976563" cy="34644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CD93A-473D-4530-ABE0-42A8427B4777}"/>
              </a:ext>
            </a:extLst>
          </p:cNvPr>
          <p:cNvSpPr txBox="1"/>
          <p:nvPr/>
        </p:nvSpPr>
        <p:spPr>
          <a:xfrm>
            <a:off x="6110289" y="1427359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src.cpp</a:t>
            </a:r>
            <a:endParaRPr lang="ru-R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3AB157-6357-4937-8F1E-144A7808777A}"/>
              </a:ext>
            </a:extLst>
          </p:cNvPr>
          <p:cNvSpPr/>
          <p:nvPr/>
        </p:nvSpPr>
        <p:spPr>
          <a:xfrm>
            <a:off x="6338888" y="2447566"/>
            <a:ext cx="2590803" cy="2272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6131D2-8819-4154-95B8-A6BE8380ABD3}"/>
              </a:ext>
            </a:extLst>
          </p:cNvPr>
          <p:cNvSpPr txBox="1"/>
          <p:nvPr/>
        </p:nvSpPr>
        <p:spPr>
          <a:xfrm>
            <a:off x="6338889" y="2447567"/>
            <a:ext cx="258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important_func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6E908-B4B5-46D5-B5FD-97B1BE0107FD}"/>
              </a:ext>
            </a:extLst>
          </p:cNvPr>
          <p:cNvSpPr txBox="1"/>
          <p:nvPr/>
        </p:nvSpPr>
        <p:spPr>
          <a:xfrm>
            <a:off x="6415089" y="4271565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D3D16A-C9CB-41DA-8D91-24C353CD98AC}"/>
              </a:ext>
            </a:extLst>
          </p:cNvPr>
          <p:cNvSpPr txBox="1"/>
          <p:nvPr/>
        </p:nvSpPr>
        <p:spPr>
          <a:xfrm>
            <a:off x="6710364" y="3066692"/>
            <a:ext cx="1926588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A52A50-0BDD-4980-A806-EC38F878563F}"/>
              </a:ext>
            </a:extLst>
          </p:cNvPr>
          <p:cNvSpPr txBox="1"/>
          <p:nvPr/>
        </p:nvSpPr>
        <p:spPr>
          <a:xfrm>
            <a:off x="4364835" y="5191462"/>
            <a:ext cx="289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g++ -c main.cpp</a:t>
            </a:r>
          </a:p>
          <a:p>
            <a:r>
              <a:rPr lang="en-US" dirty="0"/>
              <a:t>g++ -c my_lib.cpp</a:t>
            </a:r>
          </a:p>
          <a:p>
            <a:r>
              <a:rPr lang="en-US" dirty="0"/>
              <a:t>g++ -c src.cpp</a:t>
            </a:r>
          </a:p>
          <a:p>
            <a:r>
              <a:rPr lang="en-US" dirty="0"/>
              <a:t>g++ </a:t>
            </a:r>
            <a:r>
              <a:rPr lang="en-US" dirty="0" err="1"/>
              <a:t>main.o</a:t>
            </a:r>
            <a:r>
              <a:rPr lang="en-US" dirty="0"/>
              <a:t> </a:t>
            </a:r>
            <a:r>
              <a:rPr lang="en-US" dirty="0" err="1"/>
              <a:t>my_lib.o</a:t>
            </a:r>
            <a:r>
              <a:rPr lang="en-US" dirty="0"/>
              <a:t> </a:t>
            </a:r>
            <a:r>
              <a:rPr lang="en-US" dirty="0" err="1"/>
              <a:t>src.o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9634C6-B8BD-4005-8484-7B6D648CF0A2}"/>
              </a:ext>
            </a:extLst>
          </p:cNvPr>
          <p:cNvSpPr txBox="1"/>
          <p:nvPr/>
        </p:nvSpPr>
        <p:spPr>
          <a:xfrm>
            <a:off x="361942" y="1758490"/>
            <a:ext cx="2381257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“my_lib.hpp”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F3B4D3-CAE0-4A02-B939-44203D800A2E}"/>
              </a:ext>
            </a:extLst>
          </p:cNvPr>
          <p:cNvSpPr txBox="1"/>
          <p:nvPr/>
        </p:nvSpPr>
        <p:spPr>
          <a:xfrm>
            <a:off x="364323" y="2156397"/>
            <a:ext cx="237887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“src.hpp”</a:t>
            </a:r>
            <a:endParaRPr lang="ru-RU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7F48C3-F005-49C0-9EDA-E879D0CC7F51}"/>
              </a:ext>
            </a:extLst>
          </p:cNvPr>
          <p:cNvSpPr/>
          <p:nvPr/>
        </p:nvSpPr>
        <p:spPr>
          <a:xfrm>
            <a:off x="9163052" y="1439105"/>
            <a:ext cx="2976563" cy="16275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095934-AA34-4A3F-B2F5-1EBCE9ED83C9}"/>
              </a:ext>
            </a:extLst>
          </p:cNvPr>
          <p:cNvSpPr txBox="1"/>
          <p:nvPr/>
        </p:nvSpPr>
        <p:spPr>
          <a:xfrm>
            <a:off x="9177341" y="1417929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src.hpp</a:t>
            </a:r>
            <a:endParaRPr lang="ru-RU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AFB1C8-C2A5-47C9-B278-CA6ED8A3982F}"/>
              </a:ext>
            </a:extLst>
          </p:cNvPr>
          <p:cNvSpPr/>
          <p:nvPr/>
        </p:nvSpPr>
        <p:spPr>
          <a:xfrm>
            <a:off x="9344032" y="2135230"/>
            <a:ext cx="2581277" cy="36933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void </a:t>
            </a:r>
            <a:r>
              <a:rPr lang="en-US" dirty="0" err="1">
                <a:solidFill>
                  <a:schemeClr val="tx1"/>
                </a:solidFill>
              </a:rPr>
              <a:t>important_func</a:t>
            </a:r>
            <a:r>
              <a:rPr lang="en-US" dirty="0">
                <a:solidFill>
                  <a:schemeClr val="tx1"/>
                </a:solidFill>
              </a:rPr>
              <a:t>();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C6C0DCA-471C-4E29-8D0C-E2DB0A6E19F5}"/>
              </a:ext>
            </a:extLst>
          </p:cNvPr>
          <p:cNvSpPr/>
          <p:nvPr/>
        </p:nvSpPr>
        <p:spPr>
          <a:xfrm>
            <a:off x="9167814" y="3182967"/>
            <a:ext cx="2976563" cy="17125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B46C17-B533-4D60-9BE6-2990CA921BD4}"/>
              </a:ext>
            </a:extLst>
          </p:cNvPr>
          <p:cNvSpPr txBox="1"/>
          <p:nvPr/>
        </p:nvSpPr>
        <p:spPr>
          <a:xfrm>
            <a:off x="9177341" y="319666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my_lib.hpp</a:t>
            </a:r>
            <a:endParaRPr lang="ru-R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5F5D4C-1E55-45AD-82E9-F771B3C91EC5}"/>
              </a:ext>
            </a:extLst>
          </p:cNvPr>
          <p:cNvSpPr txBox="1"/>
          <p:nvPr/>
        </p:nvSpPr>
        <p:spPr>
          <a:xfrm>
            <a:off x="9315451" y="3861410"/>
            <a:ext cx="2581276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A3FDDC-877B-4A3A-A2B1-C8CAF59E8C0A}"/>
              </a:ext>
            </a:extLst>
          </p:cNvPr>
          <p:cNvSpPr txBox="1"/>
          <p:nvPr/>
        </p:nvSpPr>
        <p:spPr>
          <a:xfrm>
            <a:off x="6342459" y="1852133"/>
            <a:ext cx="2577706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“my_lib.hpp”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6262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346-ACF6-4B19-ACB5-4B84FF06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148169"/>
            <a:ext cx="9382125" cy="695960"/>
          </a:xfrm>
        </p:spPr>
        <p:txBody>
          <a:bodyPr/>
          <a:lstStyle/>
          <a:p>
            <a:r>
              <a:rPr lang="ru-RU" dirty="0"/>
              <a:t>Линковка (версия </a:t>
            </a:r>
            <a:r>
              <a:rPr lang="en-US" dirty="0"/>
              <a:t>3</a:t>
            </a:r>
            <a:r>
              <a:rPr lang="ru-RU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72EE3-729D-4864-9FE7-074FB46DCC2E}"/>
              </a:ext>
            </a:extLst>
          </p:cNvPr>
          <p:cNvSpPr/>
          <p:nvPr/>
        </p:nvSpPr>
        <p:spPr>
          <a:xfrm>
            <a:off x="121441" y="1421760"/>
            <a:ext cx="2895599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13954-DD28-430F-9A21-7ADC80E2205F}"/>
              </a:ext>
            </a:extLst>
          </p:cNvPr>
          <p:cNvSpPr txBox="1"/>
          <p:nvPr/>
        </p:nvSpPr>
        <p:spPr>
          <a:xfrm>
            <a:off x="92861" y="1406261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main.cpp</a:t>
            </a:r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6B711-22DD-4C20-8B4B-FC9D4359D1C5}"/>
              </a:ext>
            </a:extLst>
          </p:cNvPr>
          <p:cNvSpPr/>
          <p:nvPr/>
        </p:nvSpPr>
        <p:spPr>
          <a:xfrm>
            <a:off x="364324" y="2563650"/>
            <a:ext cx="2378873" cy="2133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0F7C6-A3A0-405A-B0A0-6B962856E4EA}"/>
              </a:ext>
            </a:extLst>
          </p:cNvPr>
          <p:cNvSpPr txBox="1"/>
          <p:nvPr/>
        </p:nvSpPr>
        <p:spPr>
          <a:xfrm>
            <a:off x="378612" y="2592225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main() {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E141B-D00F-4B8C-99E0-28D0A61D1DF3}"/>
              </a:ext>
            </a:extLst>
          </p:cNvPr>
          <p:cNvSpPr txBox="1"/>
          <p:nvPr/>
        </p:nvSpPr>
        <p:spPr>
          <a:xfrm>
            <a:off x="664361" y="3156403"/>
            <a:ext cx="176212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33669-C797-4C23-AD8B-93E81716B807}"/>
              </a:ext>
            </a:extLst>
          </p:cNvPr>
          <p:cNvSpPr txBox="1"/>
          <p:nvPr/>
        </p:nvSpPr>
        <p:spPr>
          <a:xfrm>
            <a:off x="664362" y="3610626"/>
            <a:ext cx="1762125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important_func</a:t>
            </a:r>
            <a:r>
              <a:rPr lang="ru-RU" sz="1600" dirty="0"/>
              <a:t>()</a:t>
            </a:r>
            <a:r>
              <a:rPr lang="en-US" sz="1600" dirty="0"/>
              <a:t>;</a:t>
            </a: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FCD45-469D-48BC-87FF-D0426EB02ACB}"/>
              </a:ext>
            </a:extLst>
          </p:cNvPr>
          <p:cNvSpPr txBox="1"/>
          <p:nvPr/>
        </p:nvSpPr>
        <p:spPr>
          <a:xfrm>
            <a:off x="445287" y="416385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D41F6-B929-4FFF-9EC8-9A486A147541}"/>
              </a:ext>
            </a:extLst>
          </p:cNvPr>
          <p:cNvSpPr/>
          <p:nvPr/>
        </p:nvSpPr>
        <p:spPr>
          <a:xfrm>
            <a:off x="3117056" y="1431008"/>
            <a:ext cx="2857503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FC57FA-6061-48A7-ABEA-15F3770234EB}"/>
              </a:ext>
            </a:extLst>
          </p:cNvPr>
          <p:cNvSpPr txBox="1"/>
          <p:nvPr/>
        </p:nvSpPr>
        <p:spPr>
          <a:xfrm>
            <a:off x="3117057" y="143910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my_lib.cpp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070339-46EA-46D9-A9AE-FB369B070808}"/>
              </a:ext>
            </a:extLst>
          </p:cNvPr>
          <p:cNvSpPr/>
          <p:nvPr/>
        </p:nvSpPr>
        <p:spPr>
          <a:xfrm>
            <a:off x="3338519" y="2018842"/>
            <a:ext cx="2357432" cy="268765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2D2C0-3B96-4E97-9FE8-E99357B6E713}"/>
              </a:ext>
            </a:extLst>
          </p:cNvPr>
          <p:cNvSpPr txBox="1"/>
          <p:nvPr/>
        </p:nvSpPr>
        <p:spPr>
          <a:xfrm>
            <a:off x="3459959" y="2060472"/>
            <a:ext cx="235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B70690-5DB2-48B7-807F-9D991B528EE7}"/>
              </a:ext>
            </a:extLst>
          </p:cNvPr>
          <p:cNvSpPr txBox="1"/>
          <p:nvPr/>
        </p:nvSpPr>
        <p:spPr>
          <a:xfrm>
            <a:off x="3545683" y="421873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22F5A8-B251-4E99-B6F9-654B344337A0}"/>
              </a:ext>
            </a:extLst>
          </p:cNvPr>
          <p:cNvSpPr/>
          <p:nvPr/>
        </p:nvSpPr>
        <p:spPr>
          <a:xfrm>
            <a:off x="6096000" y="1431008"/>
            <a:ext cx="2976563" cy="34644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CD93A-473D-4530-ABE0-42A8427B4777}"/>
              </a:ext>
            </a:extLst>
          </p:cNvPr>
          <p:cNvSpPr txBox="1"/>
          <p:nvPr/>
        </p:nvSpPr>
        <p:spPr>
          <a:xfrm>
            <a:off x="6110289" y="1427359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src.cpp</a:t>
            </a:r>
            <a:endParaRPr lang="ru-R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3AB157-6357-4937-8F1E-144A7808777A}"/>
              </a:ext>
            </a:extLst>
          </p:cNvPr>
          <p:cNvSpPr/>
          <p:nvPr/>
        </p:nvSpPr>
        <p:spPr>
          <a:xfrm>
            <a:off x="6338888" y="2447566"/>
            <a:ext cx="2590803" cy="2272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6131D2-8819-4154-95B8-A6BE8380ABD3}"/>
              </a:ext>
            </a:extLst>
          </p:cNvPr>
          <p:cNvSpPr txBox="1"/>
          <p:nvPr/>
        </p:nvSpPr>
        <p:spPr>
          <a:xfrm>
            <a:off x="6338889" y="2447567"/>
            <a:ext cx="258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important_func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6E908-B4B5-46D5-B5FD-97B1BE0107FD}"/>
              </a:ext>
            </a:extLst>
          </p:cNvPr>
          <p:cNvSpPr txBox="1"/>
          <p:nvPr/>
        </p:nvSpPr>
        <p:spPr>
          <a:xfrm>
            <a:off x="6415089" y="4271565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D3D16A-C9CB-41DA-8D91-24C353CD98AC}"/>
              </a:ext>
            </a:extLst>
          </p:cNvPr>
          <p:cNvSpPr txBox="1"/>
          <p:nvPr/>
        </p:nvSpPr>
        <p:spPr>
          <a:xfrm>
            <a:off x="6710364" y="3066692"/>
            <a:ext cx="1926588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9634C6-B8BD-4005-8484-7B6D648CF0A2}"/>
              </a:ext>
            </a:extLst>
          </p:cNvPr>
          <p:cNvSpPr txBox="1"/>
          <p:nvPr/>
        </p:nvSpPr>
        <p:spPr>
          <a:xfrm>
            <a:off x="361942" y="1758490"/>
            <a:ext cx="2381257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“my_lib.hpp”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F3B4D3-CAE0-4A02-B939-44203D800A2E}"/>
              </a:ext>
            </a:extLst>
          </p:cNvPr>
          <p:cNvSpPr txBox="1"/>
          <p:nvPr/>
        </p:nvSpPr>
        <p:spPr>
          <a:xfrm>
            <a:off x="364323" y="2156397"/>
            <a:ext cx="237887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“src.hpp”</a:t>
            </a:r>
            <a:endParaRPr lang="ru-RU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7F48C3-F005-49C0-9EDA-E879D0CC7F51}"/>
              </a:ext>
            </a:extLst>
          </p:cNvPr>
          <p:cNvSpPr/>
          <p:nvPr/>
        </p:nvSpPr>
        <p:spPr>
          <a:xfrm>
            <a:off x="9163052" y="1439105"/>
            <a:ext cx="2976563" cy="16275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095934-AA34-4A3F-B2F5-1EBCE9ED83C9}"/>
              </a:ext>
            </a:extLst>
          </p:cNvPr>
          <p:cNvSpPr txBox="1"/>
          <p:nvPr/>
        </p:nvSpPr>
        <p:spPr>
          <a:xfrm>
            <a:off x="9177341" y="1417929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src.hpp</a:t>
            </a:r>
            <a:endParaRPr lang="ru-RU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AFB1C8-C2A5-47C9-B278-CA6ED8A3982F}"/>
              </a:ext>
            </a:extLst>
          </p:cNvPr>
          <p:cNvSpPr/>
          <p:nvPr/>
        </p:nvSpPr>
        <p:spPr>
          <a:xfrm>
            <a:off x="9344032" y="2135230"/>
            <a:ext cx="2581277" cy="36933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void </a:t>
            </a:r>
            <a:r>
              <a:rPr lang="en-US" dirty="0" err="1">
                <a:solidFill>
                  <a:schemeClr val="tx1"/>
                </a:solidFill>
              </a:rPr>
              <a:t>important_func</a:t>
            </a:r>
            <a:r>
              <a:rPr lang="en-US" dirty="0">
                <a:solidFill>
                  <a:schemeClr val="tx1"/>
                </a:solidFill>
              </a:rPr>
              <a:t>();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C6C0DCA-471C-4E29-8D0C-E2DB0A6E19F5}"/>
              </a:ext>
            </a:extLst>
          </p:cNvPr>
          <p:cNvSpPr/>
          <p:nvPr/>
        </p:nvSpPr>
        <p:spPr>
          <a:xfrm>
            <a:off x="9167814" y="3182967"/>
            <a:ext cx="2976563" cy="17125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B46C17-B533-4D60-9BE6-2990CA921BD4}"/>
              </a:ext>
            </a:extLst>
          </p:cNvPr>
          <p:cNvSpPr txBox="1"/>
          <p:nvPr/>
        </p:nvSpPr>
        <p:spPr>
          <a:xfrm>
            <a:off x="9177341" y="319666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my_lib.hpp</a:t>
            </a:r>
            <a:endParaRPr lang="ru-R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5F5D4C-1E55-45AD-82E9-F771B3C91EC5}"/>
              </a:ext>
            </a:extLst>
          </p:cNvPr>
          <p:cNvSpPr txBox="1"/>
          <p:nvPr/>
        </p:nvSpPr>
        <p:spPr>
          <a:xfrm>
            <a:off x="9315451" y="3861410"/>
            <a:ext cx="2581276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A3FDDC-877B-4A3A-A2B1-C8CAF59E8C0A}"/>
              </a:ext>
            </a:extLst>
          </p:cNvPr>
          <p:cNvSpPr txBox="1"/>
          <p:nvPr/>
        </p:nvSpPr>
        <p:spPr>
          <a:xfrm>
            <a:off x="6342459" y="1852133"/>
            <a:ext cx="2577706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“my_lib.hpp”</a:t>
            </a:r>
            <a:endParaRPr lang="ru-R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EADA9A-D13A-45A1-8FF3-FF800DB2E1E5}"/>
              </a:ext>
            </a:extLst>
          </p:cNvPr>
          <p:cNvSpPr txBox="1"/>
          <p:nvPr/>
        </p:nvSpPr>
        <p:spPr>
          <a:xfrm>
            <a:off x="4376737" y="5294332"/>
            <a:ext cx="3438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g++ -c main.cpp – </a:t>
            </a:r>
            <a:r>
              <a:rPr lang="en-US" b="1" dirty="0">
                <a:solidFill>
                  <a:srgbClr val="00B050"/>
                </a:solidFill>
              </a:rPr>
              <a:t>OK </a:t>
            </a:r>
          </a:p>
          <a:p>
            <a:r>
              <a:rPr lang="en-US" dirty="0"/>
              <a:t>g++ -c my_lib.cpp – </a:t>
            </a:r>
            <a:r>
              <a:rPr lang="en-US" b="1" dirty="0">
                <a:solidFill>
                  <a:srgbClr val="00B050"/>
                </a:solidFill>
              </a:rPr>
              <a:t>OK </a:t>
            </a:r>
            <a:endParaRPr lang="en-US" dirty="0"/>
          </a:p>
          <a:p>
            <a:r>
              <a:rPr lang="en-US" dirty="0"/>
              <a:t>g++ -c src.cpp – </a:t>
            </a:r>
            <a:r>
              <a:rPr lang="en-US" b="1" dirty="0">
                <a:solidFill>
                  <a:srgbClr val="00B050"/>
                </a:solidFill>
              </a:rPr>
              <a:t>OK </a:t>
            </a:r>
            <a:endParaRPr lang="en-US" dirty="0"/>
          </a:p>
          <a:p>
            <a:r>
              <a:rPr lang="en-US" dirty="0"/>
              <a:t>g++ </a:t>
            </a:r>
            <a:r>
              <a:rPr lang="en-US" dirty="0" err="1"/>
              <a:t>main.o</a:t>
            </a:r>
            <a:r>
              <a:rPr lang="en-US" dirty="0"/>
              <a:t> </a:t>
            </a:r>
            <a:r>
              <a:rPr lang="en-US" dirty="0" err="1"/>
              <a:t>my_lib.o</a:t>
            </a:r>
            <a:r>
              <a:rPr lang="en-US" dirty="0"/>
              <a:t> </a:t>
            </a:r>
            <a:r>
              <a:rPr lang="en-US" dirty="0" err="1"/>
              <a:t>src.o</a:t>
            </a:r>
            <a:r>
              <a:rPr lang="en-US" dirty="0"/>
              <a:t> – </a:t>
            </a:r>
            <a:r>
              <a:rPr lang="en-US" b="1" dirty="0">
                <a:solidFill>
                  <a:srgbClr val="00B050"/>
                </a:solidFill>
              </a:rPr>
              <a:t>OK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3864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346-ACF6-4B19-ACB5-4B84FF06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148169"/>
            <a:ext cx="9382125" cy="695960"/>
          </a:xfrm>
        </p:spPr>
        <p:txBody>
          <a:bodyPr/>
          <a:lstStyle/>
          <a:p>
            <a:r>
              <a:rPr lang="ru-RU" dirty="0"/>
              <a:t>Линковка (версия </a:t>
            </a:r>
            <a:r>
              <a:rPr lang="en-US" dirty="0"/>
              <a:t>4</a:t>
            </a:r>
            <a:r>
              <a:rPr lang="ru-RU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72EE3-729D-4864-9FE7-074FB46DCC2E}"/>
              </a:ext>
            </a:extLst>
          </p:cNvPr>
          <p:cNvSpPr/>
          <p:nvPr/>
        </p:nvSpPr>
        <p:spPr>
          <a:xfrm>
            <a:off x="1576385" y="1307729"/>
            <a:ext cx="2895599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13954-DD28-430F-9A21-7ADC80E2205F}"/>
              </a:ext>
            </a:extLst>
          </p:cNvPr>
          <p:cNvSpPr txBox="1"/>
          <p:nvPr/>
        </p:nvSpPr>
        <p:spPr>
          <a:xfrm>
            <a:off x="1547805" y="1292230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main.cpp</a:t>
            </a:r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6B711-22DD-4C20-8B4B-FC9D4359D1C5}"/>
              </a:ext>
            </a:extLst>
          </p:cNvPr>
          <p:cNvSpPr/>
          <p:nvPr/>
        </p:nvSpPr>
        <p:spPr>
          <a:xfrm>
            <a:off x="1819268" y="2449619"/>
            <a:ext cx="2378873" cy="2133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0F7C6-A3A0-405A-B0A0-6B962856E4EA}"/>
              </a:ext>
            </a:extLst>
          </p:cNvPr>
          <p:cNvSpPr txBox="1"/>
          <p:nvPr/>
        </p:nvSpPr>
        <p:spPr>
          <a:xfrm>
            <a:off x="1833556" y="247819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main() {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E141B-D00F-4B8C-99E0-28D0A61D1DF3}"/>
              </a:ext>
            </a:extLst>
          </p:cNvPr>
          <p:cNvSpPr txBox="1"/>
          <p:nvPr/>
        </p:nvSpPr>
        <p:spPr>
          <a:xfrm>
            <a:off x="2119305" y="3042372"/>
            <a:ext cx="176212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33669-C797-4C23-AD8B-93E81716B807}"/>
              </a:ext>
            </a:extLst>
          </p:cNvPr>
          <p:cNvSpPr txBox="1"/>
          <p:nvPr/>
        </p:nvSpPr>
        <p:spPr>
          <a:xfrm>
            <a:off x="2119306" y="3496595"/>
            <a:ext cx="1762125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important_func</a:t>
            </a:r>
            <a:r>
              <a:rPr lang="ru-RU" sz="1600" dirty="0"/>
              <a:t>()</a:t>
            </a:r>
            <a:r>
              <a:rPr lang="en-US" sz="1600" dirty="0"/>
              <a:t>;</a:t>
            </a: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FCD45-469D-48BC-87FF-D0426EB02ACB}"/>
              </a:ext>
            </a:extLst>
          </p:cNvPr>
          <p:cNvSpPr txBox="1"/>
          <p:nvPr/>
        </p:nvSpPr>
        <p:spPr>
          <a:xfrm>
            <a:off x="1900231" y="404981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D41F6-B929-4FFF-9EC8-9A486A147541}"/>
              </a:ext>
            </a:extLst>
          </p:cNvPr>
          <p:cNvSpPr/>
          <p:nvPr/>
        </p:nvSpPr>
        <p:spPr>
          <a:xfrm>
            <a:off x="4572000" y="1316977"/>
            <a:ext cx="2857503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FC57FA-6061-48A7-ABEA-15F3770234EB}"/>
              </a:ext>
            </a:extLst>
          </p:cNvPr>
          <p:cNvSpPr txBox="1"/>
          <p:nvPr/>
        </p:nvSpPr>
        <p:spPr>
          <a:xfrm>
            <a:off x="4572001" y="1325073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my_lib.cpp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070339-46EA-46D9-A9AE-FB369B070808}"/>
              </a:ext>
            </a:extLst>
          </p:cNvPr>
          <p:cNvSpPr/>
          <p:nvPr/>
        </p:nvSpPr>
        <p:spPr>
          <a:xfrm>
            <a:off x="4793463" y="1904811"/>
            <a:ext cx="2357432" cy="268765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2D2C0-3B96-4E97-9FE8-E99357B6E713}"/>
              </a:ext>
            </a:extLst>
          </p:cNvPr>
          <p:cNvSpPr txBox="1"/>
          <p:nvPr/>
        </p:nvSpPr>
        <p:spPr>
          <a:xfrm>
            <a:off x="4914903" y="1946441"/>
            <a:ext cx="235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B70690-5DB2-48B7-807F-9D991B528EE7}"/>
              </a:ext>
            </a:extLst>
          </p:cNvPr>
          <p:cNvSpPr txBox="1"/>
          <p:nvPr/>
        </p:nvSpPr>
        <p:spPr>
          <a:xfrm>
            <a:off x="5000627" y="410470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22F5A8-B251-4E99-B6F9-654B344337A0}"/>
              </a:ext>
            </a:extLst>
          </p:cNvPr>
          <p:cNvSpPr/>
          <p:nvPr/>
        </p:nvSpPr>
        <p:spPr>
          <a:xfrm>
            <a:off x="7550944" y="1316977"/>
            <a:ext cx="2976563" cy="34644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CD93A-473D-4530-ABE0-42A8427B4777}"/>
              </a:ext>
            </a:extLst>
          </p:cNvPr>
          <p:cNvSpPr txBox="1"/>
          <p:nvPr/>
        </p:nvSpPr>
        <p:spPr>
          <a:xfrm>
            <a:off x="7565233" y="131332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src.cpp</a:t>
            </a:r>
            <a:endParaRPr lang="ru-R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3AB157-6357-4937-8F1E-144A7808777A}"/>
              </a:ext>
            </a:extLst>
          </p:cNvPr>
          <p:cNvSpPr/>
          <p:nvPr/>
        </p:nvSpPr>
        <p:spPr>
          <a:xfrm>
            <a:off x="7793832" y="2333535"/>
            <a:ext cx="2590803" cy="2272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6131D2-8819-4154-95B8-A6BE8380ABD3}"/>
              </a:ext>
            </a:extLst>
          </p:cNvPr>
          <p:cNvSpPr txBox="1"/>
          <p:nvPr/>
        </p:nvSpPr>
        <p:spPr>
          <a:xfrm>
            <a:off x="7793833" y="2333536"/>
            <a:ext cx="258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important_func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6E908-B4B5-46D5-B5FD-97B1BE0107FD}"/>
              </a:ext>
            </a:extLst>
          </p:cNvPr>
          <p:cNvSpPr txBox="1"/>
          <p:nvPr/>
        </p:nvSpPr>
        <p:spPr>
          <a:xfrm>
            <a:off x="7870033" y="4157534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D3D16A-C9CB-41DA-8D91-24C353CD98AC}"/>
              </a:ext>
            </a:extLst>
          </p:cNvPr>
          <p:cNvSpPr txBox="1"/>
          <p:nvPr/>
        </p:nvSpPr>
        <p:spPr>
          <a:xfrm>
            <a:off x="8165308" y="2952661"/>
            <a:ext cx="1926588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A52A50-0BDD-4980-A806-EC38F878563F}"/>
              </a:ext>
            </a:extLst>
          </p:cNvPr>
          <p:cNvSpPr txBox="1"/>
          <p:nvPr/>
        </p:nvSpPr>
        <p:spPr>
          <a:xfrm>
            <a:off x="4498186" y="5190598"/>
            <a:ext cx="31861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g++ -c main.cpp</a:t>
            </a:r>
            <a:r>
              <a:rPr lang="en-US" b="1" dirty="0">
                <a:solidFill>
                  <a:srgbClr val="00B050"/>
                </a:solidFill>
              </a:rPr>
              <a:t> </a:t>
            </a:r>
          </a:p>
          <a:p>
            <a:r>
              <a:rPr lang="en-US" dirty="0"/>
              <a:t>g++ -c my_lib.cpp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 </a:t>
            </a:r>
          </a:p>
          <a:p>
            <a:r>
              <a:rPr lang="en-US" dirty="0"/>
              <a:t>g++ -c src.cpp</a:t>
            </a:r>
          </a:p>
          <a:p>
            <a:r>
              <a:rPr lang="en-US" dirty="0"/>
              <a:t>g++ </a:t>
            </a:r>
            <a:r>
              <a:rPr lang="en-US" dirty="0" err="1"/>
              <a:t>main.o</a:t>
            </a:r>
            <a:r>
              <a:rPr lang="en-US" dirty="0"/>
              <a:t> </a:t>
            </a:r>
            <a:r>
              <a:rPr lang="en-US" dirty="0" err="1"/>
              <a:t>my_lib.o</a:t>
            </a:r>
            <a:r>
              <a:rPr lang="en-US" dirty="0"/>
              <a:t> </a:t>
            </a:r>
            <a:r>
              <a:rPr lang="en-US" dirty="0" err="1"/>
              <a:t>src.o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9634C6-B8BD-4005-8484-7B6D648CF0A2}"/>
              </a:ext>
            </a:extLst>
          </p:cNvPr>
          <p:cNvSpPr txBox="1"/>
          <p:nvPr/>
        </p:nvSpPr>
        <p:spPr>
          <a:xfrm>
            <a:off x="1816886" y="1644459"/>
            <a:ext cx="2381257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“my_lib.cpp”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F3B4D3-CAE0-4A02-B939-44203D800A2E}"/>
              </a:ext>
            </a:extLst>
          </p:cNvPr>
          <p:cNvSpPr txBox="1"/>
          <p:nvPr/>
        </p:nvSpPr>
        <p:spPr>
          <a:xfrm>
            <a:off x="1819267" y="2042366"/>
            <a:ext cx="237887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“src.cpp”</a:t>
            </a:r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A3FDDC-877B-4A3A-A2B1-C8CAF59E8C0A}"/>
              </a:ext>
            </a:extLst>
          </p:cNvPr>
          <p:cNvSpPr txBox="1"/>
          <p:nvPr/>
        </p:nvSpPr>
        <p:spPr>
          <a:xfrm>
            <a:off x="7797403" y="1738102"/>
            <a:ext cx="2577706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“my_lib.cpp”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10890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346-ACF6-4B19-ACB5-4B84FF06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148169"/>
            <a:ext cx="9382125" cy="695960"/>
          </a:xfrm>
        </p:spPr>
        <p:txBody>
          <a:bodyPr/>
          <a:lstStyle/>
          <a:p>
            <a:r>
              <a:rPr lang="ru-RU" dirty="0"/>
              <a:t>Линковка (версия </a:t>
            </a:r>
            <a:r>
              <a:rPr lang="en-US" dirty="0"/>
              <a:t>4</a:t>
            </a:r>
            <a:r>
              <a:rPr lang="ru-RU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72EE3-729D-4864-9FE7-074FB46DCC2E}"/>
              </a:ext>
            </a:extLst>
          </p:cNvPr>
          <p:cNvSpPr/>
          <p:nvPr/>
        </p:nvSpPr>
        <p:spPr>
          <a:xfrm>
            <a:off x="1576385" y="1307729"/>
            <a:ext cx="2895599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13954-DD28-430F-9A21-7ADC80E2205F}"/>
              </a:ext>
            </a:extLst>
          </p:cNvPr>
          <p:cNvSpPr txBox="1"/>
          <p:nvPr/>
        </p:nvSpPr>
        <p:spPr>
          <a:xfrm>
            <a:off x="1547805" y="1292230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main.cpp</a:t>
            </a:r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6B711-22DD-4C20-8B4B-FC9D4359D1C5}"/>
              </a:ext>
            </a:extLst>
          </p:cNvPr>
          <p:cNvSpPr/>
          <p:nvPr/>
        </p:nvSpPr>
        <p:spPr>
          <a:xfrm>
            <a:off x="1819268" y="2449619"/>
            <a:ext cx="2378873" cy="2133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0F7C6-A3A0-405A-B0A0-6B962856E4EA}"/>
              </a:ext>
            </a:extLst>
          </p:cNvPr>
          <p:cNvSpPr txBox="1"/>
          <p:nvPr/>
        </p:nvSpPr>
        <p:spPr>
          <a:xfrm>
            <a:off x="1833556" y="247819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main() {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E141B-D00F-4B8C-99E0-28D0A61D1DF3}"/>
              </a:ext>
            </a:extLst>
          </p:cNvPr>
          <p:cNvSpPr txBox="1"/>
          <p:nvPr/>
        </p:nvSpPr>
        <p:spPr>
          <a:xfrm>
            <a:off x="2119305" y="3042372"/>
            <a:ext cx="176212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33669-C797-4C23-AD8B-93E81716B807}"/>
              </a:ext>
            </a:extLst>
          </p:cNvPr>
          <p:cNvSpPr txBox="1"/>
          <p:nvPr/>
        </p:nvSpPr>
        <p:spPr>
          <a:xfrm>
            <a:off x="2119306" y="3496595"/>
            <a:ext cx="1762125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important_func</a:t>
            </a:r>
            <a:r>
              <a:rPr lang="ru-RU" sz="1600" dirty="0"/>
              <a:t>()</a:t>
            </a:r>
            <a:r>
              <a:rPr lang="en-US" sz="1600" dirty="0"/>
              <a:t>;</a:t>
            </a: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FCD45-469D-48BC-87FF-D0426EB02ACB}"/>
              </a:ext>
            </a:extLst>
          </p:cNvPr>
          <p:cNvSpPr txBox="1"/>
          <p:nvPr/>
        </p:nvSpPr>
        <p:spPr>
          <a:xfrm>
            <a:off x="1900231" y="404981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D41F6-B929-4FFF-9EC8-9A486A147541}"/>
              </a:ext>
            </a:extLst>
          </p:cNvPr>
          <p:cNvSpPr/>
          <p:nvPr/>
        </p:nvSpPr>
        <p:spPr>
          <a:xfrm>
            <a:off x="4572000" y="1316977"/>
            <a:ext cx="2857503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FC57FA-6061-48A7-ABEA-15F3770234EB}"/>
              </a:ext>
            </a:extLst>
          </p:cNvPr>
          <p:cNvSpPr txBox="1"/>
          <p:nvPr/>
        </p:nvSpPr>
        <p:spPr>
          <a:xfrm>
            <a:off x="4572001" y="1325073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my_lib.cpp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070339-46EA-46D9-A9AE-FB369B070808}"/>
              </a:ext>
            </a:extLst>
          </p:cNvPr>
          <p:cNvSpPr/>
          <p:nvPr/>
        </p:nvSpPr>
        <p:spPr>
          <a:xfrm>
            <a:off x="4793463" y="1904811"/>
            <a:ext cx="2357432" cy="268765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2D2C0-3B96-4E97-9FE8-E99357B6E713}"/>
              </a:ext>
            </a:extLst>
          </p:cNvPr>
          <p:cNvSpPr txBox="1"/>
          <p:nvPr/>
        </p:nvSpPr>
        <p:spPr>
          <a:xfrm>
            <a:off x="4914903" y="1946441"/>
            <a:ext cx="235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B70690-5DB2-48B7-807F-9D991B528EE7}"/>
              </a:ext>
            </a:extLst>
          </p:cNvPr>
          <p:cNvSpPr txBox="1"/>
          <p:nvPr/>
        </p:nvSpPr>
        <p:spPr>
          <a:xfrm>
            <a:off x="5000627" y="410470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22F5A8-B251-4E99-B6F9-654B344337A0}"/>
              </a:ext>
            </a:extLst>
          </p:cNvPr>
          <p:cNvSpPr/>
          <p:nvPr/>
        </p:nvSpPr>
        <p:spPr>
          <a:xfrm>
            <a:off x="7550944" y="1316977"/>
            <a:ext cx="2976563" cy="34644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CD93A-473D-4530-ABE0-42A8427B4777}"/>
              </a:ext>
            </a:extLst>
          </p:cNvPr>
          <p:cNvSpPr txBox="1"/>
          <p:nvPr/>
        </p:nvSpPr>
        <p:spPr>
          <a:xfrm>
            <a:off x="7565233" y="131332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src.cpp</a:t>
            </a:r>
            <a:endParaRPr lang="ru-R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3AB157-6357-4937-8F1E-144A7808777A}"/>
              </a:ext>
            </a:extLst>
          </p:cNvPr>
          <p:cNvSpPr/>
          <p:nvPr/>
        </p:nvSpPr>
        <p:spPr>
          <a:xfrm>
            <a:off x="7793832" y="2333535"/>
            <a:ext cx="2590803" cy="2272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6131D2-8819-4154-95B8-A6BE8380ABD3}"/>
              </a:ext>
            </a:extLst>
          </p:cNvPr>
          <p:cNvSpPr txBox="1"/>
          <p:nvPr/>
        </p:nvSpPr>
        <p:spPr>
          <a:xfrm>
            <a:off x="7793833" y="2333536"/>
            <a:ext cx="258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important_func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6E908-B4B5-46D5-B5FD-97B1BE0107FD}"/>
              </a:ext>
            </a:extLst>
          </p:cNvPr>
          <p:cNvSpPr txBox="1"/>
          <p:nvPr/>
        </p:nvSpPr>
        <p:spPr>
          <a:xfrm>
            <a:off x="7870033" y="4157534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D3D16A-C9CB-41DA-8D91-24C353CD98AC}"/>
              </a:ext>
            </a:extLst>
          </p:cNvPr>
          <p:cNvSpPr txBox="1"/>
          <p:nvPr/>
        </p:nvSpPr>
        <p:spPr>
          <a:xfrm>
            <a:off x="8165308" y="2952661"/>
            <a:ext cx="1926588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A52A50-0BDD-4980-A806-EC38F878563F}"/>
              </a:ext>
            </a:extLst>
          </p:cNvPr>
          <p:cNvSpPr txBox="1"/>
          <p:nvPr/>
        </p:nvSpPr>
        <p:spPr>
          <a:xfrm>
            <a:off x="1097760" y="5057266"/>
            <a:ext cx="3374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g++ -c main.cpp –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en-US" b="1" dirty="0">
                <a:solidFill>
                  <a:srgbClr val="00B050"/>
                </a:solidFill>
              </a:rPr>
              <a:t> </a:t>
            </a:r>
          </a:p>
          <a:p>
            <a:r>
              <a:rPr lang="en-US" dirty="0"/>
              <a:t>g++ -c my_lib.cpp – </a:t>
            </a:r>
            <a:r>
              <a:rPr lang="en-US" b="1" dirty="0">
                <a:solidFill>
                  <a:srgbClr val="00B050"/>
                </a:solidFill>
              </a:rPr>
              <a:t>OK </a:t>
            </a:r>
            <a:r>
              <a:rPr lang="en-US" dirty="0"/>
              <a:t> </a:t>
            </a:r>
          </a:p>
          <a:p>
            <a:r>
              <a:rPr lang="en-US" dirty="0"/>
              <a:t>g++ -c src.cpp – </a:t>
            </a:r>
            <a:r>
              <a:rPr lang="en-US" b="1" dirty="0">
                <a:solidFill>
                  <a:srgbClr val="00B050"/>
                </a:solidFill>
              </a:rPr>
              <a:t>OK </a:t>
            </a:r>
            <a:endParaRPr lang="en-US" dirty="0"/>
          </a:p>
          <a:p>
            <a:r>
              <a:rPr lang="en-US" dirty="0"/>
              <a:t>g++ </a:t>
            </a:r>
            <a:r>
              <a:rPr lang="en-US" dirty="0" err="1"/>
              <a:t>main.o</a:t>
            </a:r>
            <a:r>
              <a:rPr lang="en-US" dirty="0"/>
              <a:t> </a:t>
            </a:r>
            <a:r>
              <a:rPr lang="en-US" dirty="0" err="1"/>
              <a:t>my_lib.o</a:t>
            </a:r>
            <a:r>
              <a:rPr lang="en-US" dirty="0"/>
              <a:t> </a:t>
            </a:r>
            <a:r>
              <a:rPr lang="en-US" dirty="0" err="1"/>
              <a:t>src.o</a:t>
            </a:r>
            <a:r>
              <a:rPr lang="en-US" dirty="0"/>
              <a:t> –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9634C6-B8BD-4005-8484-7B6D648CF0A2}"/>
              </a:ext>
            </a:extLst>
          </p:cNvPr>
          <p:cNvSpPr txBox="1"/>
          <p:nvPr/>
        </p:nvSpPr>
        <p:spPr>
          <a:xfrm>
            <a:off x="1816886" y="1644459"/>
            <a:ext cx="2381257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“my_lib.cpp”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F3B4D3-CAE0-4A02-B939-44203D800A2E}"/>
              </a:ext>
            </a:extLst>
          </p:cNvPr>
          <p:cNvSpPr txBox="1"/>
          <p:nvPr/>
        </p:nvSpPr>
        <p:spPr>
          <a:xfrm>
            <a:off x="1819267" y="2042366"/>
            <a:ext cx="237887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“src.cpp”</a:t>
            </a:r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A3FDDC-877B-4A3A-A2B1-C8CAF59E8C0A}"/>
              </a:ext>
            </a:extLst>
          </p:cNvPr>
          <p:cNvSpPr txBox="1"/>
          <p:nvPr/>
        </p:nvSpPr>
        <p:spPr>
          <a:xfrm>
            <a:off x="7797403" y="1738102"/>
            <a:ext cx="2577706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“my_lib.cpp”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D51661-9893-4E3E-AF16-43720E4FE1C4}"/>
              </a:ext>
            </a:extLst>
          </p:cNvPr>
          <p:cNvSpPr txBox="1"/>
          <p:nvPr/>
        </p:nvSpPr>
        <p:spPr>
          <a:xfrm>
            <a:off x="4793463" y="4855953"/>
            <a:ext cx="6103137" cy="18158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In file included from </a:t>
            </a:r>
            <a:r>
              <a:rPr lang="en-US" sz="1400" b="1" dirty="0">
                <a:solidFill>
                  <a:schemeClr val="accent4"/>
                </a:solidFill>
              </a:rPr>
              <a:t>src.cpp</a:t>
            </a:r>
            <a:r>
              <a:rPr lang="en-US" sz="1400" b="1" dirty="0"/>
              <a:t>:2,</a:t>
            </a:r>
          </a:p>
          <a:p>
            <a:r>
              <a:rPr lang="en-US" sz="1400" b="1" dirty="0"/>
              <a:t>                 from main.cpp:2: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my_lib.cpp</a:t>
            </a:r>
            <a:r>
              <a:rPr lang="en-US" sz="1400" b="1" dirty="0"/>
              <a:t>:4:6: error: redefinition of ‘void </a:t>
            </a:r>
            <a:r>
              <a:rPr lang="en-US" sz="1400" b="1" dirty="0" err="1">
                <a:solidFill>
                  <a:srgbClr val="C00000"/>
                </a:solidFill>
              </a:rPr>
              <a:t>useful_func</a:t>
            </a:r>
            <a:r>
              <a:rPr lang="en-US" sz="1400" b="1" dirty="0"/>
              <a:t>()’</a:t>
            </a:r>
          </a:p>
          <a:p>
            <a:r>
              <a:rPr lang="en-US" sz="1400" b="1" dirty="0"/>
              <a:t>    4 | void </a:t>
            </a:r>
            <a:r>
              <a:rPr lang="en-US" sz="1400" b="1" dirty="0" err="1">
                <a:solidFill>
                  <a:srgbClr val="C00000"/>
                </a:solidFill>
              </a:rPr>
              <a:t>useful_func</a:t>
            </a:r>
            <a:r>
              <a:rPr lang="en-US" sz="1400" b="1" dirty="0"/>
              <a:t>() {</a:t>
            </a:r>
          </a:p>
          <a:p>
            <a:r>
              <a:rPr lang="en-US" sz="1400" b="1" dirty="0"/>
              <a:t>      |      ^~~~~~~~~~~</a:t>
            </a:r>
          </a:p>
          <a:p>
            <a:r>
              <a:rPr lang="en-US" sz="1400" b="1" dirty="0"/>
              <a:t>In file included from main.cpp:1: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my_lib.cpp</a:t>
            </a:r>
            <a:r>
              <a:rPr lang="en-US" sz="1400" b="1" dirty="0"/>
              <a:t>:4:6: note: ‘void </a:t>
            </a:r>
            <a:r>
              <a:rPr lang="en-US" sz="1400" b="1" dirty="0" err="1">
                <a:solidFill>
                  <a:srgbClr val="C00000"/>
                </a:solidFill>
              </a:rPr>
              <a:t>useful_func</a:t>
            </a:r>
            <a:r>
              <a:rPr lang="en-US" sz="1400" b="1" dirty="0"/>
              <a:t>()’ previously defined here</a:t>
            </a:r>
          </a:p>
          <a:p>
            <a:r>
              <a:rPr lang="en-US" sz="1400" b="1" dirty="0"/>
              <a:t>    4 | void </a:t>
            </a:r>
            <a:r>
              <a:rPr lang="en-US" sz="1400" b="1" dirty="0" err="1">
                <a:solidFill>
                  <a:srgbClr val="C00000"/>
                </a:solidFill>
              </a:rPr>
              <a:t>useful_func</a:t>
            </a:r>
            <a:r>
              <a:rPr lang="en-US" sz="1400" b="1" dirty="0"/>
              <a:t>() {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121685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346-ACF6-4B19-ACB5-4B84FF06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148169"/>
            <a:ext cx="9382125" cy="695960"/>
          </a:xfrm>
        </p:spPr>
        <p:txBody>
          <a:bodyPr/>
          <a:lstStyle/>
          <a:p>
            <a:r>
              <a:rPr lang="ru-RU" dirty="0"/>
              <a:t>Линковка (версия </a:t>
            </a:r>
            <a:r>
              <a:rPr lang="en-US" dirty="0"/>
              <a:t>5</a:t>
            </a:r>
            <a:r>
              <a:rPr lang="ru-RU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72EE3-729D-4864-9FE7-074FB46DCC2E}"/>
              </a:ext>
            </a:extLst>
          </p:cNvPr>
          <p:cNvSpPr/>
          <p:nvPr/>
        </p:nvSpPr>
        <p:spPr>
          <a:xfrm>
            <a:off x="1576385" y="1307729"/>
            <a:ext cx="2895599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13954-DD28-430F-9A21-7ADC80E2205F}"/>
              </a:ext>
            </a:extLst>
          </p:cNvPr>
          <p:cNvSpPr txBox="1"/>
          <p:nvPr/>
        </p:nvSpPr>
        <p:spPr>
          <a:xfrm>
            <a:off x="1547805" y="1292230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main.cpp</a:t>
            </a:r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6B711-22DD-4C20-8B4B-FC9D4359D1C5}"/>
              </a:ext>
            </a:extLst>
          </p:cNvPr>
          <p:cNvSpPr/>
          <p:nvPr/>
        </p:nvSpPr>
        <p:spPr>
          <a:xfrm>
            <a:off x="1819268" y="2449619"/>
            <a:ext cx="2405072" cy="2133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0F7C6-A3A0-405A-B0A0-6B962856E4EA}"/>
              </a:ext>
            </a:extLst>
          </p:cNvPr>
          <p:cNvSpPr txBox="1"/>
          <p:nvPr/>
        </p:nvSpPr>
        <p:spPr>
          <a:xfrm>
            <a:off x="1833556" y="247819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main() {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E141B-D00F-4B8C-99E0-28D0A61D1DF3}"/>
              </a:ext>
            </a:extLst>
          </p:cNvPr>
          <p:cNvSpPr txBox="1"/>
          <p:nvPr/>
        </p:nvSpPr>
        <p:spPr>
          <a:xfrm>
            <a:off x="2119305" y="3042372"/>
            <a:ext cx="176212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33669-C797-4C23-AD8B-93E81716B807}"/>
              </a:ext>
            </a:extLst>
          </p:cNvPr>
          <p:cNvSpPr txBox="1"/>
          <p:nvPr/>
        </p:nvSpPr>
        <p:spPr>
          <a:xfrm>
            <a:off x="2119306" y="3496595"/>
            <a:ext cx="1762125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important_func</a:t>
            </a:r>
            <a:r>
              <a:rPr lang="ru-RU" sz="1600" dirty="0"/>
              <a:t>()</a:t>
            </a:r>
            <a:r>
              <a:rPr lang="en-US" sz="1600" dirty="0"/>
              <a:t>;</a:t>
            </a: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FCD45-469D-48BC-87FF-D0426EB02ACB}"/>
              </a:ext>
            </a:extLst>
          </p:cNvPr>
          <p:cNvSpPr txBox="1"/>
          <p:nvPr/>
        </p:nvSpPr>
        <p:spPr>
          <a:xfrm>
            <a:off x="1900231" y="404981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D41F6-B929-4FFF-9EC8-9A486A147541}"/>
              </a:ext>
            </a:extLst>
          </p:cNvPr>
          <p:cNvSpPr/>
          <p:nvPr/>
        </p:nvSpPr>
        <p:spPr>
          <a:xfrm>
            <a:off x="4572000" y="1316977"/>
            <a:ext cx="2857503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FC57FA-6061-48A7-ABEA-15F3770234EB}"/>
              </a:ext>
            </a:extLst>
          </p:cNvPr>
          <p:cNvSpPr txBox="1"/>
          <p:nvPr/>
        </p:nvSpPr>
        <p:spPr>
          <a:xfrm>
            <a:off x="4572001" y="1325073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my_lib.cpp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070339-46EA-46D9-A9AE-FB369B070808}"/>
              </a:ext>
            </a:extLst>
          </p:cNvPr>
          <p:cNvSpPr/>
          <p:nvPr/>
        </p:nvSpPr>
        <p:spPr>
          <a:xfrm>
            <a:off x="4793463" y="1904811"/>
            <a:ext cx="2357432" cy="268765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2D2C0-3B96-4E97-9FE8-E99357B6E713}"/>
              </a:ext>
            </a:extLst>
          </p:cNvPr>
          <p:cNvSpPr txBox="1"/>
          <p:nvPr/>
        </p:nvSpPr>
        <p:spPr>
          <a:xfrm>
            <a:off x="4914903" y="1946441"/>
            <a:ext cx="235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B70690-5DB2-48B7-807F-9D991B528EE7}"/>
              </a:ext>
            </a:extLst>
          </p:cNvPr>
          <p:cNvSpPr txBox="1"/>
          <p:nvPr/>
        </p:nvSpPr>
        <p:spPr>
          <a:xfrm>
            <a:off x="5000627" y="410470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22F5A8-B251-4E99-B6F9-654B344337A0}"/>
              </a:ext>
            </a:extLst>
          </p:cNvPr>
          <p:cNvSpPr/>
          <p:nvPr/>
        </p:nvSpPr>
        <p:spPr>
          <a:xfrm>
            <a:off x="7550944" y="1316977"/>
            <a:ext cx="2976563" cy="34644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CD93A-473D-4530-ABE0-42A8427B4777}"/>
              </a:ext>
            </a:extLst>
          </p:cNvPr>
          <p:cNvSpPr txBox="1"/>
          <p:nvPr/>
        </p:nvSpPr>
        <p:spPr>
          <a:xfrm>
            <a:off x="7565233" y="131332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src.cpp</a:t>
            </a:r>
            <a:endParaRPr lang="ru-R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3AB157-6357-4937-8F1E-144A7808777A}"/>
              </a:ext>
            </a:extLst>
          </p:cNvPr>
          <p:cNvSpPr/>
          <p:nvPr/>
        </p:nvSpPr>
        <p:spPr>
          <a:xfrm>
            <a:off x="7793832" y="2333535"/>
            <a:ext cx="2590803" cy="2272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6131D2-8819-4154-95B8-A6BE8380ABD3}"/>
              </a:ext>
            </a:extLst>
          </p:cNvPr>
          <p:cNvSpPr txBox="1"/>
          <p:nvPr/>
        </p:nvSpPr>
        <p:spPr>
          <a:xfrm>
            <a:off x="7793833" y="2333536"/>
            <a:ext cx="258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important_func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6E908-B4B5-46D5-B5FD-97B1BE0107FD}"/>
              </a:ext>
            </a:extLst>
          </p:cNvPr>
          <p:cNvSpPr txBox="1"/>
          <p:nvPr/>
        </p:nvSpPr>
        <p:spPr>
          <a:xfrm>
            <a:off x="7870033" y="4157534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D3D16A-C9CB-41DA-8D91-24C353CD98AC}"/>
              </a:ext>
            </a:extLst>
          </p:cNvPr>
          <p:cNvSpPr txBox="1"/>
          <p:nvPr/>
        </p:nvSpPr>
        <p:spPr>
          <a:xfrm>
            <a:off x="8165308" y="2952661"/>
            <a:ext cx="1926588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A52A50-0BDD-4980-A806-EC38F878563F}"/>
              </a:ext>
            </a:extLst>
          </p:cNvPr>
          <p:cNvSpPr txBox="1"/>
          <p:nvPr/>
        </p:nvSpPr>
        <p:spPr>
          <a:xfrm>
            <a:off x="4498186" y="5180301"/>
            <a:ext cx="31861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g++ -c main.cpp </a:t>
            </a:r>
            <a:r>
              <a:rPr lang="en-US" b="1" dirty="0">
                <a:solidFill>
                  <a:srgbClr val="00B050"/>
                </a:solidFill>
              </a:rPr>
              <a:t> </a:t>
            </a:r>
          </a:p>
          <a:p>
            <a:r>
              <a:rPr lang="en-US" dirty="0"/>
              <a:t>g++ -c my_lib.cpp</a:t>
            </a:r>
          </a:p>
          <a:p>
            <a:r>
              <a:rPr lang="en-US" dirty="0"/>
              <a:t>g++ -c src.cpp</a:t>
            </a:r>
          </a:p>
          <a:p>
            <a:r>
              <a:rPr lang="en-US" dirty="0"/>
              <a:t>g++ </a:t>
            </a:r>
            <a:r>
              <a:rPr lang="en-US" dirty="0" err="1"/>
              <a:t>main.o</a:t>
            </a:r>
            <a:r>
              <a:rPr lang="en-US" dirty="0"/>
              <a:t> </a:t>
            </a:r>
            <a:r>
              <a:rPr lang="en-US" dirty="0" err="1"/>
              <a:t>my_lib.o</a:t>
            </a:r>
            <a:r>
              <a:rPr lang="en-US" dirty="0"/>
              <a:t> </a:t>
            </a:r>
            <a:r>
              <a:rPr lang="en-US" dirty="0" err="1"/>
              <a:t>src.o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9634C6-B8BD-4005-8484-7B6D648CF0A2}"/>
              </a:ext>
            </a:extLst>
          </p:cNvPr>
          <p:cNvSpPr txBox="1"/>
          <p:nvPr/>
        </p:nvSpPr>
        <p:spPr>
          <a:xfrm>
            <a:off x="1816886" y="1644459"/>
            <a:ext cx="2407454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“my_lib.cpp”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F3B4D3-CAE0-4A02-B939-44203D800A2E}"/>
              </a:ext>
            </a:extLst>
          </p:cNvPr>
          <p:cNvSpPr txBox="1"/>
          <p:nvPr/>
        </p:nvSpPr>
        <p:spPr>
          <a:xfrm>
            <a:off x="1819267" y="2042366"/>
            <a:ext cx="240745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important_func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A3FDDC-877B-4A3A-A2B1-C8CAF59E8C0A}"/>
              </a:ext>
            </a:extLst>
          </p:cNvPr>
          <p:cNvSpPr txBox="1"/>
          <p:nvPr/>
        </p:nvSpPr>
        <p:spPr>
          <a:xfrm>
            <a:off x="7797403" y="1738102"/>
            <a:ext cx="2577706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“my_lib.cpp”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70488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346-ACF6-4B19-ACB5-4B84FF06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148169"/>
            <a:ext cx="9382125" cy="695960"/>
          </a:xfrm>
        </p:spPr>
        <p:txBody>
          <a:bodyPr/>
          <a:lstStyle/>
          <a:p>
            <a:r>
              <a:rPr lang="ru-RU" dirty="0"/>
              <a:t>Линковка (версия </a:t>
            </a:r>
            <a:r>
              <a:rPr lang="en-US" dirty="0"/>
              <a:t>5</a:t>
            </a:r>
            <a:r>
              <a:rPr lang="ru-RU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72EE3-729D-4864-9FE7-074FB46DCC2E}"/>
              </a:ext>
            </a:extLst>
          </p:cNvPr>
          <p:cNvSpPr/>
          <p:nvPr/>
        </p:nvSpPr>
        <p:spPr>
          <a:xfrm>
            <a:off x="1576385" y="1307729"/>
            <a:ext cx="2895599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13954-DD28-430F-9A21-7ADC80E2205F}"/>
              </a:ext>
            </a:extLst>
          </p:cNvPr>
          <p:cNvSpPr txBox="1"/>
          <p:nvPr/>
        </p:nvSpPr>
        <p:spPr>
          <a:xfrm>
            <a:off x="1547805" y="1292230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main.cpp</a:t>
            </a:r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6B711-22DD-4C20-8B4B-FC9D4359D1C5}"/>
              </a:ext>
            </a:extLst>
          </p:cNvPr>
          <p:cNvSpPr/>
          <p:nvPr/>
        </p:nvSpPr>
        <p:spPr>
          <a:xfrm>
            <a:off x="1819268" y="2449619"/>
            <a:ext cx="2405072" cy="2133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0F7C6-A3A0-405A-B0A0-6B962856E4EA}"/>
              </a:ext>
            </a:extLst>
          </p:cNvPr>
          <p:cNvSpPr txBox="1"/>
          <p:nvPr/>
        </p:nvSpPr>
        <p:spPr>
          <a:xfrm>
            <a:off x="1833556" y="247819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main() {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E141B-D00F-4B8C-99E0-28D0A61D1DF3}"/>
              </a:ext>
            </a:extLst>
          </p:cNvPr>
          <p:cNvSpPr txBox="1"/>
          <p:nvPr/>
        </p:nvSpPr>
        <p:spPr>
          <a:xfrm>
            <a:off x="2119305" y="3042372"/>
            <a:ext cx="176212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33669-C797-4C23-AD8B-93E81716B807}"/>
              </a:ext>
            </a:extLst>
          </p:cNvPr>
          <p:cNvSpPr txBox="1"/>
          <p:nvPr/>
        </p:nvSpPr>
        <p:spPr>
          <a:xfrm>
            <a:off x="2119306" y="3496595"/>
            <a:ext cx="1762125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important_func</a:t>
            </a:r>
            <a:r>
              <a:rPr lang="ru-RU" sz="1600" dirty="0"/>
              <a:t>()</a:t>
            </a:r>
            <a:r>
              <a:rPr lang="en-US" sz="1600" dirty="0"/>
              <a:t>;</a:t>
            </a: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FCD45-469D-48BC-87FF-D0426EB02ACB}"/>
              </a:ext>
            </a:extLst>
          </p:cNvPr>
          <p:cNvSpPr txBox="1"/>
          <p:nvPr/>
        </p:nvSpPr>
        <p:spPr>
          <a:xfrm>
            <a:off x="1900231" y="404981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D41F6-B929-4FFF-9EC8-9A486A147541}"/>
              </a:ext>
            </a:extLst>
          </p:cNvPr>
          <p:cNvSpPr/>
          <p:nvPr/>
        </p:nvSpPr>
        <p:spPr>
          <a:xfrm>
            <a:off x="4572000" y="1316977"/>
            <a:ext cx="2857503" cy="345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FC57FA-6061-48A7-ABEA-15F3770234EB}"/>
              </a:ext>
            </a:extLst>
          </p:cNvPr>
          <p:cNvSpPr txBox="1"/>
          <p:nvPr/>
        </p:nvSpPr>
        <p:spPr>
          <a:xfrm>
            <a:off x="4572001" y="1325073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my_lib.cpp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070339-46EA-46D9-A9AE-FB369B070808}"/>
              </a:ext>
            </a:extLst>
          </p:cNvPr>
          <p:cNvSpPr/>
          <p:nvPr/>
        </p:nvSpPr>
        <p:spPr>
          <a:xfrm>
            <a:off x="4793463" y="1904811"/>
            <a:ext cx="2357432" cy="268765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2D2C0-3B96-4E97-9FE8-E99357B6E713}"/>
              </a:ext>
            </a:extLst>
          </p:cNvPr>
          <p:cNvSpPr txBox="1"/>
          <p:nvPr/>
        </p:nvSpPr>
        <p:spPr>
          <a:xfrm>
            <a:off x="4914903" y="1946441"/>
            <a:ext cx="235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useful_func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B70690-5DB2-48B7-807F-9D991B528EE7}"/>
              </a:ext>
            </a:extLst>
          </p:cNvPr>
          <p:cNvSpPr txBox="1"/>
          <p:nvPr/>
        </p:nvSpPr>
        <p:spPr>
          <a:xfrm>
            <a:off x="5000627" y="410470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22F5A8-B251-4E99-B6F9-654B344337A0}"/>
              </a:ext>
            </a:extLst>
          </p:cNvPr>
          <p:cNvSpPr/>
          <p:nvPr/>
        </p:nvSpPr>
        <p:spPr>
          <a:xfrm>
            <a:off x="7550944" y="1316977"/>
            <a:ext cx="2976563" cy="34644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CD93A-473D-4530-ABE0-42A8427B4777}"/>
              </a:ext>
            </a:extLst>
          </p:cNvPr>
          <p:cNvSpPr txBox="1"/>
          <p:nvPr/>
        </p:nvSpPr>
        <p:spPr>
          <a:xfrm>
            <a:off x="7565233" y="131332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src.cpp</a:t>
            </a:r>
            <a:endParaRPr lang="ru-R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3AB157-6357-4937-8F1E-144A7808777A}"/>
              </a:ext>
            </a:extLst>
          </p:cNvPr>
          <p:cNvSpPr/>
          <p:nvPr/>
        </p:nvSpPr>
        <p:spPr>
          <a:xfrm>
            <a:off x="7793832" y="2333535"/>
            <a:ext cx="2590803" cy="2272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6131D2-8819-4154-95B8-A6BE8380ABD3}"/>
              </a:ext>
            </a:extLst>
          </p:cNvPr>
          <p:cNvSpPr txBox="1"/>
          <p:nvPr/>
        </p:nvSpPr>
        <p:spPr>
          <a:xfrm>
            <a:off x="7793833" y="2333536"/>
            <a:ext cx="258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important_func</a:t>
            </a:r>
            <a:r>
              <a:rPr lang="en-US" dirty="0"/>
              <a:t>() {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6E908-B4B5-46D5-B5FD-97B1BE0107FD}"/>
              </a:ext>
            </a:extLst>
          </p:cNvPr>
          <p:cNvSpPr txBox="1"/>
          <p:nvPr/>
        </p:nvSpPr>
        <p:spPr>
          <a:xfrm>
            <a:off x="7870033" y="4157534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D3D16A-C9CB-41DA-8D91-24C353CD98AC}"/>
              </a:ext>
            </a:extLst>
          </p:cNvPr>
          <p:cNvSpPr txBox="1"/>
          <p:nvPr/>
        </p:nvSpPr>
        <p:spPr>
          <a:xfrm>
            <a:off x="8165308" y="2952661"/>
            <a:ext cx="1926588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useful_func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A52A50-0BDD-4980-A806-EC38F878563F}"/>
              </a:ext>
            </a:extLst>
          </p:cNvPr>
          <p:cNvSpPr txBox="1"/>
          <p:nvPr/>
        </p:nvSpPr>
        <p:spPr>
          <a:xfrm>
            <a:off x="1885954" y="5130649"/>
            <a:ext cx="33718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g++ -c main.cpp – </a:t>
            </a:r>
            <a:r>
              <a:rPr lang="en-US" b="1" dirty="0">
                <a:solidFill>
                  <a:srgbClr val="00B050"/>
                </a:solidFill>
              </a:rPr>
              <a:t>OK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 </a:t>
            </a:r>
          </a:p>
          <a:p>
            <a:r>
              <a:rPr lang="en-US" dirty="0"/>
              <a:t>g++ -c my_lib.cpp – </a:t>
            </a:r>
            <a:r>
              <a:rPr lang="en-US" b="1" dirty="0">
                <a:solidFill>
                  <a:srgbClr val="00B050"/>
                </a:solidFill>
              </a:rPr>
              <a:t>OK </a:t>
            </a:r>
            <a:endParaRPr lang="en-US" dirty="0"/>
          </a:p>
          <a:p>
            <a:r>
              <a:rPr lang="en-US" dirty="0"/>
              <a:t>g++ -c src.cpp – </a:t>
            </a:r>
            <a:r>
              <a:rPr lang="en-US" b="1" dirty="0">
                <a:solidFill>
                  <a:srgbClr val="00B050"/>
                </a:solidFill>
              </a:rPr>
              <a:t>OK </a:t>
            </a:r>
            <a:endParaRPr lang="en-US" dirty="0"/>
          </a:p>
          <a:p>
            <a:r>
              <a:rPr lang="en-US" dirty="0"/>
              <a:t>g++ </a:t>
            </a:r>
            <a:r>
              <a:rPr lang="en-US" dirty="0" err="1"/>
              <a:t>main.o</a:t>
            </a:r>
            <a:r>
              <a:rPr lang="en-US" dirty="0"/>
              <a:t> </a:t>
            </a:r>
            <a:r>
              <a:rPr lang="en-US" dirty="0" err="1"/>
              <a:t>my_lib.o</a:t>
            </a:r>
            <a:r>
              <a:rPr lang="en-US" dirty="0"/>
              <a:t> </a:t>
            </a:r>
            <a:r>
              <a:rPr lang="en-US" dirty="0" err="1"/>
              <a:t>src.o</a:t>
            </a:r>
            <a:r>
              <a:rPr lang="en-US" dirty="0"/>
              <a:t> – </a:t>
            </a:r>
            <a:r>
              <a:rPr lang="en-US" b="1" dirty="0">
                <a:solidFill>
                  <a:srgbClr val="C00000"/>
                </a:solidFill>
              </a:rPr>
              <a:t>X 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9634C6-B8BD-4005-8484-7B6D648CF0A2}"/>
              </a:ext>
            </a:extLst>
          </p:cNvPr>
          <p:cNvSpPr txBox="1"/>
          <p:nvPr/>
        </p:nvSpPr>
        <p:spPr>
          <a:xfrm>
            <a:off x="1816886" y="1644459"/>
            <a:ext cx="2407454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“my_lib.cpp”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F3B4D3-CAE0-4A02-B939-44203D800A2E}"/>
              </a:ext>
            </a:extLst>
          </p:cNvPr>
          <p:cNvSpPr txBox="1"/>
          <p:nvPr/>
        </p:nvSpPr>
        <p:spPr>
          <a:xfrm>
            <a:off x="1819267" y="2042366"/>
            <a:ext cx="240745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important_func</a:t>
            </a:r>
            <a:r>
              <a:rPr lang="en-US" dirty="0"/>
              <a:t>();</a:t>
            </a:r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A3FDDC-877B-4A3A-A2B1-C8CAF59E8C0A}"/>
              </a:ext>
            </a:extLst>
          </p:cNvPr>
          <p:cNvSpPr txBox="1"/>
          <p:nvPr/>
        </p:nvSpPr>
        <p:spPr>
          <a:xfrm>
            <a:off x="7797403" y="1738102"/>
            <a:ext cx="2577706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#include “my_lib.cpp”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FC5004-586F-4D57-9632-A8A82C9D5A60}"/>
              </a:ext>
            </a:extLst>
          </p:cNvPr>
          <p:cNvSpPr txBox="1"/>
          <p:nvPr/>
        </p:nvSpPr>
        <p:spPr>
          <a:xfrm>
            <a:off x="5410201" y="4978173"/>
            <a:ext cx="6477000" cy="120032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/</a:t>
            </a:r>
            <a:r>
              <a:rPr lang="en-US" b="1" dirty="0" err="1"/>
              <a:t>usr</a:t>
            </a:r>
            <a:r>
              <a:rPr lang="en-US" b="1" dirty="0"/>
              <a:t>/bin/</a:t>
            </a:r>
            <a:r>
              <a:rPr lang="en-US" b="1" dirty="0" err="1"/>
              <a:t>ld</a:t>
            </a:r>
            <a:r>
              <a:rPr lang="en-US" b="1" dirty="0"/>
              <a:t>: </a:t>
            </a:r>
            <a:r>
              <a:rPr lang="en-US" b="1" dirty="0" err="1"/>
              <a:t>src.o</a:t>
            </a:r>
            <a:r>
              <a:rPr lang="en-US" b="1" dirty="0"/>
              <a:t>: in function `</a:t>
            </a:r>
            <a:r>
              <a:rPr lang="en-US" b="1" dirty="0" err="1">
                <a:solidFill>
                  <a:srgbClr val="C00000"/>
                </a:solidFill>
              </a:rPr>
              <a:t>useful_func</a:t>
            </a:r>
            <a:r>
              <a:rPr lang="en-US" b="1" dirty="0"/>
              <a:t>()':</a:t>
            </a:r>
          </a:p>
          <a:p>
            <a:r>
              <a:rPr lang="en-US" b="1" dirty="0">
                <a:solidFill>
                  <a:schemeClr val="accent4"/>
                </a:solidFill>
              </a:rPr>
              <a:t>src.cpp</a:t>
            </a:r>
            <a:r>
              <a:rPr lang="en-US" b="1" dirty="0"/>
              <a:t>:(.text+0x0): multiple definition of `</a:t>
            </a:r>
            <a:r>
              <a:rPr lang="en-US" b="1" dirty="0" err="1">
                <a:solidFill>
                  <a:srgbClr val="C00000"/>
                </a:solidFill>
              </a:rPr>
              <a:t>useful_func</a:t>
            </a:r>
            <a:r>
              <a:rPr lang="en-US" b="1" dirty="0"/>
              <a:t>()'; </a:t>
            </a:r>
            <a:r>
              <a:rPr lang="en-US" b="1" dirty="0" err="1"/>
              <a:t>main.o:main.cpp</a:t>
            </a:r>
            <a:r>
              <a:rPr lang="en-US" b="1" dirty="0"/>
              <a:t>:(.text+0x0): first defined here</a:t>
            </a:r>
          </a:p>
          <a:p>
            <a:r>
              <a:rPr lang="en-US" b="1" dirty="0"/>
              <a:t>collect2: error: </a:t>
            </a:r>
            <a:r>
              <a:rPr lang="en-US" b="1" dirty="0" err="1"/>
              <a:t>ld</a:t>
            </a:r>
            <a:r>
              <a:rPr lang="en-US" b="1" dirty="0"/>
              <a:t> returned 1 exit status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043510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</TotalTime>
  <Words>2655</Words>
  <Application>Microsoft Office PowerPoint</Application>
  <PresentationFormat>Widescreen</PresentationFormat>
  <Paragraphs>415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Microsoft Sans Serif</vt:lpstr>
      <vt:lpstr>Office Theme</vt:lpstr>
      <vt:lpstr>Семинар по C++ №3 Компилятор</vt:lpstr>
      <vt:lpstr>Компилятор</vt:lpstr>
      <vt:lpstr>Стадии компиляции</vt:lpstr>
      <vt:lpstr>Ассемблерный код</vt:lpstr>
      <vt:lpstr>TLDR; Как разбивать программу на файлы?</vt:lpstr>
      <vt:lpstr>Интерпретатор</vt:lpstr>
      <vt:lpstr>Структура компилятора</vt:lpstr>
      <vt:lpstr>Преимущество такой декомпозиции</vt:lpstr>
      <vt:lpstr>Frontend</vt:lpstr>
      <vt:lpstr>Preprocessing</vt:lpstr>
      <vt:lpstr>Lexer</vt:lpstr>
      <vt:lpstr>Parser</vt:lpstr>
      <vt:lpstr>Python (lexer + parser)</vt:lpstr>
      <vt:lpstr>Middle-end</vt:lpstr>
      <vt:lpstr>Semantic analysis</vt:lpstr>
      <vt:lpstr>Code optimization</vt:lpstr>
      <vt:lpstr>Speed of operations</vt:lpstr>
      <vt:lpstr>Warnings</vt:lpstr>
      <vt:lpstr>Binary Translation</vt:lpstr>
      <vt:lpstr>PowerPoint Presentation</vt:lpstr>
      <vt:lpstr>Компиляция</vt:lpstr>
      <vt:lpstr>Линковка</vt:lpstr>
      <vt:lpstr>Линковка</vt:lpstr>
      <vt:lpstr>Таблица символов</vt:lpstr>
      <vt:lpstr>Таблица символов</vt:lpstr>
      <vt:lpstr>Линковка (версия 1)</vt:lpstr>
      <vt:lpstr>Линковка (версия 1)</vt:lpstr>
      <vt:lpstr>Линковка (версия 2)</vt:lpstr>
      <vt:lpstr>Линковка (версия 2)</vt:lpstr>
      <vt:lpstr>Линковка (версия 3)</vt:lpstr>
      <vt:lpstr>Линковка (версия 3)</vt:lpstr>
      <vt:lpstr>Линковка (версия 4)</vt:lpstr>
      <vt:lpstr>Линковка (версия 4)</vt:lpstr>
      <vt:lpstr>Линковка (версия 5)</vt:lpstr>
      <vt:lpstr>Линковка (версия 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по C++ №4 Компилятор</dc:title>
  <dc:creator>Konstantin Dragun</dc:creator>
  <cp:lastModifiedBy>Konstantin Dragun</cp:lastModifiedBy>
  <cp:revision>27</cp:revision>
  <dcterms:created xsi:type="dcterms:W3CDTF">2024-09-25T16:22:41Z</dcterms:created>
  <dcterms:modified xsi:type="dcterms:W3CDTF">2025-09-14T22:34:38Z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2022-10-28T00:00:00Z</vt:filetime>
  </property>
  <property fmtid="{D5CDD505-2E9C-101B-9397-08002B2CF9AE}" pid="3" name="Creator">
    <vt:lpwstr>R7-Office/7.2.0.134</vt:lpwstr>
  </property>
  <property fmtid="{D5CDD505-2E9C-101B-9397-08002B2CF9AE}" pid="4" name="LastSaved">
    <vt:filetime>2024-09-25T00:00:00Z</vt:filetime>
  </property>
  <property fmtid="{D5CDD505-2E9C-101B-9397-08002B2CF9AE}" pid="5" name="Producer">
    <vt:lpwstr>R7-Office/7.2.0.134</vt:lpwstr>
  </property>
</Properties>
</file>