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73" r:id="rId4"/>
    <p:sldId id="274" r:id="rId5"/>
    <p:sldId id="275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89" r:id="rId22"/>
    <p:sldId id="290" r:id="rId23"/>
    <p:sldId id="292" r:id="rId24"/>
    <p:sldId id="291" r:id="rId25"/>
    <p:sldId id="293" r:id="rId26"/>
    <p:sldId id="276" r:id="rId27"/>
    <p:sldId id="279" r:id="rId28"/>
    <p:sldId id="278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804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7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939" y="634581"/>
            <a:ext cx="9382125" cy="695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939" y="1724393"/>
            <a:ext cx="8915400" cy="4464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0" i="0">
                <a:solidFill>
                  <a:schemeClr val="tx1"/>
                </a:solidFill>
                <a:latin typeface="Microsoft Sans Serif"/>
                <a:cs typeface="Microsoft Sans Serif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as_if.html" TargetMode="External"/><Relationship Id="rId2" Type="http://schemas.openxmlformats.org/officeDocument/2006/relationships/hyperlink" Target="https://gcc.gnu.org/onlinedocs/gcc/Optimize-Options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ithare.com/infographics-operation-costs-in-cpu-clock-cycle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cc.gnu.org/onlinedocs/gcc/Warning-Options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594428" y="1573752"/>
            <a:ext cx="7002145" cy="2440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5700" dirty="0"/>
              <a:t>Семинар</a:t>
            </a:r>
            <a:r>
              <a:rPr sz="5700" spc="-105" dirty="0"/>
              <a:t> </a:t>
            </a:r>
            <a:r>
              <a:rPr sz="5700" dirty="0"/>
              <a:t>по</a:t>
            </a:r>
            <a:r>
              <a:rPr sz="5700" spc="-105" dirty="0"/>
              <a:t> </a:t>
            </a:r>
            <a:r>
              <a:rPr sz="5700" dirty="0"/>
              <a:t>C++</a:t>
            </a:r>
            <a:r>
              <a:rPr sz="5700" spc="-105" dirty="0"/>
              <a:t> </a:t>
            </a:r>
            <a:r>
              <a:rPr sz="5700" spc="155" dirty="0"/>
              <a:t>№</a:t>
            </a:r>
            <a:r>
              <a:rPr lang="ru-RU" sz="5700" spc="155" dirty="0"/>
              <a:t>3</a:t>
            </a:r>
            <a:endParaRPr sz="5700" dirty="0"/>
          </a:p>
          <a:p>
            <a:pPr marL="635" algn="ctr">
              <a:lnSpc>
                <a:spcPct val="100000"/>
              </a:lnSpc>
              <a:spcBef>
                <a:spcPts val="5335"/>
              </a:spcBef>
            </a:pPr>
            <a:r>
              <a:rPr sz="5700" spc="-10" dirty="0"/>
              <a:t>Компилятор</a:t>
            </a:r>
            <a:endParaRPr sz="5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5" dirty="0"/>
              <a:t>Компилятор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08452"/>
            <a:ext cx="10210165" cy="326453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sz="2800" spc="-30" dirty="0">
                <a:latin typeface="Microsoft Sans Serif"/>
                <a:cs typeface="Microsoft Sans Serif"/>
              </a:rPr>
              <a:t>Компилятор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725" dirty="0">
                <a:latin typeface="Microsoft Sans Serif"/>
                <a:cs typeface="Microsoft Sans Serif"/>
              </a:rPr>
              <a:t>–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программа,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переводящий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написанный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на </a:t>
            </a:r>
            <a:r>
              <a:rPr sz="2800" dirty="0">
                <a:latin typeface="Microsoft Sans Serif"/>
                <a:cs typeface="Microsoft Sans Serif"/>
              </a:rPr>
              <a:t>одном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-30" dirty="0">
                <a:latin typeface="Microsoft Sans Serif"/>
                <a:cs typeface="Microsoft Sans Serif"/>
              </a:rPr>
              <a:t>языке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программирования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текст,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в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код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на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другом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языке программирования</a:t>
            </a:r>
            <a:endParaRPr sz="280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485"/>
              </a:spcBef>
            </a:pPr>
            <a:endParaRPr sz="28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</a:pPr>
            <a:r>
              <a:rPr sz="2800" spc="-10" dirty="0">
                <a:latin typeface="Microsoft Sans Serif"/>
                <a:cs typeface="Microsoft Sans Serif"/>
              </a:rPr>
              <a:t>Примеры:</a:t>
            </a:r>
            <a:endParaRPr sz="28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665"/>
              </a:spcBef>
            </a:pPr>
            <a:r>
              <a:rPr sz="2800" dirty="0">
                <a:latin typeface="Microsoft Sans Serif"/>
                <a:cs typeface="Microsoft Sans Serif"/>
              </a:rPr>
              <a:t>g++:</a:t>
            </a:r>
            <a:r>
              <a:rPr sz="2800" spc="-1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C++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&gt;</a:t>
            </a:r>
            <a:r>
              <a:rPr sz="2800" spc="-10" dirty="0">
                <a:latin typeface="Microsoft Sans Serif"/>
                <a:cs typeface="Microsoft Sans Serif"/>
              </a:rPr>
              <a:t> assembly</a:t>
            </a:r>
            <a:endParaRPr sz="2800">
              <a:latin typeface="Microsoft Sans Serif"/>
              <a:cs typeface="Microsoft Sans Serif"/>
            </a:endParaRPr>
          </a:p>
          <a:p>
            <a:pPr marL="12700">
              <a:lnSpc>
                <a:spcPct val="100000"/>
              </a:lnSpc>
              <a:spcBef>
                <a:spcPts val="665"/>
              </a:spcBef>
            </a:pPr>
            <a:r>
              <a:rPr sz="2800" dirty="0">
                <a:latin typeface="Microsoft Sans Serif"/>
                <a:cs typeface="Microsoft Sans Serif"/>
              </a:rPr>
              <a:t>JDK: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Java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&gt;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Java</a:t>
            </a:r>
            <a:r>
              <a:rPr sz="2800" spc="-1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Byte</a:t>
            </a:r>
            <a:r>
              <a:rPr sz="2800" spc="-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Code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7586-7D0C-4178-9CA3-9F4EEB152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Стадии компиляции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6A458-8463-433D-ADA0-EA9C0D18E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81200"/>
            <a:ext cx="10591800" cy="3447098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b="1" dirty="0" err="1"/>
              <a:t>Препроцессинг</a:t>
            </a:r>
            <a:r>
              <a:rPr lang="ru-RU" sz="3200" dirty="0"/>
              <a:t> - текстовая подстановка (</a:t>
            </a:r>
            <a:r>
              <a:rPr lang="ru-RU" sz="3200" b="1" dirty="0"/>
              <a:t>-</a:t>
            </a:r>
            <a:r>
              <a:rPr lang="en-US" sz="3200" b="1" dirty="0"/>
              <a:t>E</a:t>
            </a:r>
            <a:r>
              <a:rPr lang="ru-RU" sz="3200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b="1" dirty="0"/>
              <a:t>Компиляция</a:t>
            </a:r>
            <a:r>
              <a:rPr lang="en-US" sz="3200" dirty="0"/>
              <a:t> - </a:t>
            </a:r>
            <a:r>
              <a:rPr lang="ru-RU" sz="3200" dirty="0"/>
              <a:t>преобразования кода в ассемблер (-</a:t>
            </a:r>
            <a:r>
              <a:rPr lang="en-US" sz="3200" dirty="0"/>
              <a:t>S</a:t>
            </a:r>
            <a:r>
              <a:rPr lang="ru-RU" sz="3200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b="1" dirty="0"/>
              <a:t>Ассемблирование</a:t>
            </a:r>
            <a:r>
              <a:rPr lang="en-US" sz="3200" dirty="0"/>
              <a:t> - </a:t>
            </a:r>
            <a:r>
              <a:rPr lang="ru-RU" sz="3200" dirty="0"/>
              <a:t>перевод ассемблерного файла в машинный код – объектный файл (</a:t>
            </a:r>
            <a:r>
              <a:rPr lang="en-US" sz="3200" dirty="0"/>
              <a:t>-c</a:t>
            </a:r>
            <a:r>
              <a:rPr lang="ru-RU" sz="3200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b="1" dirty="0"/>
              <a:t>Линковка</a:t>
            </a:r>
            <a:endParaRPr lang="en-US" sz="32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3200" dirty="0"/>
              <a:t>Сохранить все промежуточные файлы</a:t>
            </a:r>
            <a:r>
              <a:rPr lang="en-US" sz="3200" dirty="0"/>
              <a:t>:</a:t>
            </a:r>
            <a:r>
              <a:rPr lang="ru-RU" sz="3200" dirty="0"/>
              <a:t> </a:t>
            </a:r>
            <a:r>
              <a:rPr lang="ru-RU" sz="3200" b="1" dirty="0"/>
              <a:t>--</a:t>
            </a:r>
            <a:r>
              <a:rPr lang="en-US" sz="3200" b="1" dirty="0"/>
              <a:t>save-temps</a:t>
            </a:r>
          </a:p>
        </p:txBody>
      </p:sp>
    </p:spTree>
    <p:extLst>
      <p:ext uri="{BB962C8B-B14F-4D97-AF65-F5344CB8AC3E}">
        <p14:creationId xmlns:p14="http://schemas.microsoft.com/office/powerpoint/2010/main" val="3800248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E80F5-C521-44C4-8F64-A9443C422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Ассемблерный код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2F57B-95E1-405D-903B-FDB0404314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6939" y="1724393"/>
            <a:ext cx="8915400" cy="3323987"/>
          </a:xfrm>
        </p:spPr>
        <p:txBody>
          <a:bodyPr/>
          <a:lstStyle/>
          <a:p>
            <a:r>
              <a:rPr lang="ru-RU" dirty="0"/>
              <a:t>Как посмотреть</a:t>
            </a:r>
            <a:r>
              <a:rPr lang="en-US" dirty="0"/>
              <a:t>:</a:t>
            </a:r>
          </a:p>
          <a:p>
            <a:endParaRPr lang="ru-R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На сайте </a:t>
            </a:r>
            <a:r>
              <a:rPr lang="en-US" dirty="0">
                <a:hlinkClick r:id="rId2"/>
              </a:rPr>
              <a:t>godbolt.org</a:t>
            </a:r>
            <a:endParaRPr lang="ru-RU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Скомпилировать исходники</a:t>
            </a:r>
            <a:r>
              <a:rPr lang="en-US" dirty="0"/>
              <a:t>: </a:t>
            </a:r>
          </a:p>
          <a:p>
            <a:r>
              <a:rPr lang="en-US" b="1" dirty="0"/>
              <a:t>	</a:t>
            </a:r>
            <a:r>
              <a:rPr lang="en-US" b="1" dirty="0" err="1"/>
              <a:t>gcc</a:t>
            </a:r>
            <a:r>
              <a:rPr lang="en-US" b="1" dirty="0"/>
              <a:t> –S main.cpp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dirty="0"/>
              <a:t>Дизассемблировать исполняемый файл</a:t>
            </a:r>
            <a:r>
              <a:rPr lang="en-US" dirty="0"/>
              <a:t>:</a:t>
            </a:r>
          </a:p>
          <a:p>
            <a:r>
              <a:rPr lang="en-US" b="1" dirty="0"/>
              <a:t>	</a:t>
            </a:r>
            <a:r>
              <a:rPr lang="en-US" b="1" dirty="0" err="1"/>
              <a:t>objdump</a:t>
            </a:r>
            <a:r>
              <a:rPr lang="en-US" b="1" dirty="0"/>
              <a:t> –d –M intel </a:t>
            </a:r>
            <a:r>
              <a:rPr lang="en-US" b="1" dirty="0" err="1"/>
              <a:t>a.out</a:t>
            </a:r>
            <a:r>
              <a:rPr lang="en-US" b="1" dirty="0"/>
              <a:t> &gt; </a:t>
            </a:r>
            <a:r>
              <a:rPr lang="en-US" b="1" dirty="0" err="1"/>
              <a:t>disassm</a:t>
            </a:r>
            <a:endParaRPr lang="en-US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0749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ED3CC-7FEE-42A5-828F-EB62C1F9C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10589261" cy="1354217"/>
          </a:xfrm>
        </p:spPr>
        <p:txBody>
          <a:bodyPr/>
          <a:lstStyle/>
          <a:p>
            <a:r>
              <a:rPr lang="en-US" dirty="0"/>
              <a:t>TLDR; </a:t>
            </a:r>
            <a:r>
              <a:rPr lang="ru-RU" dirty="0"/>
              <a:t>Как разбивать программу на файлы?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4B8B3-008B-4748-B4F0-DFFDB9CEE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9125" y="2895600"/>
            <a:ext cx="8915400" cy="2908489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Объявления в </a:t>
            </a:r>
            <a:r>
              <a:rPr lang="en-US" b="1" dirty="0"/>
              <a:t>.</a:t>
            </a:r>
            <a:r>
              <a:rPr lang="en-US" b="1" dirty="0" err="1"/>
              <a:t>hpp</a:t>
            </a: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Реализация в </a:t>
            </a:r>
            <a:r>
              <a:rPr lang="en-US" b="1" dirty="0"/>
              <a:t>.</a:t>
            </a:r>
            <a:r>
              <a:rPr lang="en-US" b="1" dirty="0" err="1"/>
              <a:t>cpp</a:t>
            </a: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#pragma once </a:t>
            </a:r>
            <a:r>
              <a:rPr lang="en-US" dirty="0"/>
              <a:t>or </a:t>
            </a:r>
            <a:r>
              <a:rPr lang="en-US" b="1" dirty="0"/>
              <a:t>#ifndef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Линковать в один исполняемый файл</a:t>
            </a:r>
            <a:r>
              <a:rPr lang="en-US" dirty="0"/>
              <a:t>:</a:t>
            </a:r>
          </a:p>
          <a:p>
            <a:r>
              <a:rPr lang="ru-RU" dirty="0"/>
              <a:t>	</a:t>
            </a:r>
            <a:r>
              <a:rPr lang="en-US" b="1" dirty="0"/>
              <a:t>g++ main.cpp my_lib.cpp</a:t>
            </a:r>
          </a:p>
          <a:p>
            <a:r>
              <a:rPr lang="ru-RU" dirty="0"/>
              <a:t>	или</a:t>
            </a:r>
            <a:endParaRPr lang="en-US" dirty="0"/>
          </a:p>
          <a:p>
            <a:r>
              <a:rPr lang="ru-RU" dirty="0"/>
              <a:t>	</a:t>
            </a:r>
            <a:r>
              <a:rPr lang="en-US" b="1" dirty="0"/>
              <a:t>g++ </a:t>
            </a:r>
            <a:r>
              <a:rPr lang="en-US" b="1" dirty="0" err="1"/>
              <a:t>main.o</a:t>
            </a:r>
            <a:r>
              <a:rPr lang="en-US" b="1" dirty="0"/>
              <a:t> </a:t>
            </a:r>
            <a:r>
              <a:rPr lang="en-US" b="1" dirty="0" err="1"/>
              <a:t>my_lib.o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00043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Интерпретатор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808452"/>
            <a:ext cx="9787255" cy="236982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241300" marR="5080" indent="-228600">
              <a:lnSpc>
                <a:spcPts val="3020"/>
              </a:lnSpc>
              <a:spcBef>
                <a:spcPts val="480"/>
              </a:spcBef>
              <a:buChar char="•"/>
              <a:tabLst>
                <a:tab pos="241300" algn="l"/>
              </a:tabLst>
            </a:pPr>
            <a:r>
              <a:rPr sz="2800" spc="-10" dirty="0">
                <a:latin typeface="Microsoft Sans Serif"/>
                <a:cs typeface="Microsoft Sans Serif"/>
              </a:rPr>
              <a:t>Интерпретатор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95" dirty="0">
                <a:latin typeface="Microsoft Sans Serif"/>
                <a:cs typeface="Microsoft Sans Serif"/>
              </a:rPr>
              <a:t> </a:t>
            </a:r>
            <a:r>
              <a:rPr sz="2800" spc="-30" dirty="0">
                <a:latin typeface="Microsoft Sans Serif"/>
                <a:cs typeface="Microsoft Sans Serif"/>
              </a:rPr>
              <a:t>компьютерная</a:t>
            </a:r>
            <a:r>
              <a:rPr sz="2800" spc="-9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программа,</a:t>
            </a:r>
            <a:r>
              <a:rPr sz="2800" spc="-9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которая </a:t>
            </a:r>
            <a:r>
              <a:rPr sz="2800" dirty="0">
                <a:latin typeface="Microsoft Sans Serif"/>
                <a:cs typeface="Microsoft Sans Serif"/>
              </a:rPr>
              <a:t>выполняет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инструкции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без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компиляции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в</a:t>
            </a:r>
            <a:r>
              <a:rPr sz="2800" spc="-10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машинный</a:t>
            </a:r>
            <a:r>
              <a:rPr sz="2800" spc="-10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язык</a:t>
            </a:r>
            <a:endParaRPr sz="280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480"/>
              </a:spcBef>
              <a:buFont typeface="Microsoft Sans Serif"/>
              <a:buChar char="•"/>
            </a:pP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buChar char="•"/>
              <a:tabLst>
                <a:tab pos="241935" algn="l"/>
              </a:tabLst>
            </a:pPr>
            <a:r>
              <a:rPr sz="2800" spc="-10" dirty="0">
                <a:latin typeface="Microsoft Sans Serif"/>
                <a:cs typeface="Microsoft Sans Serif"/>
              </a:rPr>
              <a:t>Примеры: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Python,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Bash,</a:t>
            </a:r>
            <a:r>
              <a:rPr sz="2800" spc="-4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Make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Структура</a:t>
            </a:r>
            <a:r>
              <a:rPr spc="-215" dirty="0"/>
              <a:t> </a:t>
            </a:r>
            <a:r>
              <a:rPr spc="-25" dirty="0"/>
              <a:t>компилятора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31889" y="3942505"/>
            <a:ext cx="9881870" cy="2626360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241300" marR="245110" indent="-228600">
              <a:lnSpc>
                <a:spcPts val="3020"/>
              </a:lnSpc>
              <a:spcBef>
                <a:spcPts val="484"/>
              </a:spcBef>
              <a:buFont typeface="Microsoft Sans Serif"/>
              <a:buChar char="•"/>
              <a:tabLst>
                <a:tab pos="241300" algn="l"/>
              </a:tabLst>
            </a:pPr>
            <a:r>
              <a:rPr sz="2800" b="1" dirty="0">
                <a:latin typeface="Arial"/>
                <a:cs typeface="Arial"/>
              </a:rPr>
              <a:t>Frontend</a:t>
            </a:r>
            <a:r>
              <a:rPr sz="2800" b="1" spc="-85" dirty="0">
                <a:latin typeface="Arial"/>
                <a:cs typeface="Arial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трансляция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исходного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кода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в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промежуточное </a:t>
            </a:r>
            <a:r>
              <a:rPr sz="2800" dirty="0">
                <a:latin typeface="Microsoft Sans Serif"/>
                <a:cs typeface="Microsoft Sans Serif"/>
              </a:rPr>
              <a:t>представление</a:t>
            </a:r>
            <a:r>
              <a:rPr sz="2800" spc="-7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(</a:t>
            </a:r>
            <a:r>
              <a:rPr sz="2800" b="1" dirty="0">
                <a:latin typeface="Arial"/>
                <a:cs typeface="Arial"/>
              </a:rPr>
              <a:t>IR</a:t>
            </a:r>
            <a:r>
              <a:rPr sz="2800" b="1" spc="-105" dirty="0">
                <a:latin typeface="Arial"/>
                <a:cs typeface="Arial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=</a:t>
            </a:r>
            <a:r>
              <a:rPr sz="2800" spc="-75" dirty="0">
                <a:latin typeface="Microsoft Sans Serif"/>
                <a:cs typeface="Microsoft Sans Serif"/>
              </a:rPr>
              <a:t> </a:t>
            </a:r>
            <a:r>
              <a:rPr sz="2800" b="1" dirty="0">
                <a:latin typeface="Arial"/>
                <a:cs typeface="Arial"/>
              </a:rPr>
              <a:t>I</a:t>
            </a:r>
            <a:r>
              <a:rPr sz="2800" dirty="0">
                <a:latin typeface="Microsoft Sans Serif"/>
                <a:cs typeface="Microsoft Sans Serif"/>
              </a:rPr>
              <a:t>ntermediate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b="1" spc="-10" dirty="0">
                <a:latin typeface="Arial"/>
                <a:cs typeface="Arial"/>
              </a:rPr>
              <a:t>R</a:t>
            </a:r>
            <a:r>
              <a:rPr sz="2800" spc="-10" dirty="0">
                <a:latin typeface="Microsoft Sans Serif"/>
                <a:cs typeface="Microsoft Sans Serif"/>
              </a:rPr>
              <a:t>epresentation)</a:t>
            </a:r>
            <a:endParaRPr sz="2800">
              <a:latin typeface="Microsoft Sans Serif"/>
              <a:cs typeface="Microsoft Sans Serif"/>
            </a:endParaRPr>
          </a:p>
          <a:p>
            <a:pPr marL="241300" marR="5080" indent="-228600">
              <a:lnSpc>
                <a:spcPts val="3020"/>
              </a:lnSpc>
              <a:spcBef>
                <a:spcPts val="1005"/>
              </a:spcBef>
              <a:buChar char="•"/>
              <a:tabLst>
                <a:tab pos="241300" algn="l"/>
                <a:tab pos="339725" algn="l"/>
              </a:tabLst>
            </a:pPr>
            <a:r>
              <a:rPr sz="2800" dirty="0">
                <a:latin typeface="Microsoft Sans Serif"/>
                <a:cs typeface="Microsoft Sans Serif"/>
              </a:rPr>
              <a:t>	</a:t>
            </a:r>
            <a:r>
              <a:rPr sz="2800" b="1" dirty="0">
                <a:latin typeface="Arial"/>
                <a:cs typeface="Arial"/>
              </a:rPr>
              <a:t>Optimizer</a:t>
            </a:r>
            <a:r>
              <a:rPr sz="2800" b="1" spc="-90" dirty="0">
                <a:latin typeface="Arial"/>
                <a:cs typeface="Arial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оптимизация</a:t>
            </a:r>
            <a:r>
              <a:rPr sz="2800" spc="-6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промежуточного</a:t>
            </a:r>
            <a:r>
              <a:rPr sz="2800" spc="-6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представления </a:t>
            </a:r>
            <a:r>
              <a:rPr sz="2800" spc="-20" dirty="0">
                <a:latin typeface="Microsoft Sans Serif"/>
                <a:cs typeface="Microsoft Sans Serif"/>
              </a:rPr>
              <a:t>кода</a:t>
            </a:r>
            <a:endParaRPr sz="2800">
              <a:latin typeface="Microsoft Sans Serif"/>
              <a:cs typeface="Microsoft Sans Serif"/>
            </a:endParaRPr>
          </a:p>
          <a:p>
            <a:pPr marL="240665" marR="97790" indent="-228600">
              <a:lnSpc>
                <a:spcPts val="3020"/>
              </a:lnSpc>
              <a:spcBef>
                <a:spcPts val="1010"/>
              </a:spcBef>
              <a:buChar char="•"/>
              <a:tabLst>
                <a:tab pos="240665" algn="l"/>
                <a:tab pos="339725" algn="l"/>
              </a:tabLst>
            </a:pPr>
            <a:r>
              <a:rPr sz="2800" dirty="0">
                <a:latin typeface="Microsoft Sans Serif"/>
                <a:cs typeface="Microsoft Sans Serif"/>
              </a:rPr>
              <a:t>	</a:t>
            </a:r>
            <a:r>
              <a:rPr sz="2800" b="1" dirty="0">
                <a:latin typeface="Arial"/>
                <a:cs typeface="Arial"/>
              </a:rPr>
              <a:t>Backend</a:t>
            </a:r>
            <a:r>
              <a:rPr sz="2800" b="1" spc="-95" dirty="0">
                <a:latin typeface="Arial"/>
                <a:cs typeface="Arial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7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трансляция</a:t>
            </a:r>
            <a:r>
              <a:rPr sz="2800" spc="-7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промежуточного</a:t>
            </a:r>
            <a:r>
              <a:rPr sz="2800" spc="-7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представления</a:t>
            </a:r>
            <a:r>
              <a:rPr sz="2800" spc="-75" dirty="0">
                <a:latin typeface="Microsoft Sans Serif"/>
                <a:cs typeface="Microsoft Sans Serif"/>
              </a:rPr>
              <a:t> </a:t>
            </a:r>
            <a:r>
              <a:rPr sz="2800" spc="-50" dirty="0">
                <a:latin typeface="Microsoft Sans Serif"/>
                <a:cs typeface="Microsoft Sans Serif"/>
              </a:rPr>
              <a:t>в </a:t>
            </a:r>
            <a:r>
              <a:rPr sz="2800" dirty="0">
                <a:latin typeface="Microsoft Sans Serif"/>
                <a:cs typeface="Microsoft Sans Serif"/>
              </a:rPr>
              <a:t>исполняемый</a:t>
            </a:r>
            <a:r>
              <a:rPr sz="2800" spc="-19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код</a:t>
            </a:r>
            <a:endParaRPr sz="2800">
              <a:latin typeface="Microsoft Sans Serif"/>
              <a:cs typeface="Microsoft Sans Serif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6655" y="1347106"/>
            <a:ext cx="10738685" cy="26125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Преимущество</a:t>
            </a:r>
            <a:r>
              <a:rPr spc="-229" dirty="0"/>
              <a:t> </a:t>
            </a:r>
            <a:r>
              <a:rPr spc="-20" dirty="0"/>
              <a:t>такой</a:t>
            </a:r>
            <a:r>
              <a:rPr spc="-225" dirty="0"/>
              <a:t> </a:t>
            </a:r>
            <a:r>
              <a:rPr spc="-30" dirty="0"/>
              <a:t>декомпозиции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7745" y="2653391"/>
            <a:ext cx="10396507" cy="1846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Frontend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2302" y="3211284"/>
            <a:ext cx="9907391" cy="168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Preprocessing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24124"/>
            <a:ext cx="7682865" cy="3145092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7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g++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E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main.cpp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spc="725" dirty="0">
                <a:latin typeface="Microsoft Sans Serif"/>
                <a:cs typeface="Microsoft Sans Serif"/>
              </a:rPr>
              <a:t>–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Only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preprocess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the</a:t>
            </a:r>
            <a:r>
              <a:rPr sz="2800" spc="-20" dirty="0">
                <a:latin typeface="Microsoft Sans Serif"/>
                <a:cs typeface="Microsoft Sans Serif"/>
              </a:rPr>
              <a:t> file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g++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DDEBUG</a:t>
            </a:r>
            <a:r>
              <a:rPr sz="2800" spc="-4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main.cpp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spc="725" dirty="0">
                <a:latin typeface="Microsoft Sans Serif"/>
                <a:cs typeface="Microsoft Sans Serif"/>
              </a:rPr>
              <a:t>–</a:t>
            </a:r>
            <a:r>
              <a:rPr sz="2800" spc="-4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define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something</a:t>
            </a:r>
            <a:endParaRPr sz="2800" dirty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520"/>
              </a:spcBef>
              <a:buFont typeface="Microsoft Sans Serif"/>
              <a:buChar char="•"/>
            </a:pP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It</a:t>
            </a:r>
            <a:r>
              <a:rPr sz="2800" spc="3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expands: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sz="2800" spc="-10" dirty="0">
                <a:latin typeface="Microsoft Sans Serif"/>
                <a:cs typeface="Microsoft Sans Serif"/>
              </a:rPr>
              <a:t>#include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#define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/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#ifdef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#else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-</a:t>
            </a:r>
            <a:r>
              <a:rPr sz="2800" spc="-2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#endif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/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spc="-25" dirty="0">
                <a:latin typeface="Microsoft Sans Serif"/>
                <a:cs typeface="Microsoft Sans Serif"/>
              </a:rPr>
              <a:t>#i</a:t>
            </a:r>
            <a:r>
              <a:rPr lang="en-US" sz="2800" spc="-25" dirty="0">
                <a:latin typeface="Microsoft Sans Serif"/>
                <a:cs typeface="Microsoft Sans Serif"/>
              </a:rPr>
              <a:t>f</a:t>
            </a:r>
            <a:endParaRPr sz="280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Lexer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224" y="2680605"/>
            <a:ext cx="10877548" cy="27717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Parser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2141" y="1973034"/>
            <a:ext cx="11763049" cy="48849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Python</a:t>
            </a:r>
            <a:r>
              <a:rPr spc="-50" dirty="0"/>
              <a:t> </a:t>
            </a:r>
            <a:r>
              <a:rPr dirty="0"/>
              <a:t>(lexer</a:t>
            </a:r>
            <a:r>
              <a:rPr spc="-45" dirty="0"/>
              <a:t> </a:t>
            </a:r>
            <a:r>
              <a:rPr dirty="0"/>
              <a:t>+</a:t>
            </a:r>
            <a:r>
              <a:rPr spc="-45" dirty="0"/>
              <a:t> </a:t>
            </a:r>
            <a:r>
              <a:rPr spc="-10" dirty="0"/>
              <a:t>parser)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5284" y="789212"/>
            <a:ext cx="11219058" cy="60483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Middle-</a:t>
            </a:r>
            <a:r>
              <a:rPr spc="-25" dirty="0"/>
              <a:t>end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0098" y="3075212"/>
            <a:ext cx="10591798" cy="212407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Semantic</a:t>
            </a:r>
            <a:r>
              <a:rPr spc="-155" dirty="0"/>
              <a:t> </a:t>
            </a:r>
            <a:r>
              <a:rPr spc="-10" dirty="0"/>
              <a:t>analysis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98" y="3143250"/>
            <a:ext cx="10473260" cy="18764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Code</a:t>
            </a:r>
            <a:r>
              <a:rPr spc="-75" dirty="0"/>
              <a:t> </a:t>
            </a:r>
            <a:r>
              <a:rPr spc="-10" dirty="0"/>
              <a:t>optimization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16939" y="1724393"/>
            <a:ext cx="8915400" cy="4488408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240029" indent="-227329">
              <a:lnSpc>
                <a:spcPct val="100000"/>
              </a:lnSpc>
              <a:spcBef>
                <a:spcPts val="740"/>
              </a:spcBef>
              <a:buChar char="•"/>
              <a:tabLst>
                <a:tab pos="240029" algn="l"/>
              </a:tabLst>
            </a:pPr>
            <a:r>
              <a:rPr dirty="0"/>
              <a:t>Peephole</a:t>
            </a:r>
            <a:r>
              <a:rPr spc="-100" dirty="0"/>
              <a:t> </a:t>
            </a:r>
            <a:r>
              <a:rPr spc="-10" dirty="0"/>
              <a:t>optimization</a:t>
            </a:r>
          </a:p>
          <a:p>
            <a:pPr marL="240029" indent="-227329">
              <a:lnSpc>
                <a:spcPct val="100000"/>
              </a:lnSpc>
              <a:spcBef>
                <a:spcPts val="645"/>
              </a:spcBef>
              <a:buChar char="•"/>
              <a:tabLst>
                <a:tab pos="240029" algn="l"/>
              </a:tabLst>
            </a:pPr>
            <a:r>
              <a:rPr dirty="0"/>
              <a:t>Loop</a:t>
            </a:r>
            <a:r>
              <a:rPr spc="5" dirty="0"/>
              <a:t> </a:t>
            </a:r>
            <a:r>
              <a:rPr spc="-10" dirty="0"/>
              <a:t>optimizations</a:t>
            </a:r>
          </a:p>
          <a:p>
            <a:pPr marL="240029" indent="-227329">
              <a:lnSpc>
                <a:spcPct val="100000"/>
              </a:lnSpc>
              <a:spcBef>
                <a:spcPts val="645"/>
              </a:spcBef>
              <a:buChar char="•"/>
              <a:tabLst>
                <a:tab pos="240029" algn="l"/>
              </a:tabLst>
            </a:pPr>
            <a:r>
              <a:rPr spc="-10" dirty="0" err="1"/>
              <a:t>Inlining</a:t>
            </a:r>
            <a:endParaRPr spc="-10" dirty="0"/>
          </a:p>
          <a:p>
            <a:pPr marL="240029" indent="-227329">
              <a:lnSpc>
                <a:spcPct val="100000"/>
              </a:lnSpc>
              <a:spcBef>
                <a:spcPts val="640"/>
              </a:spcBef>
              <a:buChar char="•"/>
              <a:tabLst>
                <a:tab pos="240029" algn="l"/>
              </a:tabLst>
            </a:pPr>
            <a:r>
              <a:rPr dirty="0"/>
              <a:t>Constant </a:t>
            </a:r>
            <a:r>
              <a:rPr spc="-10" dirty="0"/>
              <a:t>propagation</a:t>
            </a:r>
          </a:p>
          <a:p>
            <a:pPr marL="240029" indent="-227329">
              <a:lnSpc>
                <a:spcPct val="100000"/>
              </a:lnSpc>
              <a:spcBef>
                <a:spcPts val="645"/>
              </a:spcBef>
              <a:buChar char="•"/>
              <a:tabLst>
                <a:tab pos="240029" algn="l"/>
              </a:tabLst>
            </a:pPr>
            <a:r>
              <a:rPr spc="-10" dirty="0"/>
              <a:t>Dead-</a:t>
            </a:r>
            <a:r>
              <a:rPr dirty="0"/>
              <a:t>code</a:t>
            </a:r>
            <a:r>
              <a:rPr spc="40" dirty="0"/>
              <a:t> </a:t>
            </a:r>
            <a:r>
              <a:rPr spc="-10" dirty="0"/>
              <a:t>elimination</a:t>
            </a:r>
          </a:p>
          <a:p>
            <a:pPr>
              <a:lnSpc>
                <a:spcPct val="100000"/>
              </a:lnSpc>
              <a:spcBef>
                <a:spcPts val="1470"/>
              </a:spcBef>
              <a:buFont typeface="Microsoft Sans Serif"/>
              <a:buChar char="•"/>
            </a:pPr>
            <a:endParaRPr spc="-10" dirty="0"/>
          </a:p>
          <a:p>
            <a:pPr marL="240029" indent="-227329">
              <a:lnSpc>
                <a:spcPct val="100000"/>
              </a:lnSpc>
              <a:buClr>
                <a:srgbClr val="000000"/>
              </a:buClr>
              <a:buChar char="•"/>
              <a:tabLst>
                <a:tab pos="240029" algn="l"/>
              </a:tabLst>
            </a:pPr>
            <a:r>
              <a:rPr u="sng" spc="-10" dirty="0">
                <a:solidFill>
                  <a:srgbClr val="0563C0"/>
                </a:solidFill>
                <a:uFill>
                  <a:solidFill>
                    <a:srgbClr val="0563C0"/>
                  </a:solidFill>
                </a:uFill>
                <a:hlinkClick r:id="rId2"/>
              </a:rPr>
              <a:t>https://gcc.gnu.org/onlinedocs/gcc/Optimize-Options.html</a:t>
            </a:r>
          </a:p>
          <a:p>
            <a:pPr marL="240029" indent="-227329">
              <a:lnSpc>
                <a:spcPct val="100000"/>
              </a:lnSpc>
              <a:spcBef>
                <a:spcPts val="645"/>
              </a:spcBef>
              <a:buChar char="•"/>
              <a:tabLst>
                <a:tab pos="240029" algn="l"/>
              </a:tabLst>
            </a:pPr>
            <a:r>
              <a:rPr spc="-20" dirty="0"/>
              <a:t>-</a:t>
            </a:r>
            <a:r>
              <a:rPr dirty="0"/>
              <a:t>O0,</a:t>
            </a:r>
            <a:r>
              <a:rPr spc="10" dirty="0"/>
              <a:t> </a:t>
            </a:r>
            <a:r>
              <a:rPr spc="-20" dirty="0"/>
              <a:t>-</a:t>
            </a:r>
            <a:r>
              <a:rPr dirty="0"/>
              <a:t>O1,</a:t>
            </a:r>
            <a:r>
              <a:rPr spc="10" dirty="0"/>
              <a:t> </a:t>
            </a:r>
            <a:r>
              <a:rPr spc="-20" dirty="0"/>
              <a:t>-</a:t>
            </a:r>
            <a:r>
              <a:rPr dirty="0"/>
              <a:t>O2,</a:t>
            </a:r>
            <a:r>
              <a:rPr spc="10" dirty="0"/>
              <a:t> </a:t>
            </a:r>
            <a:r>
              <a:rPr spc="-20" dirty="0"/>
              <a:t>-</a:t>
            </a:r>
            <a:r>
              <a:rPr dirty="0"/>
              <a:t>O3,</a:t>
            </a:r>
            <a:r>
              <a:rPr spc="10" dirty="0"/>
              <a:t> </a:t>
            </a:r>
            <a:r>
              <a:rPr spc="-20" dirty="0"/>
              <a:t>-</a:t>
            </a:r>
            <a:r>
              <a:rPr dirty="0"/>
              <a:t>Ofast,</a:t>
            </a:r>
            <a:r>
              <a:rPr spc="10" dirty="0"/>
              <a:t> </a:t>
            </a:r>
            <a:r>
              <a:rPr spc="-20" dirty="0"/>
              <a:t>-</a:t>
            </a:r>
            <a:r>
              <a:rPr spc="-25" dirty="0" err="1"/>
              <a:t>Og</a:t>
            </a:r>
            <a:endParaRPr lang="en-US" spc="-25" dirty="0"/>
          </a:p>
          <a:p>
            <a:pPr marL="240029" indent="-227329">
              <a:lnSpc>
                <a:spcPct val="100000"/>
              </a:lnSpc>
              <a:spcBef>
                <a:spcPts val="645"/>
              </a:spcBef>
              <a:buChar char="•"/>
              <a:tabLst>
                <a:tab pos="240029" algn="l"/>
              </a:tabLst>
            </a:pPr>
            <a:r>
              <a:rPr lang="en-US" spc="-25" dirty="0">
                <a:hlinkClick r:id="rId3"/>
              </a:rPr>
              <a:t>The as-if rule</a:t>
            </a:r>
            <a:endParaRPr spc="-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Speed</a:t>
            </a:r>
            <a:r>
              <a:rPr spc="-45" dirty="0"/>
              <a:t> </a:t>
            </a:r>
            <a:r>
              <a:rPr dirty="0"/>
              <a:t>of</a:t>
            </a:r>
            <a:r>
              <a:rPr spc="-40" dirty="0"/>
              <a:t> </a:t>
            </a:r>
            <a:r>
              <a:rPr spc="-10" dirty="0"/>
              <a:t>operations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99723" y="1571056"/>
            <a:ext cx="6004460" cy="486047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604631" y="6494300"/>
            <a:ext cx="6596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Microsoft Sans Serif"/>
                <a:cs typeface="Microsoft Sans Serif"/>
                <a:hlinkClick r:id="rId3"/>
              </a:rPr>
              <a:t>http://ithare.com/infographics-</a:t>
            </a:r>
            <a:r>
              <a:rPr sz="1800" spc="-20" dirty="0">
                <a:latin typeface="Microsoft Sans Serif"/>
                <a:cs typeface="Microsoft Sans Serif"/>
                <a:hlinkClick r:id="rId3"/>
              </a:rPr>
              <a:t>operation-costs-in-cpu-clock-</a:t>
            </a:r>
            <a:r>
              <a:rPr sz="1800" spc="-10" dirty="0">
                <a:latin typeface="Microsoft Sans Serif"/>
                <a:cs typeface="Microsoft Sans Serif"/>
                <a:hlinkClick r:id="rId3"/>
              </a:rPr>
              <a:t>cycles</a:t>
            </a:r>
            <a:endParaRPr sz="1800" dirty="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Warnings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8" y="1808452"/>
            <a:ext cx="670306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100"/>
              </a:spcBef>
              <a:buChar char="•"/>
              <a:tabLst>
                <a:tab pos="241935" algn="l"/>
              </a:tabLst>
            </a:pPr>
            <a:r>
              <a:rPr sz="2800" spc="-1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Wall,</a:t>
            </a:r>
            <a:r>
              <a:rPr sz="2800" spc="25" dirty="0">
                <a:latin typeface="Microsoft Sans Serif"/>
                <a:cs typeface="Microsoft Sans Serif"/>
              </a:rPr>
              <a:t> </a:t>
            </a:r>
            <a:r>
              <a:rPr sz="2800" spc="75" dirty="0">
                <a:latin typeface="Microsoft Sans Serif"/>
                <a:cs typeface="Microsoft Sans Serif"/>
              </a:rPr>
              <a:t>–Wextra,</a:t>
            </a:r>
            <a:r>
              <a:rPr sz="2800" spc="2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-</a:t>
            </a:r>
            <a:r>
              <a:rPr sz="2800" spc="-10" dirty="0" err="1">
                <a:latin typeface="Microsoft Sans Serif"/>
                <a:cs typeface="Microsoft Sans Serif"/>
              </a:rPr>
              <a:t>Werror</a:t>
            </a:r>
            <a:r>
              <a:rPr lang="en-US" sz="2800" spc="-10" dirty="0">
                <a:latin typeface="Microsoft Sans Serif"/>
                <a:cs typeface="Microsoft Sans Serif"/>
              </a:rPr>
              <a:t>, -</a:t>
            </a:r>
            <a:r>
              <a:rPr lang="en-US" sz="2800" spc="-10" dirty="0" err="1">
                <a:latin typeface="Microsoft Sans Serif"/>
                <a:cs typeface="Microsoft Sans Serif"/>
              </a:rPr>
              <a:t>Wpedantic</a:t>
            </a:r>
            <a:endParaRPr sz="2800" dirty="0">
              <a:latin typeface="Microsoft Sans Serif"/>
              <a:cs typeface="Microsoft Sans Serif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6939" y="3341596"/>
            <a:ext cx="9157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100"/>
              </a:spcBef>
              <a:buChar char="•"/>
              <a:tabLst>
                <a:tab pos="241935" algn="l"/>
              </a:tabLst>
            </a:pPr>
            <a:r>
              <a:rPr sz="2800" u="sng" spc="-25" dirty="0">
                <a:solidFill>
                  <a:srgbClr val="0563C0"/>
                </a:solidFill>
                <a:uFill>
                  <a:solidFill>
                    <a:srgbClr val="0563C0"/>
                  </a:solidFill>
                </a:uFill>
                <a:latin typeface="Microsoft Sans Serif"/>
                <a:cs typeface="Microsoft Sans Serif"/>
                <a:hlinkClick r:id="rId2"/>
              </a:rPr>
              <a:t>https://gcc.gnu.org/onlinedocs/gcc/Warning-</a:t>
            </a:r>
            <a:r>
              <a:rPr sz="2800" u="sng" spc="-10" dirty="0">
                <a:solidFill>
                  <a:srgbClr val="0563C0"/>
                </a:solidFill>
                <a:uFill>
                  <a:solidFill>
                    <a:srgbClr val="0563C0"/>
                  </a:solidFill>
                </a:uFill>
                <a:latin typeface="Microsoft Sans Serif"/>
                <a:cs typeface="Microsoft Sans Serif"/>
                <a:hlinkClick r:id="rId2"/>
              </a:rPr>
              <a:t>Options.html</a:t>
            </a:r>
            <a:endParaRPr sz="2800">
              <a:latin typeface="Microsoft Sans Serif"/>
              <a:cs typeface="Microsoft Sans Serif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75" dirty="0"/>
              <a:t> </a:t>
            </a:r>
            <a:r>
              <a:rPr spc="-10" dirty="0"/>
              <a:t>Translation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39" y="1724124"/>
            <a:ext cx="4056379" cy="155892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7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Apple</a:t>
            </a:r>
            <a:r>
              <a:rPr sz="2800" spc="-40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Rosetta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2006: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PowerPC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-</a:t>
            </a:r>
            <a:r>
              <a:rPr sz="2800" dirty="0">
                <a:latin typeface="Microsoft Sans Serif"/>
                <a:cs typeface="Microsoft Sans Serif"/>
              </a:rPr>
              <a:t>&gt;</a:t>
            </a:r>
            <a:r>
              <a:rPr sz="2800" spc="-45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Intel</a:t>
            </a:r>
            <a:endParaRPr sz="280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2020: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Intel</a:t>
            </a:r>
            <a:r>
              <a:rPr sz="2800" spc="-20" dirty="0">
                <a:latin typeface="Microsoft Sans Serif"/>
                <a:cs typeface="Microsoft Sans Serif"/>
              </a:rPr>
              <a:t> -</a:t>
            </a:r>
            <a:r>
              <a:rPr sz="2800" dirty="0">
                <a:latin typeface="Microsoft Sans Serif"/>
                <a:cs typeface="Microsoft Sans Serif"/>
              </a:rPr>
              <a:t>&gt;</a:t>
            </a:r>
            <a:r>
              <a:rPr sz="2800" spc="-2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ARM</a:t>
            </a:r>
            <a:r>
              <a:rPr sz="2800" spc="-20" dirty="0">
                <a:latin typeface="Microsoft Sans Serif"/>
                <a:cs typeface="Microsoft Sans Serif"/>
              </a:rPr>
              <a:t> (M1)</a:t>
            </a:r>
            <a:endParaRPr sz="2800">
              <a:latin typeface="Microsoft Sans Serif"/>
              <a:cs typeface="Microsoft Sans Serif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3356" y="711879"/>
            <a:ext cx="6342877" cy="581886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57201" y="979321"/>
            <a:ext cx="5715000" cy="1569660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760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Dragon</a:t>
            </a:r>
            <a:r>
              <a:rPr sz="2800" spc="-90" dirty="0">
                <a:latin typeface="Microsoft Sans Serif"/>
                <a:cs typeface="Microsoft Sans Serif"/>
              </a:rPr>
              <a:t> </a:t>
            </a:r>
            <a:r>
              <a:rPr sz="2800" spc="-20" dirty="0">
                <a:latin typeface="Microsoft Sans Serif"/>
                <a:cs typeface="Microsoft Sans Serif"/>
              </a:rPr>
              <a:t>Book</a:t>
            </a:r>
            <a:endParaRPr sz="280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sz="2800" dirty="0">
                <a:latin typeface="Microsoft Sans Serif"/>
                <a:cs typeface="Microsoft Sans Serif"/>
              </a:rPr>
              <a:t>Engineering</a:t>
            </a:r>
            <a:r>
              <a:rPr sz="2800" spc="-70" dirty="0">
                <a:latin typeface="Microsoft Sans Serif"/>
                <a:cs typeface="Microsoft Sans Serif"/>
              </a:rPr>
              <a:t> </a:t>
            </a:r>
            <a:r>
              <a:rPr sz="2800" dirty="0">
                <a:latin typeface="Microsoft Sans Serif"/>
                <a:cs typeface="Microsoft Sans Serif"/>
              </a:rPr>
              <a:t>a</a:t>
            </a:r>
            <a:r>
              <a:rPr sz="2800" spc="-65" dirty="0">
                <a:latin typeface="Microsoft Sans Serif"/>
                <a:cs typeface="Microsoft Sans Serif"/>
              </a:rPr>
              <a:t> </a:t>
            </a:r>
            <a:r>
              <a:rPr sz="2800" spc="-10" dirty="0">
                <a:latin typeface="Microsoft Sans Serif"/>
                <a:cs typeface="Microsoft Sans Serif"/>
              </a:rPr>
              <a:t>compiler</a:t>
            </a:r>
            <a:endParaRPr lang="ru-RU" sz="2800" spc="-10" dirty="0">
              <a:latin typeface="Microsoft Sans Serif"/>
              <a:cs typeface="Microsoft Sans Serif"/>
            </a:endParaRPr>
          </a:p>
          <a:p>
            <a:pPr marL="241935" indent="-229235">
              <a:lnSpc>
                <a:spcPct val="100000"/>
              </a:lnSpc>
              <a:spcBef>
                <a:spcPts val="665"/>
              </a:spcBef>
              <a:buChar char="•"/>
              <a:tabLst>
                <a:tab pos="241935" algn="l"/>
              </a:tabLst>
            </a:pPr>
            <a:r>
              <a:rPr lang="ru-RU" sz="2800" spc="-10" dirty="0">
                <a:latin typeface="Microsoft Sans Serif"/>
                <a:cs typeface="Microsoft Sans Serif"/>
              </a:rPr>
              <a:t>Оптимизирующие компиляторы</a:t>
            </a:r>
            <a:endParaRPr sz="2800" dirty="0">
              <a:latin typeface="Microsoft Sans Serif"/>
              <a:cs typeface="Microsoft Sans Serif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30824" y="2693041"/>
            <a:ext cx="3153648" cy="394779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91541" y="2676774"/>
            <a:ext cx="2646556" cy="394779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77580AB-9AB0-4264-A0B5-BF30509E7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199" y="2062234"/>
            <a:ext cx="3162208" cy="4795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ject 2">
            <a:extLst>
              <a:ext uri="{FF2B5EF4-FFF2-40B4-BE49-F238E27FC236}">
                <a16:creationId xmlns:a16="http://schemas.microsoft.com/office/drawing/2014/main" id="{EBFBF1FB-D424-4AAB-8D28-5B5549AE3611}"/>
              </a:ext>
            </a:extLst>
          </p:cNvPr>
          <p:cNvSpPr txBox="1">
            <a:spLocks/>
          </p:cNvSpPr>
          <p:nvPr/>
        </p:nvSpPr>
        <p:spPr>
          <a:xfrm>
            <a:off x="462338" y="135500"/>
            <a:ext cx="5486400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ru-RU" sz="5400" spc="-10" dirty="0"/>
              <a:t>Что почитать</a:t>
            </a:r>
            <a:endParaRPr lang="en-US" sz="5400" spc="-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Компиляция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404938" y="1469566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376358" y="1454067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647822" y="2611456"/>
            <a:ext cx="2286000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662109" y="2640031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1947858" y="3204209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1947859" y="3658432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728784" y="421165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333876" y="5334000"/>
            <a:ext cx="3971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</a:t>
            </a:r>
          </a:p>
          <a:p>
            <a:r>
              <a:rPr lang="en-US" dirty="0" err="1"/>
              <a:t>objdump</a:t>
            </a:r>
            <a:r>
              <a:rPr lang="en-US" dirty="0"/>
              <a:t> –M intel –d </a:t>
            </a:r>
            <a:r>
              <a:rPr lang="en-US" dirty="0" err="1"/>
              <a:t>main.o</a:t>
            </a:r>
            <a:r>
              <a:rPr lang="en-US" dirty="0"/>
              <a:t> &gt; dump</a:t>
            </a:r>
          </a:p>
          <a:p>
            <a:r>
              <a:rPr lang="ru-RU" dirty="0"/>
              <a:t>или</a:t>
            </a:r>
          </a:p>
          <a:p>
            <a:r>
              <a:rPr lang="en-US" dirty="0"/>
              <a:t>g++ -S main.cpp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645440" y="1806296"/>
            <a:ext cx="2286000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647822" y="2221021"/>
            <a:ext cx="2286000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void </a:t>
            </a:r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46856E-505C-469C-867B-84DF87F86A4F}"/>
              </a:ext>
            </a:extLst>
          </p:cNvPr>
          <p:cNvSpPr/>
          <p:nvPr/>
        </p:nvSpPr>
        <p:spPr>
          <a:xfrm>
            <a:off x="6186488" y="1469566"/>
            <a:ext cx="5219700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86E140-7227-4AD6-AA9B-3147FBD36D64}"/>
              </a:ext>
            </a:extLst>
          </p:cNvPr>
          <p:cNvSpPr txBox="1"/>
          <p:nvPr/>
        </p:nvSpPr>
        <p:spPr>
          <a:xfrm>
            <a:off x="6157908" y="1454067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main.o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DAD37E-E288-4BA8-B9CD-024AD5AC4501}"/>
              </a:ext>
            </a:extLst>
          </p:cNvPr>
          <p:cNvSpPr txBox="1"/>
          <p:nvPr/>
        </p:nvSpPr>
        <p:spPr>
          <a:xfrm>
            <a:off x="6210300" y="1835067"/>
            <a:ext cx="51958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0000000000000000 &lt;main&gt;:</a:t>
            </a:r>
          </a:p>
          <a:p>
            <a:r>
              <a:rPr lang="en-US" sz="1200" dirty="0"/>
              <a:t>   0:   f3 0f 1e fa            endbr64</a:t>
            </a:r>
          </a:p>
          <a:p>
            <a:r>
              <a:rPr lang="en-US" sz="1200" dirty="0"/>
              <a:t>   4:   55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5:   48 89 e5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   </a:t>
            </a:r>
            <a:r>
              <a:rPr lang="en-US" sz="1200" b="1" dirty="0">
                <a:solidFill>
                  <a:srgbClr val="00B050"/>
                </a:solidFill>
              </a:rPr>
              <a:t>8:   e8 00 00 00 00    call   d &lt;main+0xd&gt;        # _Z11useful_funcv</a:t>
            </a:r>
          </a:p>
          <a:p>
            <a:r>
              <a:rPr lang="en-US" sz="1200" dirty="0"/>
              <a:t>   </a:t>
            </a:r>
            <a:r>
              <a:rPr lang="en-US" sz="1200" b="1" dirty="0">
                <a:solidFill>
                  <a:srgbClr val="7030A0"/>
                </a:solidFill>
              </a:rPr>
              <a:t>d:   e8 00 00 00 00    call   12 &lt;main+0x12&gt; &gt; # _Z14important_funcv</a:t>
            </a:r>
          </a:p>
          <a:p>
            <a:r>
              <a:rPr lang="en-US" sz="1200" dirty="0"/>
              <a:t>  12:   b8 00 00 00 00   mov    eax,0x0</a:t>
            </a:r>
          </a:p>
          <a:p>
            <a:r>
              <a:rPr lang="en-US" sz="1200" dirty="0"/>
              <a:t>  17:   5d                       pop 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18:   c3                       ret </a:t>
            </a:r>
            <a:endParaRPr lang="ru-RU" sz="1200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62B386E4-D8AA-4B46-BCA7-423973B26FF5}"/>
              </a:ext>
            </a:extLst>
          </p:cNvPr>
          <p:cNvSpPr/>
          <p:nvPr/>
        </p:nvSpPr>
        <p:spPr>
          <a:xfrm>
            <a:off x="4648200" y="2567204"/>
            <a:ext cx="1447800" cy="1131779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959322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1" y="27014"/>
            <a:ext cx="2743200" cy="695960"/>
          </a:xfrm>
        </p:spPr>
        <p:txBody>
          <a:bodyPr/>
          <a:lstStyle/>
          <a:p>
            <a:r>
              <a:rPr lang="ru-RU" dirty="0"/>
              <a:t>Линковка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638674" y="6172200"/>
            <a:ext cx="2914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46856E-505C-469C-867B-84DF87F86A4F}"/>
              </a:ext>
            </a:extLst>
          </p:cNvPr>
          <p:cNvSpPr/>
          <p:nvPr/>
        </p:nvSpPr>
        <p:spPr>
          <a:xfrm>
            <a:off x="152400" y="869153"/>
            <a:ext cx="5219700" cy="21788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86E140-7227-4AD6-AA9B-3147FBD36D64}"/>
              </a:ext>
            </a:extLst>
          </p:cNvPr>
          <p:cNvSpPr txBox="1"/>
          <p:nvPr/>
        </p:nvSpPr>
        <p:spPr>
          <a:xfrm>
            <a:off x="123820" y="853654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main.o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DAD37E-E288-4BA8-B9CD-024AD5AC4501}"/>
              </a:ext>
            </a:extLst>
          </p:cNvPr>
          <p:cNvSpPr txBox="1"/>
          <p:nvPr/>
        </p:nvSpPr>
        <p:spPr>
          <a:xfrm>
            <a:off x="176212" y="1234654"/>
            <a:ext cx="51958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0000000000000000 &lt;main&gt;:</a:t>
            </a:r>
          </a:p>
          <a:p>
            <a:r>
              <a:rPr lang="en-US" sz="1200" dirty="0"/>
              <a:t>   0:   f3 0f 1e fa            endbr64</a:t>
            </a:r>
          </a:p>
          <a:p>
            <a:r>
              <a:rPr lang="en-US" sz="1200" dirty="0"/>
              <a:t>   4:   55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5:   48 89 e5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   </a:t>
            </a:r>
            <a:r>
              <a:rPr lang="en-US" sz="1200" b="1" dirty="0">
                <a:solidFill>
                  <a:srgbClr val="00B050"/>
                </a:solidFill>
              </a:rPr>
              <a:t>8:   e8 00 00 00 00    call   d &lt;main+0xd&gt;        # _Z11useful_funcv</a:t>
            </a:r>
          </a:p>
          <a:p>
            <a:r>
              <a:rPr lang="en-US" sz="1200" dirty="0"/>
              <a:t>   </a:t>
            </a:r>
            <a:r>
              <a:rPr lang="en-US" sz="1200" b="1" dirty="0">
                <a:solidFill>
                  <a:srgbClr val="7030A0"/>
                </a:solidFill>
              </a:rPr>
              <a:t>d:   e8 00 00 00 00    call   12 &lt;main+0x12&gt; &gt; # _Z14important_funcv</a:t>
            </a:r>
          </a:p>
          <a:p>
            <a:r>
              <a:rPr lang="en-US" sz="1200" dirty="0"/>
              <a:t>  12:   b8 00 00 00 00   mov    eax,0x0</a:t>
            </a:r>
          </a:p>
          <a:p>
            <a:r>
              <a:rPr lang="en-US" sz="1200" dirty="0"/>
              <a:t>  17:   5d                       pop 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18:   c3                       ret </a:t>
            </a:r>
            <a:endParaRPr lang="ru-RU" sz="12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77B54B-1F94-479F-9041-0E70833C0677}"/>
              </a:ext>
            </a:extLst>
          </p:cNvPr>
          <p:cNvSpPr/>
          <p:nvPr/>
        </p:nvSpPr>
        <p:spPr>
          <a:xfrm>
            <a:off x="6019800" y="853654"/>
            <a:ext cx="5219700" cy="21788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F84C64-83A4-4E3E-B86F-F1818EA7802C}"/>
              </a:ext>
            </a:extLst>
          </p:cNvPr>
          <p:cNvSpPr txBox="1"/>
          <p:nvPr/>
        </p:nvSpPr>
        <p:spPr>
          <a:xfrm>
            <a:off x="5991220" y="838155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my_lib.o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36CCF9-034D-46C9-9832-C74597B17400}"/>
              </a:ext>
            </a:extLst>
          </p:cNvPr>
          <p:cNvSpPr txBox="1"/>
          <p:nvPr/>
        </p:nvSpPr>
        <p:spPr>
          <a:xfrm>
            <a:off x="6043612" y="1219155"/>
            <a:ext cx="51958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0000000000000000 &lt;_Z11useful_funcv&gt;:</a:t>
            </a:r>
          </a:p>
          <a:p>
            <a:r>
              <a:rPr lang="en-US" sz="1200" dirty="0"/>
              <a:t>   0:   f3 0f 1e fa            endbr64</a:t>
            </a:r>
          </a:p>
          <a:p>
            <a:r>
              <a:rPr lang="en-US" sz="1200" dirty="0"/>
              <a:t>   4:   55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5:   48 89 e5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  ………</a:t>
            </a:r>
            <a:r>
              <a:rPr lang="da-DK" sz="1200" dirty="0"/>
              <a:t> </a:t>
            </a:r>
          </a:p>
          <a:p>
            <a:r>
              <a:rPr lang="da-DK" sz="1200" dirty="0"/>
              <a:t>  21:   90                      nop</a:t>
            </a:r>
          </a:p>
          <a:p>
            <a:r>
              <a:rPr lang="da-DK" sz="1200" dirty="0"/>
              <a:t>  22:   5d                      pop    rbp</a:t>
            </a:r>
          </a:p>
          <a:p>
            <a:r>
              <a:rPr lang="da-DK" sz="1200" dirty="0"/>
              <a:t>  23:   c3                      ret </a:t>
            </a:r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FF9FEF-55C6-4181-A5F2-D552D94AD0FF}"/>
              </a:ext>
            </a:extLst>
          </p:cNvPr>
          <p:cNvSpPr/>
          <p:nvPr/>
        </p:nvSpPr>
        <p:spPr>
          <a:xfrm>
            <a:off x="3200399" y="3142032"/>
            <a:ext cx="6677025" cy="246464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8BE08C-25A2-49FB-A75D-6EEB52E43FF0}"/>
              </a:ext>
            </a:extLst>
          </p:cNvPr>
          <p:cNvSpPr txBox="1"/>
          <p:nvPr/>
        </p:nvSpPr>
        <p:spPr>
          <a:xfrm>
            <a:off x="3171820" y="3126533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src.o</a:t>
            </a:r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20C643-A021-4DE4-A0F3-D92B64378682}"/>
              </a:ext>
            </a:extLst>
          </p:cNvPr>
          <p:cNvSpPr txBox="1"/>
          <p:nvPr/>
        </p:nvSpPr>
        <p:spPr>
          <a:xfrm>
            <a:off x="3228975" y="3406490"/>
            <a:ext cx="66770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0000000000000000 &lt;_Z14important_funcv&gt;:</a:t>
            </a:r>
          </a:p>
          <a:p>
            <a:r>
              <a:rPr lang="en-US" sz="1200" dirty="0"/>
              <a:t>   0:   f3 0f 1e fa                    endbr64</a:t>
            </a:r>
          </a:p>
          <a:p>
            <a:r>
              <a:rPr lang="en-US" sz="1200" dirty="0"/>
              <a:t>   4:   55        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5:   48 89 e5        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……..</a:t>
            </a:r>
          </a:p>
          <a:p>
            <a:r>
              <a:rPr lang="en-US" sz="1200" dirty="0"/>
              <a:t>  20:   e8 00 00 00 00           call   25 &lt;_Z14important_funcv+0x25&gt; # std::</a:t>
            </a:r>
            <a:r>
              <a:rPr lang="en-US" sz="1200" dirty="0" err="1"/>
              <a:t>cout</a:t>
            </a:r>
            <a:endParaRPr lang="en-US" sz="1200" dirty="0"/>
          </a:p>
          <a:p>
            <a:r>
              <a:rPr lang="en-US" sz="1200" dirty="0"/>
              <a:t>  25:   c7 45 fc 01 00 00 00   mov    DWORD PTR [rbp-0x4],0x1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  2c:   e8 00 00 00 00            call   31 &lt;_Z14important_funcv+0x31&gt; # &lt;_Z11useful_funcv&gt;</a:t>
            </a:r>
          </a:p>
          <a:p>
            <a:r>
              <a:rPr lang="en-US" sz="1200" dirty="0"/>
              <a:t>  31:   8b 45 fc                       mov    </a:t>
            </a:r>
            <a:r>
              <a:rPr lang="en-US" sz="1200" dirty="0" err="1"/>
              <a:t>eax,DWORD</a:t>
            </a:r>
            <a:r>
              <a:rPr lang="en-US" sz="1200" dirty="0"/>
              <a:t> PTR [rbp-0x4]</a:t>
            </a:r>
          </a:p>
          <a:p>
            <a:r>
              <a:rPr lang="en-US" sz="1200" dirty="0"/>
              <a:t>  34:   c9                                leave</a:t>
            </a:r>
          </a:p>
          <a:p>
            <a:r>
              <a:rPr lang="en-US" sz="1200" dirty="0"/>
              <a:t>  35:   c3                                ret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196643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1" y="27014"/>
            <a:ext cx="2743200" cy="695960"/>
          </a:xfrm>
        </p:spPr>
        <p:txBody>
          <a:bodyPr/>
          <a:lstStyle/>
          <a:p>
            <a:r>
              <a:rPr lang="ru-RU" dirty="0"/>
              <a:t>Линковка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2538413" y="6407603"/>
            <a:ext cx="6867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; </a:t>
            </a:r>
            <a:r>
              <a:rPr lang="en-US" dirty="0" err="1"/>
              <a:t>objdump</a:t>
            </a:r>
            <a:r>
              <a:rPr lang="en-US" dirty="0"/>
              <a:t> –M intel –d </a:t>
            </a:r>
            <a:r>
              <a:rPr lang="en-US" dirty="0" err="1"/>
              <a:t>a.out</a:t>
            </a:r>
            <a:r>
              <a:rPr lang="en-US" dirty="0"/>
              <a:t> &gt; dump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46856E-505C-469C-867B-84DF87F86A4F}"/>
              </a:ext>
            </a:extLst>
          </p:cNvPr>
          <p:cNvSpPr/>
          <p:nvPr/>
        </p:nvSpPr>
        <p:spPr>
          <a:xfrm>
            <a:off x="152400" y="750889"/>
            <a:ext cx="10972800" cy="561951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86E140-7227-4AD6-AA9B-3147FBD36D64}"/>
              </a:ext>
            </a:extLst>
          </p:cNvPr>
          <p:cNvSpPr txBox="1"/>
          <p:nvPr/>
        </p:nvSpPr>
        <p:spPr>
          <a:xfrm>
            <a:off x="152400" y="799275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a.out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DAD37E-E288-4BA8-B9CD-024AD5AC4501}"/>
              </a:ext>
            </a:extLst>
          </p:cNvPr>
          <p:cNvSpPr txBox="1"/>
          <p:nvPr/>
        </p:nvSpPr>
        <p:spPr>
          <a:xfrm>
            <a:off x="209551" y="1296160"/>
            <a:ext cx="4657724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0000000000001149 &lt;main&gt;:</a:t>
            </a:r>
          </a:p>
          <a:p>
            <a:r>
              <a:rPr lang="en-US" sz="1200" dirty="0"/>
              <a:t>    1149:   f3 0f 1e fa              endbr64</a:t>
            </a:r>
          </a:p>
          <a:p>
            <a:r>
              <a:rPr lang="en-US" sz="1200" dirty="0"/>
              <a:t>    114d:   55  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 114e:   48 89 e5  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b="1" dirty="0">
                <a:solidFill>
                  <a:srgbClr val="00B050"/>
                </a:solidFill>
              </a:rPr>
              <a:t>    1151:   e8 42 00 00 00      call   1198 &lt;_Z11useful_funcv&gt;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    1156:   e8 07 00 00 00      call   1162 &lt;_Z14important_funcv&gt;</a:t>
            </a:r>
          </a:p>
          <a:p>
            <a:r>
              <a:rPr lang="en-US" sz="1200" dirty="0"/>
              <a:t>    115b:   b8 00 00 00 00      mov    eax,0x0</a:t>
            </a:r>
          </a:p>
          <a:p>
            <a:r>
              <a:rPr lang="en-US" sz="1200" dirty="0"/>
              <a:t>    1160:   5d                          pop 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    1161:   c3                          ret</a:t>
            </a:r>
            <a:endParaRPr lang="ru-RU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36CCF9-034D-46C9-9832-C74597B17400}"/>
              </a:ext>
            </a:extLst>
          </p:cNvPr>
          <p:cNvSpPr txBox="1"/>
          <p:nvPr/>
        </p:nvSpPr>
        <p:spPr>
          <a:xfrm>
            <a:off x="5095875" y="1014638"/>
            <a:ext cx="579120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0000000000001198 &lt;_Z11useful_funcv&gt;:</a:t>
            </a:r>
          </a:p>
          <a:p>
            <a:r>
              <a:rPr lang="en-US" sz="1200" dirty="0"/>
              <a:t>1198:   f3 0f 1e fa                      endbr64</a:t>
            </a:r>
          </a:p>
          <a:p>
            <a:r>
              <a:rPr lang="en-US" sz="1200" dirty="0"/>
              <a:t>119c:   55                                  push   </a:t>
            </a:r>
            <a:r>
              <a:rPr lang="en-US" sz="1200" dirty="0" err="1"/>
              <a:t>rbp</a:t>
            </a:r>
            <a:r>
              <a:rPr lang="en-US" sz="1200" dirty="0"/>
              <a:t> </a:t>
            </a:r>
          </a:p>
          <a:p>
            <a:r>
              <a:rPr lang="en-US" sz="1200" dirty="0"/>
              <a:t>119d:   48 89 e5          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11a0:   48 8d 05 70 0e 00 00    lea    </a:t>
            </a:r>
            <a:r>
              <a:rPr lang="en-US" sz="1200" dirty="0" err="1"/>
              <a:t>rax</a:t>
            </a:r>
            <a:r>
              <a:rPr lang="en-US" sz="1200" dirty="0"/>
              <a:t>,[rip+0xe70] </a:t>
            </a:r>
          </a:p>
          <a:p>
            <a:r>
              <a:rPr lang="en-US" sz="1200" dirty="0"/>
              <a:t>11a7:   48 89 c6                        mov    </a:t>
            </a:r>
            <a:r>
              <a:rPr lang="en-US" sz="1200" dirty="0" err="1"/>
              <a:t>rsi,rax</a:t>
            </a:r>
            <a:endParaRPr lang="en-US" sz="1200" dirty="0"/>
          </a:p>
          <a:p>
            <a:r>
              <a:rPr lang="en-US" sz="1200" dirty="0"/>
              <a:t>11aa:   48 8d 05 8f 2e 00 00     lea    </a:t>
            </a:r>
            <a:r>
              <a:rPr lang="en-US" sz="1200" dirty="0" err="1"/>
              <a:t>rax</a:t>
            </a:r>
            <a:r>
              <a:rPr lang="en-US" sz="1200" dirty="0"/>
              <a:t>,[rip+0x2e8f]        # 4040 &lt;_ZSt4cout….&gt; </a:t>
            </a:r>
          </a:p>
          <a:p>
            <a:r>
              <a:rPr lang="en-US" sz="1200" dirty="0"/>
              <a:t>11b1:   48 89 c7                        mov    </a:t>
            </a:r>
            <a:r>
              <a:rPr lang="en-US" sz="1200" dirty="0" err="1"/>
              <a:t>rdi,rax</a:t>
            </a:r>
            <a:r>
              <a:rPr lang="en-US" sz="1200" dirty="0"/>
              <a:t> </a:t>
            </a:r>
          </a:p>
          <a:p>
            <a:r>
              <a:rPr lang="en-US" sz="1200" dirty="0"/>
              <a:t>11b4:   e8 97 </a:t>
            </a:r>
            <a:r>
              <a:rPr lang="en-US" sz="1200" dirty="0" err="1"/>
              <a:t>fe</a:t>
            </a:r>
            <a:r>
              <a:rPr lang="en-US" sz="1200" dirty="0"/>
              <a:t> ff </a:t>
            </a:r>
            <a:r>
              <a:rPr lang="en-US" sz="1200" dirty="0" err="1"/>
              <a:t>ff</a:t>
            </a:r>
            <a:r>
              <a:rPr lang="en-US" sz="1200" dirty="0"/>
              <a:t>                   call   1050 &lt;_ZStlsISt11char_traitsIcE….&gt;</a:t>
            </a:r>
          </a:p>
          <a:p>
            <a:r>
              <a:rPr lang="en-US" sz="1200" dirty="0"/>
              <a:t>11b9:   90                                  </a:t>
            </a:r>
            <a:r>
              <a:rPr lang="en-US" sz="1200" dirty="0" err="1"/>
              <a:t>nop</a:t>
            </a:r>
            <a:endParaRPr lang="en-US" sz="1200" dirty="0"/>
          </a:p>
          <a:p>
            <a:r>
              <a:rPr lang="en-US" sz="1200" dirty="0"/>
              <a:t>11ba:   5d                                  pop    </a:t>
            </a:r>
            <a:r>
              <a:rPr lang="en-US" sz="1200" dirty="0" err="1"/>
              <a:t>rbp</a:t>
            </a:r>
            <a:r>
              <a:rPr lang="en-US" sz="1200" dirty="0"/>
              <a:t> </a:t>
            </a:r>
          </a:p>
          <a:p>
            <a:r>
              <a:rPr lang="en-US" sz="1200" dirty="0"/>
              <a:t>11bb:   c3                                  ret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20C643-A021-4DE4-A0F3-D92B64378682}"/>
              </a:ext>
            </a:extLst>
          </p:cNvPr>
          <p:cNvSpPr txBox="1"/>
          <p:nvPr/>
        </p:nvSpPr>
        <p:spPr>
          <a:xfrm>
            <a:off x="3009899" y="3429000"/>
            <a:ext cx="617219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</a:rPr>
              <a:t>0000000000001162 &lt;_Z14important_funcv&gt;:</a:t>
            </a:r>
          </a:p>
          <a:p>
            <a:r>
              <a:rPr lang="en-US" sz="1200" dirty="0"/>
              <a:t>1162:   f3 0f 1e fa                      endbr64</a:t>
            </a:r>
          </a:p>
          <a:p>
            <a:r>
              <a:rPr lang="en-US" sz="1200" dirty="0"/>
              <a:t>1166:   55                                  push   </a:t>
            </a:r>
            <a:r>
              <a:rPr lang="en-US" sz="1200" dirty="0" err="1"/>
              <a:t>rbp</a:t>
            </a:r>
            <a:endParaRPr lang="en-US" sz="1200" dirty="0"/>
          </a:p>
          <a:p>
            <a:r>
              <a:rPr lang="en-US" sz="1200" dirty="0"/>
              <a:t>1167:   48 89 e5                        mov    </a:t>
            </a:r>
            <a:r>
              <a:rPr lang="en-US" sz="1200" dirty="0" err="1"/>
              <a:t>rbp,rsp</a:t>
            </a:r>
            <a:endParaRPr lang="en-US" sz="1200" dirty="0"/>
          </a:p>
          <a:p>
            <a:r>
              <a:rPr lang="en-US" sz="1200" dirty="0"/>
              <a:t>116a:   48 83 </a:t>
            </a:r>
            <a:r>
              <a:rPr lang="en-US" sz="1200" dirty="0" err="1"/>
              <a:t>ec</a:t>
            </a:r>
            <a:r>
              <a:rPr lang="en-US" sz="1200" dirty="0"/>
              <a:t> 10                   sub    rsp,0x10</a:t>
            </a:r>
          </a:p>
          <a:p>
            <a:r>
              <a:rPr lang="en-US" sz="1200" dirty="0"/>
              <a:t>116e:   48 8d 05 8f 0e 00 00     lea    </a:t>
            </a:r>
            <a:r>
              <a:rPr lang="en-US" sz="1200" dirty="0" err="1"/>
              <a:t>rax</a:t>
            </a:r>
            <a:r>
              <a:rPr lang="en-US" sz="1200" dirty="0"/>
              <a:t>,[rip+0xe8f]        # 2004 &lt;_IO_stdin_used+0x4&gt;</a:t>
            </a:r>
          </a:p>
          <a:p>
            <a:r>
              <a:rPr lang="en-US" sz="1200" dirty="0"/>
              <a:t>1175:   48 89 c6                        mov    </a:t>
            </a:r>
            <a:r>
              <a:rPr lang="en-US" sz="1200" dirty="0" err="1"/>
              <a:t>rsi,rax</a:t>
            </a:r>
            <a:endParaRPr lang="en-US" sz="1200" dirty="0"/>
          </a:p>
          <a:p>
            <a:r>
              <a:rPr lang="en-US" sz="1200" dirty="0"/>
              <a:t>1178:   48 8d 05 c1 2e 00 00    lea    </a:t>
            </a:r>
            <a:r>
              <a:rPr lang="en-US" sz="1200" dirty="0" err="1"/>
              <a:t>rax</a:t>
            </a:r>
            <a:r>
              <a:rPr lang="en-US" sz="1200" dirty="0"/>
              <a:t>,[rip+0x2ec1]        # 4040 _ZSt4cout….</a:t>
            </a:r>
          </a:p>
          <a:p>
            <a:r>
              <a:rPr lang="en-US" sz="1200" dirty="0"/>
              <a:t>117f:   48 89 c7                         mov    </a:t>
            </a:r>
            <a:r>
              <a:rPr lang="en-US" sz="1200" dirty="0" err="1"/>
              <a:t>rdi,rax</a:t>
            </a:r>
            <a:endParaRPr lang="en-US" sz="1200" dirty="0"/>
          </a:p>
          <a:p>
            <a:r>
              <a:rPr lang="en-US" sz="1200" dirty="0"/>
              <a:t> 1182:   e8 c9 </a:t>
            </a:r>
            <a:r>
              <a:rPr lang="en-US" sz="1200" dirty="0" err="1"/>
              <a:t>fe</a:t>
            </a:r>
            <a:r>
              <a:rPr lang="en-US" sz="1200" dirty="0"/>
              <a:t> ff </a:t>
            </a:r>
            <a:r>
              <a:rPr lang="en-US" sz="1200" dirty="0" err="1"/>
              <a:t>ff</a:t>
            </a:r>
            <a:r>
              <a:rPr lang="en-US" sz="1200" dirty="0"/>
              <a:t>                  call   1050 &lt;_ZStlsISt11char_traitsIcE….&gt;</a:t>
            </a:r>
          </a:p>
          <a:p>
            <a:r>
              <a:rPr lang="en-US" sz="1200" dirty="0"/>
              <a:t>1187:   c7 45 fc 01 00 00 00     mov    DWORD PTR [rbp-0x4],0x1</a:t>
            </a:r>
          </a:p>
          <a:p>
            <a:r>
              <a:rPr lang="en-US" sz="1200" b="1" dirty="0">
                <a:solidFill>
                  <a:srgbClr val="00B050"/>
                </a:solidFill>
              </a:rPr>
              <a:t>118e:   e8 05 00 00 00             call   1198 &lt;_Z11useful_funcv&gt;</a:t>
            </a:r>
          </a:p>
          <a:p>
            <a:r>
              <a:rPr lang="en-US" sz="1200" dirty="0"/>
              <a:t>1193:   8b 45 fc                        mov    </a:t>
            </a:r>
            <a:r>
              <a:rPr lang="en-US" sz="1200" dirty="0" err="1"/>
              <a:t>eax,DWORD</a:t>
            </a:r>
            <a:r>
              <a:rPr lang="en-US" sz="1200" dirty="0"/>
              <a:t> PTR [rbp-0x4] </a:t>
            </a:r>
          </a:p>
          <a:p>
            <a:r>
              <a:rPr lang="en-US" sz="1200" dirty="0"/>
              <a:t>1196:   c9                                 leave </a:t>
            </a:r>
          </a:p>
          <a:p>
            <a:r>
              <a:rPr lang="en-US" sz="1200" dirty="0"/>
              <a:t>1197:   c3                                 ret 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12123852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47DF-7768-4F6D-8939-7BAC9899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81000"/>
            <a:ext cx="9382125" cy="695960"/>
          </a:xfrm>
        </p:spPr>
        <p:txBody>
          <a:bodyPr/>
          <a:lstStyle/>
          <a:p>
            <a:r>
              <a:rPr lang="ru-RU" dirty="0"/>
              <a:t>Таблица символов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C0E676-9D57-443E-8A7E-C1924D5AEF05}"/>
              </a:ext>
            </a:extLst>
          </p:cNvPr>
          <p:cNvSpPr txBox="1"/>
          <p:nvPr/>
        </p:nvSpPr>
        <p:spPr>
          <a:xfrm>
            <a:off x="685800" y="1295400"/>
            <a:ext cx="883920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main.o</a:t>
            </a:r>
            <a:r>
              <a:rPr lang="en-US" dirty="0"/>
              <a:t>:     file format elf64-x86-64</a:t>
            </a:r>
          </a:p>
          <a:p>
            <a:endParaRPr lang="en-US" dirty="0"/>
          </a:p>
          <a:p>
            <a:r>
              <a:rPr lang="en-US" dirty="0"/>
              <a:t>SYMBOL TABLE:</a:t>
            </a:r>
          </a:p>
          <a:p>
            <a:r>
              <a:rPr lang="en-US" dirty="0"/>
              <a:t>0000000000000000 l    df *ABS* 0000000000000000 main.cpp</a:t>
            </a:r>
          </a:p>
          <a:p>
            <a:r>
              <a:rPr lang="en-US" dirty="0"/>
              <a:t>0000000000000000 l    d   .text   0000000000000000 .text</a:t>
            </a:r>
          </a:p>
          <a:p>
            <a:r>
              <a:rPr lang="en-US" b="1" dirty="0"/>
              <a:t>0000000000000000 g     F .text   0000000000000019 main</a:t>
            </a:r>
          </a:p>
          <a:p>
            <a:r>
              <a:rPr lang="en-US" b="1" dirty="0">
                <a:solidFill>
                  <a:srgbClr val="00B050"/>
                </a:solidFill>
              </a:rPr>
              <a:t>0000000000000000        *UND*  0000000000000000 _Z11useful_funcv</a:t>
            </a:r>
          </a:p>
          <a:p>
            <a:r>
              <a:rPr lang="en-US" b="1" dirty="0">
                <a:solidFill>
                  <a:srgbClr val="7030A0"/>
                </a:solidFill>
              </a:rPr>
              <a:t>0000000000000000        *UND*  0000000000000000 _Z14important_funcv</a:t>
            </a:r>
            <a:endParaRPr lang="ru-RU" b="1" dirty="0">
              <a:solidFill>
                <a:srgbClr val="7030A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0C2F75-C78F-464D-AC63-5AF6E5E97195}"/>
              </a:ext>
            </a:extLst>
          </p:cNvPr>
          <p:cNvSpPr txBox="1"/>
          <p:nvPr/>
        </p:nvSpPr>
        <p:spPr>
          <a:xfrm>
            <a:off x="666750" y="3822164"/>
            <a:ext cx="8858250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00B050"/>
                </a:solidFill>
              </a:rPr>
              <a:t>src.o</a:t>
            </a:r>
            <a:r>
              <a:rPr lang="en-US" dirty="0"/>
              <a:t>:     file format elf64-x86-64</a:t>
            </a:r>
          </a:p>
          <a:p>
            <a:endParaRPr lang="en-US" dirty="0"/>
          </a:p>
          <a:p>
            <a:r>
              <a:rPr lang="en-US" dirty="0"/>
              <a:t>SYMBOL TABLE:</a:t>
            </a:r>
          </a:p>
          <a:p>
            <a:r>
              <a:rPr lang="en-US" dirty="0"/>
              <a:t>0000000000000000 l    df *ABS*  0000000000000000 src.cpp</a:t>
            </a:r>
          </a:p>
          <a:p>
            <a:r>
              <a:rPr lang="en-US" dirty="0"/>
              <a:t>0000000000000000 l    d  .text  0000000000000000 .text</a:t>
            </a:r>
          </a:p>
          <a:p>
            <a:r>
              <a:rPr lang="en-US" dirty="0"/>
              <a:t>………</a:t>
            </a:r>
          </a:p>
          <a:p>
            <a:r>
              <a:rPr lang="en-US" b="1" dirty="0">
                <a:solidFill>
                  <a:srgbClr val="7030A0"/>
                </a:solidFill>
              </a:rPr>
              <a:t>0000000000000000 g     F .text  0000000000000036 _Z14important_funcv</a:t>
            </a:r>
          </a:p>
          <a:p>
            <a:r>
              <a:rPr lang="en-US" dirty="0"/>
              <a:t>0000000000000000         *UND*  0000000000000000 _ZSt4cout</a:t>
            </a:r>
          </a:p>
          <a:p>
            <a:r>
              <a:rPr lang="en-US" dirty="0"/>
              <a:t>0000000000000000         *UND*  0000000000000000 _ZStlsISt11char_traitsIcE…</a:t>
            </a:r>
          </a:p>
          <a:p>
            <a:r>
              <a:rPr lang="en-US" b="1" dirty="0">
                <a:solidFill>
                  <a:srgbClr val="00B050"/>
                </a:solidFill>
              </a:rPr>
              <a:t>0000000000000000         *UND*  0000000000000000 _Z11useful_funcv</a:t>
            </a:r>
            <a:endParaRPr lang="ru-RU" b="1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1076E0-1494-4A4C-88D4-82FEDA6DEE25}"/>
              </a:ext>
            </a:extLst>
          </p:cNvPr>
          <p:cNvSpPr txBox="1"/>
          <p:nvPr/>
        </p:nvSpPr>
        <p:spPr>
          <a:xfrm>
            <a:off x="9753600" y="2264896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objdump</a:t>
            </a:r>
            <a:r>
              <a:rPr lang="en-US" dirty="0"/>
              <a:t> –t </a:t>
            </a:r>
            <a:r>
              <a:rPr lang="en-US" dirty="0" err="1"/>
              <a:t>main.o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AA9CED-F282-49AA-AF71-C82114A8699B}"/>
              </a:ext>
            </a:extLst>
          </p:cNvPr>
          <p:cNvSpPr txBox="1"/>
          <p:nvPr/>
        </p:nvSpPr>
        <p:spPr>
          <a:xfrm>
            <a:off x="9753600" y="5068659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objdump</a:t>
            </a:r>
            <a:r>
              <a:rPr lang="en-US" dirty="0"/>
              <a:t> –t </a:t>
            </a:r>
            <a:r>
              <a:rPr lang="en-US" dirty="0" err="1"/>
              <a:t>src.o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98281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47DF-7768-4F6D-8939-7BAC9899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381000"/>
            <a:ext cx="9382125" cy="695960"/>
          </a:xfrm>
        </p:spPr>
        <p:txBody>
          <a:bodyPr/>
          <a:lstStyle/>
          <a:p>
            <a:r>
              <a:rPr lang="ru-RU" dirty="0"/>
              <a:t>Таблица символов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C0E676-9D57-443E-8A7E-C1924D5AEF05}"/>
              </a:ext>
            </a:extLst>
          </p:cNvPr>
          <p:cNvSpPr txBox="1"/>
          <p:nvPr/>
        </p:nvSpPr>
        <p:spPr>
          <a:xfrm>
            <a:off x="685800" y="1295400"/>
            <a:ext cx="8839200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tx1"/>
                </a:solidFill>
              </a:rPr>
              <a:t>a.out</a:t>
            </a:r>
            <a:r>
              <a:rPr lang="en-US" dirty="0">
                <a:solidFill>
                  <a:schemeClr val="tx1"/>
                </a:solidFill>
              </a:rPr>
              <a:t>:     file format elf64-x86-64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SYMBOL TABLE: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……..</a:t>
            </a:r>
          </a:p>
          <a:p>
            <a:r>
              <a:rPr lang="en-US" b="1" dirty="0">
                <a:solidFill>
                  <a:schemeClr val="tx1"/>
                </a:solidFill>
              </a:rPr>
              <a:t>0000000000001149 g     F .text  0000000000000019              main</a:t>
            </a:r>
          </a:p>
          <a:p>
            <a:r>
              <a:rPr lang="en-US" b="1" dirty="0">
                <a:solidFill>
                  <a:srgbClr val="00B050"/>
                </a:solidFill>
              </a:rPr>
              <a:t>0000000000001198 g     F .text  0000000000000024              _Z11useful_funcv</a:t>
            </a:r>
          </a:p>
          <a:p>
            <a:r>
              <a:rPr lang="en-US" b="1" dirty="0">
                <a:solidFill>
                  <a:srgbClr val="7030A0"/>
                </a:solidFill>
              </a:rPr>
              <a:t>0000000000001162 g     F .text  0000000000000036              _Z14important_funcv</a:t>
            </a:r>
          </a:p>
          <a:p>
            <a:r>
              <a:rPr lang="en-US" dirty="0">
                <a:solidFill>
                  <a:schemeClr val="tx1"/>
                </a:solidFill>
              </a:rPr>
              <a:t>0000000000004040 g     O .</a:t>
            </a:r>
            <a:r>
              <a:rPr lang="en-US" dirty="0" err="1">
                <a:solidFill>
                  <a:schemeClr val="tx1"/>
                </a:solidFill>
              </a:rPr>
              <a:t>bss</a:t>
            </a:r>
            <a:r>
              <a:rPr lang="en-US" dirty="0">
                <a:solidFill>
                  <a:schemeClr val="tx1"/>
                </a:solidFill>
              </a:rPr>
              <a:t>   0000000000000110              _ZSt4cout...</a:t>
            </a:r>
          </a:p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1076E0-1494-4A4C-88D4-82FEDA6DEE25}"/>
              </a:ext>
            </a:extLst>
          </p:cNvPr>
          <p:cNvSpPr txBox="1"/>
          <p:nvPr/>
        </p:nvSpPr>
        <p:spPr>
          <a:xfrm>
            <a:off x="9677400" y="2541895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objdump</a:t>
            </a:r>
            <a:r>
              <a:rPr lang="en-US" dirty="0"/>
              <a:t> –t </a:t>
            </a:r>
            <a:r>
              <a:rPr lang="en-US" dirty="0" err="1"/>
              <a:t>a.out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9449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Линковка (версия 1)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666876" y="1872356"/>
            <a:ext cx="2733676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704976" y="1872356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95476" y="2472431"/>
            <a:ext cx="2286000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905001" y="250100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90750" y="3065184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90751" y="3519407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71676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714876" y="1872356"/>
            <a:ext cx="2743200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752976" y="1872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943476" y="2472431"/>
            <a:ext cx="2352676" cy="213360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43476" y="247243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19676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772400" y="1872356"/>
            <a:ext cx="2962275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810501" y="1872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8001000" y="2472431"/>
            <a:ext cx="2581277" cy="21336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8001001" y="2472431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8077201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372476" y="3091556"/>
            <a:ext cx="192404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333876" y="5334000"/>
            <a:ext cx="2895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</a:t>
            </a:r>
          </a:p>
          <a:p>
            <a:r>
              <a:rPr lang="en-US" dirty="0"/>
              <a:t>g++ -c my_lib.cpp</a:t>
            </a:r>
          </a:p>
          <a:p>
            <a:r>
              <a:rPr lang="en-US" dirty="0"/>
              <a:t>g++ -c src.cpp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3752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Линковка (версия 1)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666876" y="1872356"/>
            <a:ext cx="2733676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704976" y="1872356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95476" y="2472431"/>
            <a:ext cx="2286000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905001" y="250100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90750" y="3065184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90751" y="3519407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71676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714876" y="1872356"/>
            <a:ext cx="2743200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752976" y="1872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943476" y="2472431"/>
            <a:ext cx="2352676" cy="213360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43476" y="247243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19676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772400" y="1872356"/>
            <a:ext cx="2962275" cy="3048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810501" y="1872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8001000" y="2472431"/>
            <a:ext cx="2581277" cy="21336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8001001" y="2472431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8077201" y="4072631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372476" y="3091556"/>
            <a:ext cx="192404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DC4684-B8FC-4BB4-BFF4-944677F624F6}"/>
              </a:ext>
            </a:extLst>
          </p:cNvPr>
          <p:cNvSpPr txBox="1"/>
          <p:nvPr/>
        </p:nvSpPr>
        <p:spPr>
          <a:xfrm>
            <a:off x="2581276" y="5253671"/>
            <a:ext cx="74771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– </a:t>
            </a:r>
            <a:r>
              <a:rPr lang="en-US" b="1" dirty="0">
                <a:solidFill>
                  <a:srgbClr val="C00000"/>
                </a:solidFill>
              </a:rPr>
              <a:t>CE: ‘</a:t>
            </a:r>
            <a:r>
              <a:rPr lang="en-US" b="1" dirty="0" err="1">
                <a:solidFill>
                  <a:srgbClr val="C00000"/>
                </a:solidFill>
              </a:rPr>
              <a:t>useful_func</a:t>
            </a:r>
            <a:r>
              <a:rPr lang="en-US" b="1" dirty="0">
                <a:solidFill>
                  <a:srgbClr val="C00000"/>
                </a:solidFill>
              </a:rPr>
              <a:t>’ was not declared in this scope</a:t>
            </a:r>
          </a:p>
          <a:p>
            <a:r>
              <a:rPr lang="en-US" dirty="0"/>
              <a:t>g++ -c my_lib.cpp - </a:t>
            </a:r>
            <a:r>
              <a:rPr lang="en-US" b="1" dirty="0">
                <a:solidFill>
                  <a:srgbClr val="00B050"/>
                </a:solidFill>
              </a:rPr>
              <a:t>OK</a:t>
            </a:r>
          </a:p>
          <a:p>
            <a:r>
              <a:rPr lang="en-US" dirty="0"/>
              <a:t>g++ -c src.cpp – </a:t>
            </a:r>
            <a:r>
              <a:rPr lang="en-US" b="1" dirty="0">
                <a:solidFill>
                  <a:srgbClr val="C00000"/>
                </a:solidFill>
              </a:rPr>
              <a:t>CE: ‘</a:t>
            </a:r>
            <a:r>
              <a:rPr lang="en-US" b="1" dirty="0" err="1">
                <a:solidFill>
                  <a:srgbClr val="C00000"/>
                </a:solidFill>
              </a:rPr>
              <a:t>useful_func</a:t>
            </a:r>
            <a:r>
              <a:rPr lang="en-US" b="1" dirty="0">
                <a:solidFill>
                  <a:srgbClr val="C00000"/>
                </a:solidFill>
              </a:rPr>
              <a:t>’ was not declared in this scope 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– </a:t>
            </a:r>
            <a:r>
              <a:rPr lang="en-US" b="1" dirty="0">
                <a:solidFill>
                  <a:srgbClr val="C00000"/>
                </a:solidFill>
              </a:rPr>
              <a:t>X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97264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2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404938" y="1469566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376358" y="1454067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647822" y="2611456"/>
            <a:ext cx="2286000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662109" y="2640031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1947858" y="3204209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1947859" y="3658432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728784" y="421165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600573" y="1469566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600574" y="147766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943475" y="2057400"/>
            <a:ext cx="2352677" cy="2687656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43476" y="2099030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29200" y="4257297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758112" y="1477662"/>
            <a:ext cx="2976563" cy="34426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772401" y="1491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8001000" y="2472430"/>
            <a:ext cx="2581277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8001001" y="2472431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8077201" y="429642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372476" y="3091556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333876" y="5334000"/>
            <a:ext cx="2895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</a:t>
            </a:r>
          </a:p>
          <a:p>
            <a:r>
              <a:rPr lang="en-US" dirty="0"/>
              <a:t>g++ -c my_lib.cpp</a:t>
            </a:r>
          </a:p>
          <a:p>
            <a:r>
              <a:rPr lang="en-US" dirty="0"/>
              <a:t>g++ -c src.cpp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645440" y="1806296"/>
            <a:ext cx="2286000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647822" y="2221021"/>
            <a:ext cx="2286000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void </a:t>
            </a:r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CCD3BA-DE07-4619-B157-E185A1A507E6}"/>
              </a:ext>
            </a:extLst>
          </p:cNvPr>
          <p:cNvSpPr txBox="1"/>
          <p:nvPr/>
        </p:nvSpPr>
        <p:spPr>
          <a:xfrm>
            <a:off x="8001000" y="1879838"/>
            <a:ext cx="258127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540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2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404938" y="1469566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376358" y="1454067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647822" y="2611456"/>
            <a:ext cx="2286000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662109" y="2640031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1947858" y="3204209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1947859" y="3658432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728784" y="4211656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600573" y="1469566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600574" y="1477662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943475" y="2057400"/>
            <a:ext cx="2352677" cy="2687656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43476" y="2099030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29200" y="4257297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758112" y="1477662"/>
            <a:ext cx="2976563" cy="34426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772401" y="1491356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8001000" y="2472430"/>
            <a:ext cx="2581277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8001001" y="2472431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8077201" y="429642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372476" y="3091556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333875" y="5334000"/>
            <a:ext cx="3438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</a:p>
          <a:p>
            <a:r>
              <a:rPr lang="en-US" dirty="0"/>
              <a:t>g++ -c my_lib.cpp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-c src.cpp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645440" y="1806296"/>
            <a:ext cx="2286000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647822" y="2221021"/>
            <a:ext cx="2286000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void </a:t>
            </a:r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CCD3BA-DE07-4619-B157-E185A1A507E6}"/>
              </a:ext>
            </a:extLst>
          </p:cNvPr>
          <p:cNvSpPr txBox="1"/>
          <p:nvPr/>
        </p:nvSpPr>
        <p:spPr>
          <a:xfrm>
            <a:off x="8001000" y="1879838"/>
            <a:ext cx="258127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2447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3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21441" y="1421760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92861" y="1406261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364324" y="2563650"/>
            <a:ext cx="2378873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378612" y="2592225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664361" y="3156403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664362" y="3610626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445287" y="4163850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3117056" y="1431008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3117057" y="143910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3338519" y="2018842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3459959" y="2060472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3545683" y="421873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6096000" y="1431008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6110289" y="1427359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6338888" y="2447566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6338889" y="2447567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6415089" y="4271565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6710364" y="3066692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364835" y="5191462"/>
            <a:ext cx="28955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</a:t>
            </a:r>
          </a:p>
          <a:p>
            <a:r>
              <a:rPr lang="en-US" dirty="0"/>
              <a:t>g++ -c my_lib.cpp</a:t>
            </a:r>
          </a:p>
          <a:p>
            <a:r>
              <a:rPr lang="en-US" dirty="0"/>
              <a:t>g++ -c src.cpp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361942" y="1758490"/>
            <a:ext cx="2381257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“my_lib.hpp”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364323" y="2156397"/>
            <a:ext cx="237887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“src.hpp”</a:t>
            </a:r>
            <a:endParaRPr lang="ru-R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7F48C3-F005-49C0-9EDA-E879D0CC7F51}"/>
              </a:ext>
            </a:extLst>
          </p:cNvPr>
          <p:cNvSpPr/>
          <p:nvPr/>
        </p:nvSpPr>
        <p:spPr>
          <a:xfrm>
            <a:off x="9163052" y="1439105"/>
            <a:ext cx="2976563" cy="16275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095934-AA34-4A3F-B2F5-1EBCE9ED83C9}"/>
              </a:ext>
            </a:extLst>
          </p:cNvPr>
          <p:cNvSpPr txBox="1"/>
          <p:nvPr/>
        </p:nvSpPr>
        <p:spPr>
          <a:xfrm>
            <a:off x="9177341" y="1417929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src.hpp</a:t>
            </a:r>
            <a:endParaRPr lang="ru-RU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AFB1C8-C2A5-47C9-B278-CA6ED8A3982F}"/>
              </a:ext>
            </a:extLst>
          </p:cNvPr>
          <p:cNvSpPr/>
          <p:nvPr/>
        </p:nvSpPr>
        <p:spPr>
          <a:xfrm>
            <a:off x="9344032" y="2135230"/>
            <a:ext cx="2581277" cy="3693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void </a:t>
            </a:r>
            <a:r>
              <a:rPr lang="en-US" dirty="0" err="1">
                <a:solidFill>
                  <a:schemeClr val="tx1"/>
                </a:solidFill>
              </a:rPr>
              <a:t>important_func</a:t>
            </a:r>
            <a:r>
              <a:rPr lang="en-US" dirty="0">
                <a:solidFill>
                  <a:schemeClr val="tx1"/>
                </a:solidFill>
              </a:rPr>
              <a:t>();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6C0DCA-471C-4E29-8D0C-E2DB0A6E19F5}"/>
              </a:ext>
            </a:extLst>
          </p:cNvPr>
          <p:cNvSpPr/>
          <p:nvPr/>
        </p:nvSpPr>
        <p:spPr>
          <a:xfrm>
            <a:off x="9167814" y="3182967"/>
            <a:ext cx="2976563" cy="17125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B46C17-B533-4D60-9BE6-2990CA921BD4}"/>
              </a:ext>
            </a:extLst>
          </p:cNvPr>
          <p:cNvSpPr txBox="1"/>
          <p:nvPr/>
        </p:nvSpPr>
        <p:spPr>
          <a:xfrm>
            <a:off x="9177341" y="3196660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my_lib.hpp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5F5D4C-1E55-45AD-82E9-F771B3C91EC5}"/>
              </a:ext>
            </a:extLst>
          </p:cNvPr>
          <p:cNvSpPr txBox="1"/>
          <p:nvPr/>
        </p:nvSpPr>
        <p:spPr>
          <a:xfrm>
            <a:off x="9315451" y="3861410"/>
            <a:ext cx="258127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6342459" y="1852133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“my_lib.hpp”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26262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3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21441" y="1421760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92861" y="1406261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364324" y="2563650"/>
            <a:ext cx="2378873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378612" y="2592225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664361" y="3156403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664362" y="3610626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445287" y="4163850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3117056" y="1431008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3117057" y="143910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3338519" y="2018842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3459959" y="2060472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3545683" y="421873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6096000" y="1431008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6110289" y="1427359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6338888" y="2447566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6338889" y="2447567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6415089" y="4271565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6710364" y="3066692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361942" y="1758490"/>
            <a:ext cx="2381257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“my_lib.hpp”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364323" y="2156397"/>
            <a:ext cx="237887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“src.hpp”</a:t>
            </a:r>
            <a:endParaRPr lang="ru-R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7F48C3-F005-49C0-9EDA-E879D0CC7F51}"/>
              </a:ext>
            </a:extLst>
          </p:cNvPr>
          <p:cNvSpPr/>
          <p:nvPr/>
        </p:nvSpPr>
        <p:spPr>
          <a:xfrm>
            <a:off x="9163052" y="1439105"/>
            <a:ext cx="2976563" cy="16275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095934-AA34-4A3F-B2F5-1EBCE9ED83C9}"/>
              </a:ext>
            </a:extLst>
          </p:cNvPr>
          <p:cNvSpPr txBox="1"/>
          <p:nvPr/>
        </p:nvSpPr>
        <p:spPr>
          <a:xfrm>
            <a:off x="9177341" y="1417929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src.hpp</a:t>
            </a:r>
            <a:endParaRPr lang="ru-RU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AFB1C8-C2A5-47C9-B278-CA6ED8A3982F}"/>
              </a:ext>
            </a:extLst>
          </p:cNvPr>
          <p:cNvSpPr/>
          <p:nvPr/>
        </p:nvSpPr>
        <p:spPr>
          <a:xfrm>
            <a:off x="9344032" y="2135230"/>
            <a:ext cx="2581277" cy="369333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void </a:t>
            </a:r>
            <a:r>
              <a:rPr lang="en-US" dirty="0" err="1">
                <a:solidFill>
                  <a:schemeClr val="tx1"/>
                </a:solidFill>
              </a:rPr>
              <a:t>important_func</a:t>
            </a:r>
            <a:r>
              <a:rPr lang="en-US" dirty="0">
                <a:solidFill>
                  <a:schemeClr val="tx1"/>
                </a:solidFill>
              </a:rPr>
              <a:t>();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6C0DCA-471C-4E29-8D0C-E2DB0A6E19F5}"/>
              </a:ext>
            </a:extLst>
          </p:cNvPr>
          <p:cNvSpPr/>
          <p:nvPr/>
        </p:nvSpPr>
        <p:spPr>
          <a:xfrm>
            <a:off x="9167814" y="3182967"/>
            <a:ext cx="2976563" cy="17125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B46C17-B533-4D60-9BE6-2990CA921BD4}"/>
              </a:ext>
            </a:extLst>
          </p:cNvPr>
          <p:cNvSpPr txBox="1"/>
          <p:nvPr/>
        </p:nvSpPr>
        <p:spPr>
          <a:xfrm>
            <a:off x="9177341" y="3196660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my_lib.hpp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5F5D4C-1E55-45AD-82E9-F771B3C91EC5}"/>
              </a:ext>
            </a:extLst>
          </p:cNvPr>
          <p:cNvSpPr txBox="1"/>
          <p:nvPr/>
        </p:nvSpPr>
        <p:spPr>
          <a:xfrm>
            <a:off x="9315451" y="3861410"/>
            <a:ext cx="258127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6342459" y="1852133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“my_lib.hpp”</a:t>
            </a:r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EADA9A-D13A-45A1-8FF3-FF800DB2E1E5}"/>
              </a:ext>
            </a:extLst>
          </p:cNvPr>
          <p:cNvSpPr txBox="1"/>
          <p:nvPr/>
        </p:nvSpPr>
        <p:spPr>
          <a:xfrm>
            <a:off x="4376737" y="5294332"/>
            <a:ext cx="34385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</a:p>
          <a:p>
            <a:r>
              <a:rPr lang="en-US" dirty="0"/>
              <a:t>g++ -c my_lib.cpp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-c src.cpp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38649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4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576385" y="1307729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547805" y="1292230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19268" y="2449619"/>
            <a:ext cx="2378873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833556" y="247819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19305" y="3042372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19306" y="3496595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00231" y="404981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572000" y="1316977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572001" y="1325073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793463" y="1904811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14903" y="194644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00627" y="41047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550944" y="1316977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565233" y="131332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7793832" y="2333535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7793833" y="2333536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7870033" y="4157534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165308" y="2952661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498186" y="5190598"/>
            <a:ext cx="31861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</a:t>
            </a:r>
            <a:r>
              <a:rPr lang="en-US" b="1" dirty="0">
                <a:solidFill>
                  <a:srgbClr val="00B050"/>
                </a:solidFill>
              </a:rPr>
              <a:t> </a:t>
            </a:r>
          </a:p>
          <a:p>
            <a:r>
              <a:rPr lang="en-US" dirty="0"/>
              <a:t>g++ -c my_lib.cpp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 </a:t>
            </a:r>
          </a:p>
          <a:p>
            <a:r>
              <a:rPr lang="en-US" dirty="0"/>
              <a:t>g++ -c src.cpp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816886" y="1644459"/>
            <a:ext cx="2381257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819267" y="2042366"/>
            <a:ext cx="237887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“src.cpp”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7797403" y="1738102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81089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4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576385" y="1307729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547805" y="1292230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19268" y="2449619"/>
            <a:ext cx="2378873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833556" y="247819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19305" y="3042372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19306" y="3496595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00231" y="404981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572000" y="1316977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572001" y="1325073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793463" y="1904811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14903" y="194644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00627" y="41047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550944" y="1316977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565233" y="131332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7793832" y="2333535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7793833" y="2333536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7870033" y="4157534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165308" y="2952661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1097760" y="5057266"/>
            <a:ext cx="33742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– </a:t>
            </a:r>
            <a:r>
              <a:rPr lang="en-US" b="1" dirty="0">
                <a:solidFill>
                  <a:srgbClr val="C00000"/>
                </a:solidFill>
              </a:rPr>
              <a:t>X</a:t>
            </a:r>
            <a:r>
              <a:rPr lang="en-US" b="1" dirty="0">
                <a:solidFill>
                  <a:srgbClr val="00B050"/>
                </a:solidFill>
              </a:rPr>
              <a:t> </a:t>
            </a:r>
          </a:p>
          <a:p>
            <a:r>
              <a:rPr lang="en-US" dirty="0"/>
              <a:t>g++ -c my_lib.cpp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r>
              <a:rPr lang="en-US" dirty="0"/>
              <a:t> </a:t>
            </a:r>
          </a:p>
          <a:p>
            <a:r>
              <a:rPr lang="en-US" dirty="0"/>
              <a:t>g++ -c src.cpp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– </a:t>
            </a:r>
            <a:r>
              <a:rPr lang="en-US" b="1" dirty="0">
                <a:solidFill>
                  <a:srgbClr val="C00000"/>
                </a:solidFill>
              </a:rPr>
              <a:t>X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816886" y="1644459"/>
            <a:ext cx="2381257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819267" y="2042366"/>
            <a:ext cx="237887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“src.cpp”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7797403" y="1738102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D51661-9893-4E3E-AF16-43720E4FE1C4}"/>
              </a:ext>
            </a:extLst>
          </p:cNvPr>
          <p:cNvSpPr txBox="1"/>
          <p:nvPr/>
        </p:nvSpPr>
        <p:spPr>
          <a:xfrm>
            <a:off x="4793463" y="4855953"/>
            <a:ext cx="6103137" cy="18158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In file included from </a:t>
            </a:r>
            <a:r>
              <a:rPr lang="en-US" sz="1400" b="1" dirty="0">
                <a:solidFill>
                  <a:schemeClr val="accent4"/>
                </a:solidFill>
              </a:rPr>
              <a:t>src.cpp</a:t>
            </a:r>
            <a:r>
              <a:rPr lang="en-US" sz="1400" b="1" dirty="0"/>
              <a:t>:2,</a:t>
            </a:r>
          </a:p>
          <a:p>
            <a:r>
              <a:rPr lang="en-US" sz="1400" b="1" dirty="0"/>
              <a:t>                 from main.cpp:2: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my_lib.cpp</a:t>
            </a:r>
            <a:r>
              <a:rPr lang="en-US" sz="1400" b="1" dirty="0"/>
              <a:t>:4:6: error: redefinition of ‘void </a:t>
            </a:r>
            <a:r>
              <a:rPr lang="en-US" sz="1400" b="1" dirty="0" err="1">
                <a:solidFill>
                  <a:srgbClr val="C00000"/>
                </a:solidFill>
              </a:rPr>
              <a:t>useful_func</a:t>
            </a:r>
            <a:r>
              <a:rPr lang="en-US" sz="1400" b="1" dirty="0"/>
              <a:t>()’</a:t>
            </a:r>
          </a:p>
          <a:p>
            <a:r>
              <a:rPr lang="en-US" sz="1400" b="1" dirty="0"/>
              <a:t>    4 | void </a:t>
            </a:r>
            <a:r>
              <a:rPr lang="en-US" sz="1400" b="1" dirty="0" err="1">
                <a:solidFill>
                  <a:srgbClr val="C00000"/>
                </a:solidFill>
              </a:rPr>
              <a:t>useful_func</a:t>
            </a:r>
            <a:r>
              <a:rPr lang="en-US" sz="1400" b="1" dirty="0"/>
              <a:t>() {</a:t>
            </a:r>
          </a:p>
          <a:p>
            <a:r>
              <a:rPr lang="en-US" sz="1400" b="1" dirty="0"/>
              <a:t>      |      ^~~~~~~~~~~</a:t>
            </a:r>
          </a:p>
          <a:p>
            <a:r>
              <a:rPr lang="en-US" sz="1400" b="1" dirty="0"/>
              <a:t>In file included from main.cpp:1: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my_lib.cpp</a:t>
            </a:r>
            <a:r>
              <a:rPr lang="en-US" sz="1400" b="1" dirty="0"/>
              <a:t>:4:6: note: ‘void </a:t>
            </a:r>
            <a:r>
              <a:rPr lang="en-US" sz="1400" b="1" dirty="0" err="1">
                <a:solidFill>
                  <a:srgbClr val="C00000"/>
                </a:solidFill>
              </a:rPr>
              <a:t>useful_func</a:t>
            </a:r>
            <a:r>
              <a:rPr lang="en-US" sz="1400" b="1" dirty="0"/>
              <a:t>()’ previously defined here</a:t>
            </a:r>
          </a:p>
          <a:p>
            <a:r>
              <a:rPr lang="en-US" sz="1400" b="1" dirty="0"/>
              <a:t>    4 | void </a:t>
            </a:r>
            <a:r>
              <a:rPr lang="en-US" sz="1400" b="1" dirty="0" err="1">
                <a:solidFill>
                  <a:srgbClr val="C00000"/>
                </a:solidFill>
              </a:rPr>
              <a:t>useful_func</a:t>
            </a:r>
            <a:r>
              <a:rPr lang="en-US" sz="1400" b="1" dirty="0"/>
              <a:t>() {</a:t>
            </a:r>
            <a:endParaRPr lang="ru-RU" sz="1400" b="1" dirty="0"/>
          </a:p>
        </p:txBody>
      </p:sp>
    </p:spTree>
    <p:extLst>
      <p:ext uri="{BB962C8B-B14F-4D97-AF65-F5344CB8AC3E}">
        <p14:creationId xmlns:p14="http://schemas.microsoft.com/office/powerpoint/2010/main" val="121685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5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576385" y="1307729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547805" y="1292230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19268" y="2449619"/>
            <a:ext cx="2405072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833556" y="247819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19305" y="3042372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19306" y="3496595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00231" y="404981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572000" y="1316977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572001" y="1325073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793463" y="1904811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14903" y="194644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00627" y="41047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550944" y="1316977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565233" y="131332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7793832" y="2333535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7793833" y="2333536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7870033" y="4157534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165308" y="2952661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4498186" y="5180301"/>
            <a:ext cx="31861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</a:t>
            </a:r>
            <a:r>
              <a:rPr lang="en-US" b="1" dirty="0">
                <a:solidFill>
                  <a:srgbClr val="00B050"/>
                </a:solidFill>
              </a:rPr>
              <a:t> </a:t>
            </a:r>
          </a:p>
          <a:p>
            <a:r>
              <a:rPr lang="en-US" dirty="0"/>
              <a:t>g++ -c my_lib.cpp</a:t>
            </a:r>
          </a:p>
          <a:p>
            <a:r>
              <a:rPr lang="en-US" dirty="0"/>
              <a:t>g++ -c src.cpp</a:t>
            </a:r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endParaRPr lang="ru-R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816886" y="1644459"/>
            <a:ext cx="2407454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819267" y="2042366"/>
            <a:ext cx="240745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7797403" y="1738102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7048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6B346-ACF6-4B19-ACB5-4B84FF060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48169"/>
            <a:ext cx="9382125" cy="695960"/>
          </a:xfrm>
        </p:spPr>
        <p:txBody>
          <a:bodyPr/>
          <a:lstStyle/>
          <a:p>
            <a:r>
              <a:rPr lang="ru-RU" dirty="0"/>
              <a:t>Линковка (версия </a:t>
            </a:r>
            <a:r>
              <a:rPr lang="en-US" dirty="0"/>
              <a:t>5</a:t>
            </a:r>
            <a:r>
              <a:rPr lang="ru-RU" dirty="0"/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372EE3-729D-4864-9FE7-074FB46DCC2E}"/>
              </a:ext>
            </a:extLst>
          </p:cNvPr>
          <p:cNvSpPr/>
          <p:nvPr/>
        </p:nvSpPr>
        <p:spPr>
          <a:xfrm>
            <a:off x="1576385" y="1307729"/>
            <a:ext cx="2895599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13954-DD28-430F-9A21-7ADC80E2205F}"/>
              </a:ext>
            </a:extLst>
          </p:cNvPr>
          <p:cNvSpPr txBox="1"/>
          <p:nvPr/>
        </p:nvSpPr>
        <p:spPr>
          <a:xfrm>
            <a:off x="1547805" y="1292230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main.cpp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66B711-22DD-4C20-8B4B-FC9D4359D1C5}"/>
              </a:ext>
            </a:extLst>
          </p:cNvPr>
          <p:cNvSpPr/>
          <p:nvPr/>
        </p:nvSpPr>
        <p:spPr>
          <a:xfrm>
            <a:off x="1819268" y="2449619"/>
            <a:ext cx="2405072" cy="2133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70F7C6-A3A0-405A-B0A0-6B962856E4EA}"/>
              </a:ext>
            </a:extLst>
          </p:cNvPr>
          <p:cNvSpPr txBox="1"/>
          <p:nvPr/>
        </p:nvSpPr>
        <p:spPr>
          <a:xfrm>
            <a:off x="1833556" y="247819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 main() {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E141B-D00F-4B8C-99E0-28D0A61D1DF3}"/>
              </a:ext>
            </a:extLst>
          </p:cNvPr>
          <p:cNvSpPr txBox="1"/>
          <p:nvPr/>
        </p:nvSpPr>
        <p:spPr>
          <a:xfrm>
            <a:off x="2119305" y="3042372"/>
            <a:ext cx="1762125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533669-C797-4C23-AD8B-93E81716B807}"/>
              </a:ext>
            </a:extLst>
          </p:cNvPr>
          <p:cNvSpPr txBox="1"/>
          <p:nvPr/>
        </p:nvSpPr>
        <p:spPr>
          <a:xfrm>
            <a:off x="2119306" y="3496595"/>
            <a:ext cx="1762125" cy="33855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/>
              <a:t>important_func</a:t>
            </a:r>
            <a:r>
              <a:rPr lang="ru-RU" sz="1600" dirty="0"/>
              <a:t>()</a:t>
            </a:r>
            <a:r>
              <a:rPr lang="en-US" sz="1600" dirty="0"/>
              <a:t>;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7FCD45-469D-48BC-87FF-D0426EB02ACB}"/>
              </a:ext>
            </a:extLst>
          </p:cNvPr>
          <p:cNvSpPr txBox="1"/>
          <p:nvPr/>
        </p:nvSpPr>
        <p:spPr>
          <a:xfrm>
            <a:off x="1900231" y="4049819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5D41F6-B929-4FFF-9EC8-9A486A147541}"/>
              </a:ext>
            </a:extLst>
          </p:cNvPr>
          <p:cNvSpPr/>
          <p:nvPr/>
        </p:nvSpPr>
        <p:spPr>
          <a:xfrm>
            <a:off x="4572000" y="1316977"/>
            <a:ext cx="2857503" cy="345079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FC57FA-6061-48A7-ABEA-15F3770234EB}"/>
              </a:ext>
            </a:extLst>
          </p:cNvPr>
          <p:cNvSpPr txBox="1"/>
          <p:nvPr/>
        </p:nvSpPr>
        <p:spPr>
          <a:xfrm>
            <a:off x="4572001" y="1325073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my_lib.cpp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070339-46EA-46D9-A9AE-FB369B070808}"/>
              </a:ext>
            </a:extLst>
          </p:cNvPr>
          <p:cNvSpPr/>
          <p:nvPr/>
        </p:nvSpPr>
        <p:spPr>
          <a:xfrm>
            <a:off x="4793463" y="1904811"/>
            <a:ext cx="2357432" cy="2687656"/>
          </a:xfrm>
          <a:prstGeom prst="rect">
            <a:avLst/>
          </a:prstGeom>
          <a:solidFill>
            <a:schemeClr val="accent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2D2C0-3B96-4E97-9FE8-E99357B6E713}"/>
              </a:ext>
            </a:extLst>
          </p:cNvPr>
          <p:cNvSpPr txBox="1"/>
          <p:nvPr/>
        </p:nvSpPr>
        <p:spPr>
          <a:xfrm>
            <a:off x="4914903" y="1946441"/>
            <a:ext cx="235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useful_func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B70690-5DB2-48B7-807F-9D991B528EE7}"/>
              </a:ext>
            </a:extLst>
          </p:cNvPr>
          <p:cNvSpPr txBox="1"/>
          <p:nvPr/>
        </p:nvSpPr>
        <p:spPr>
          <a:xfrm>
            <a:off x="5000627" y="410470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22F5A8-B251-4E99-B6F9-654B344337A0}"/>
              </a:ext>
            </a:extLst>
          </p:cNvPr>
          <p:cNvSpPr/>
          <p:nvPr/>
        </p:nvSpPr>
        <p:spPr>
          <a:xfrm>
            <a:off x="7550944" y="1316977"/>
            <a:ext cx="2976563" cy="34644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D93A-473D-4530-ABE0-42A8427B4777}"/>
              </a:ext>
            </a:extLst>
          </p:cNvPr>
          <p:cNvSpPr txBox="1"/>
          <p:nvPr/>
        </p:nvSpPr>
        <p:spPr>
          <a:xfrm>
            <a:off x="7565233" y="131332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src.cpp</a:t>
            </a:r>
            <a:endParaRPr lang="ru-RU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3AB157-6357-4937-8F1E-144A7808777A}"/>
              </a:ext>
            </a:extLst>
          </p:cNvPr>
          <p:cNvSpPr/>
          <p:nvPr/>
        </p:nvSpPr>
        <p:spPr>
          <a:xfrm>
            <a:off x="7793832" y="2333535"/>
            <a:ext cx="2590803" cy="22726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6131D2-8819-4154-95B8-A6BE8380ABD3}"/>
              </a:ext>
            </a:extLst>
          </p:cNvPr>
          <p:cNvSpPr txBox="1"/>
          <p:nvPr/>
        </p:nvSpPr>
        <p:spPr>
          <a:xfrm>
            <a:off x="7793833" y="2333536"/>
            <a:ext cx="2581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 {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6E908-B4B5-46D5-B5FD-97B1BE0107FD}"/>
              </a:ext>
            </a:extLst>
          </p:cNvPr>
          <p:cNvSpPr txBox="1"/>
          <p:nvPr/>
        </p:nvSpPr>
        <p:spPr>
          <a:xfrm>
            <a:off x="7870033" y="4157534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}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D3D16A-C9CB-41DA-8D91-24C353CD98AC}"/>
              </a:ext>
            </a:extLst>
          </p:cNvPr>
          <p:cNvSpPr txBox="1"/>
          <p:nvPr/>
        </p:nvSpPr>
        <p:spPr>
          <a:xfrm>
            <a:off x="8165308" y="2952661"/>
            <a:ext cx="1926588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useful_func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A52A50-0BDD-4980-A806-EC38F878563F}"/>
              </a:ext>
            </a:extLst>
          </p:cNvPr>
          <p:cNvSpPr txBox="1"/>
          <p:nvPr/>
        </p:nvSpPr>
        <p:spPr>
          <a:xfrm>
            <a:off x="1885954" y="5130649"/>
            <a:ext cx="33718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g++ -c main.cpp – </a:t>
            </a:r>
            <a:r>
              <a:rPr lang="en-US" b="1" dirty="0">
                <a:solidFill>
                  <a:srgbClr val="00B050"/>
                </a:solidFill>
              </a:rPr>
              <a:t>OK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 </a:t>
            </a:r>
          </a:p>
          <a:p>
            <a:r>
              <a:rPr lang="en-US" dirty="0"/>
              <a:t>g++ -c my_lib.cpp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-c src.cpp – </a:t>
            </a:r>
            <a:r>
              <a:rPr lang="en-US" b="1" dirty="0">
                <a:solidFill>
                  <a:srgbClr val="00B050"/>
                </a:solidFill>
              </a:rPr>
              <a:t>OK </a:t>
            </a:r>
            <a:endParaRPr lang="en-US" dirty="0"/>
          </a:p>
          <a:p>
            <a:r>
              <a:rPr lang="en-US" dirty="0"/>
              <a:t>g++ </a:t>
            </a:r>
            <a:r>
              <a:rPr lang="en-US" dirty="0" err="1"/>
              <a:t>main.o</a:t>
            </a:r>
            <a:r>
              <a:rPr lang="en-US" dirty="0"/>
              <a:t> </a:t>
            </a:r>
            <a:r>
              <a:rPr lang="en-US" dirty="0" err="1"/>
              <a:t>my_lib.o</a:t>
            </a:r>
            <a:r>
              <a:rPr lang="en-US" dirty="0"/>
              <a:t> </a:t>
            </a:r>
            <a:r>
              <a:rPr lang="en-US" dirty="0" err="1"/>
              <a:t>src.o</a:t>
            </a:r>
            <a:r>
              <a:rPr lang="en-US" dirty="0"/>
              <a:t> – </a:t>
            </a:r>
            <a:r>
              <a:rPr lang="en-US" b="1" dirty="0">
                <a:solidFill>
                  <a:srgbClr val="C00000"/>
                </a:solidFill>
              </a:rPr>
              <a:t>X 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F9634C6-B8BD-4005-8484-7B6D648CF0A2}"/>
              </a:ext>
            </a:extLst>
          </p:cNvPr>
          <p:cNvSpPr txBox="1"/>
          <p:nvPr/>
        </p:nvSpPr>
        <p:spPr>
          <a:xfrm>
            <a:off x="1816886" y="1644459"/>
            <a:ext cx="2407454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F3B4D3-CAE0-4A02-B939-44203D800A2E}"/>
              </a:ext>
            </a:extLst>
          </p:cNvPr>
          <p:cNvSpPr txBox="1"/>
          <p:nvPr/>
        </p:nvSpPr>
        <p:spPr>
          <a:xfrm>
            <a:off x="1819267" y="2042366"/>
            <a:ext cx="2407454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void </a:t>
            </a:r>
            <a:r>
              <a:rPr lang="en-US" dirty="0" err="1"/>
              <a:t>important_func</a:t>
            </a:r>
            <a:r>
              <a:rPr lang="en-US" dirty="0"/>
              <a:t>();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3FDDC-877B-4A3A-A2B1-C8CAF59E8C0A}"/>
              </a:ext>
            </a:extLst>
          </p:cNvPr>
          <p:cNvSpPr txBox="1"/>
          <p:nvPr/>
        </p:nvSpPr>
        <p:spPr>
          <a:xfrm>
            <a:off x="7797403" y="1738102"/>
            <a:ext cx="2577706" cy="369332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#include “my_lib.cpp”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FC5004-586F-4D57-9632-A8A82C9D5A60}"/>
              </a:ext>
            </a:extLst>
          </p:cNvPr>
          <p:cNvSpPr txBox="1"/>
          <p:nvPr/>
        </p:nvSpPr>
        <p:spPr>
          <a:xfrm>
            <a:off x="5410201" y="4978173"/>
            <a:ext cx="6477000" cy="120032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/</a:t>
            </a:r>
            <a:r>
              <a:rPr lang="en-US" b="1" dirty="0" err="1"/>
              <a:t>usr</a:t>
            </a:r>
            <a:r>
              <a:rPr lang="en-US" b="1" dirty="0"/>
              <a:t>/bin/</a:t>
            </a:r>
            <a:r>
              <a:rPr lang="en-US" b="1" dirty="0" err="1"/>
              <a:t>ld</a:t>
            </a:r>
            <a:r>
              <a:rPr lang="en-US" b="1" dirty="0"/>
              <a:t>: </a:t>
            </a:r>
            <a:r>
              <a:rPr lang="en-US" b="1" dirty="0" err="1"/>
              <a:t>src.o</a:t>
            </a:r>
            <a:r>
              <a:rPr lang="en-US" b="1" dirty="0"/>
              <a:t>: in function `</a:t>
            </a:r>
            <a:r>
              <a:rPr lang="en-US" b="1" dirty="0" err="1">
                <a:solidFill>
                  <a:srgbClr val="C00000"/>
                </a:solidFill>
              </a:rPr>
              <a:t>useful_func</a:t>
            </a:r>
            <a:r>
              <a:rPr lang="en-US" b="1" dirty="0"/>
              <a:t>()':</a:t>
            </a:r>
          </a:p>
          <a:p>
            <a:r>
              <a:rPr lang="en-US" b="1" dirty="0">
                <a:solidFill>
                  <a:schemeClr val="accent4"/>
                </a:solidFill>
              </a:rPr>
              <a:t>src.cpp</a:t>
            </a:r>
            <a:r>
              <a:rPr lang="en-US" b="1" dirty="0"/>
              <a:t>:(.text+0x0): multiple definition of `</a:t>
            </a:r>
            <a:r>
              <a:rPr lang="en-US" b="1" dirty="0" err="1">
                <a:solidFill>
                  <a:srgbClr val="C00000"/>
                </a:solidFill>
              </a:rPr>
              <a:t>useful_func</a:t>
            </a:r>
            <a:r>
              <a:rPr lang="en-US" b="1" dirty="0"/>
              <a:t>()'; </a:t>
            </a:r>
            <a:r>
              <a:rPr lang="en-US" b="1" dirty="0" err="1"/>
              <a:t>main.o:main.cpp</a:t>
            </a:r>
            <a:r>
              <a:rPr lang="en-US" b="1" dirty="0"/>
              <a:t>:(.text+0x0): first defined here</a:t>
            </a:r>
          </a:p>
          <a:p>
            <a:r>
              <a:rPr lang="en-US" b="1" dirty="0"/>
              <a:t>collect2: error: </a:t>
            </a:r>
            <a:r>
              <a:rPr lang="en-US" b="1" dirty="0" err="1"/>
              <a:t>ld</a:t>
            </a:r>
            <a:r>
              <a:rPr lang="en-US" b="1" dirty="0"/>
              <a:t> returned 1 exit status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04351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603</TotalTime>
  <Words>2658</Words>
  <Application>Microsoft Office PowerPoint</Application>
  <PresentationFormat>Widescreen</PresentationFormat>
  <Paragraphs>416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Microsoft Sans Serif</vt:lpstr>
      <vt:lpstr>Office Theme</vt:lpstr>
      <vt:lpstr>Семинар по C++ №3 Компилятор</vt:lpstr>
      <vt:lpstr>Компилятор</vt:lpstr>
      <vt:lpstr>Стадии компиляции</vt:lpstr>
      <vt:lpstr>Ассемблерный код</vt:lpstr>
      <vt:lpstr>TLDR; Как разбивать программу на файлы?</vt:lpstr>
      <vt:lpstr>Интерпретатор</vt:lpstr>
      <vt:lpstr>Структура компилятора</vt:lpstr>
      <vt:lpstr>Преимущество такой декомпозиции</vt:lpstr>
      <vt:lpstr>Frontend</vt:lpstr>
      <vt:lpstr>Preprocessing</vt:lpstr>
      <vt:lpstr>Lexer</vt:lpstr>
      <vt:lpstr>Parser</vt:lpstr>
      <vt:lpstr>Python (lexer + parser)</vt:lpstr>
      <vt:lpstr>Middle-end</vt:lpstr>
      <vt:lpstr>Semantic analysis</vt:lpstr>
      <vt:lpstr>Code optimization</vt:lpstr>
      <vt:lpstr>Speed of operations</vt:lpstr>
      <vt:lpstr>Warnings</vt:lpstr>
      <vt:lpstr>Binary Translation</vt:lpstr>
      <vt:lpstr>PowerPoint Presentation</vt:lpstr>
      <vt:lpstr>Компиляция</vt:lpstr>
      <vt:lpstr>Линковка</vt:lpstr>
      <vt:lpstr>Линковка</vt:lpstr>
      <vt:lpstr>Таблица символов</vt:lpstr>
      <vt:lpstr>Таблица символов</vt:lpstr>
      <vt:lpstr>Линковка (версия 1)</vt:lpstr>
      <vt:lpstr>Линковка (версия 1)</vt:lpstr>
      <vt:lpstr>Линковка (версия 2)</vt:lpstr>
      <vt:lpstr>Линковка (версия 2)</vt:lpstr>
      <vt:lpstr>Линковка (версия 3)</vt:lpstr>
      <vt:lpstr>Линковка (версия 3)</vt:lpstr>
      <vt:lpstr>Линковка (версия 4)</vt:lpstr>
      <vt:lpstr>Линковка (версия 4)</vt:lpstr>
      <vt:lpstr>Линковка (версия 5)</vt:lpstr>
      <vt:lpstr>Линковка (версия 5)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Семинар по C++ №4 Компилятор</dc:title>
  <dc:creator>Konstantin Dragun</dc:creator>
  <cp:lastModifiedBy>Konstantin Dragun</cp:lastModifiedBy>
  <cp:revision>29</cp:revision>
  <dcterms:created xsi:type="dcterms:W3CDTF">2024-09-25T16:22:41Z</dcterms:created>
  <dcterms:modified xsi:type="dcterms:W3CDTF">2025-09-21T20:52:30Z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2022-10-28T00:00:00Z</vt:filetime>
  </property>
  <property fmtid="{D5CDD505-2E9C-101B-9397-08002B2CF9AE}" pid="3" name="Creator">
    <vt:lpwstr>R7-Office/7.2.0.134</vt:lpwstr>
  </property>
  <property fmtid="{D5CDD505-2E9C-101B-9397-08002B2CF9AE}" pid="4" name="LastSaved">
    <vt:filetime>2024-09-25T00:00:00Z</vt:filetime>
  </property>
  <property fmtid="{D5CDD505-2E9C-101B-9397-08002B2CF9AE}" pid="5" name="Producer">
    <vt:lpwstr>R7-Office/7.2.0.134</vt:lpwstr>
  </property>
</Properties>
</file>