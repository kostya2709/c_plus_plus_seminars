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74" r:id="rId14"/>
    <p:sldId id="273" r:id="rId15"/>
    <p:sldId id="267" r:id="rId16"/>
    <p:sldId id="272" r:id="rId17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10140" y="1730975"/>
            <a:ext cx="737171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06288" y="3574831"/>
            <a:ext cx="5379423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1219" y="642446"/>
            <a:ext cx="1044956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755251"/>
            <a:ext cx="10449560" cy="249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cc.gnu.org/onlinedocs/gcc/Instrumentation-Options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github.com/google/sanitizers/wiki/AddressSanitizerAlgorith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ourceware.org/gdb/current/onlinedocs/gdb.html/Memory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arkdust.net/files/GDB%20Cheat%20Sheet.pdf" TargetMode="External"/><Relationship Id="rId2" Type="http://schemas.openxmlformats.org/officeDocument/2006/relationships/hyperlink" Target="https://cs.brown.edu/courses/cs033/docs/guides/gdb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tpql.com/essential-gdb-commands/" TargetMode="External"/><Relationship Id="rId5" Type="http://schemas.openxmlformats.org/officeDocument/2006/relationships/hyperlink" Target="https://sourceware.org/gdb/current/onlinedocs/gdb.html/TUI.html" TargetMode="External"/><Relationship Id="rId4" Type="http://schemas.openxmlformats.org/officeDocument/2006/relationships/hyperlink" Target="https://habr.com/ru/articles/82463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3416935" algn="l"/>
                <a:tab pos="4464685" algn="l"/>
                <a:tab pos="6116955" algn="l"/>
              </a:tabLst>
            </a:pPr>
            <a:r>
              <a:rPr lang="ru-RU" dirty="0"/>
              <a:t>Семинар по </a:t>
            </a:r>
            <a:r>
              <a:rPr lang="en-US" dirty="0"/>
              <a:t>C++ </a:t>
            </a:r>
            <a:r>
              <a:rPr lang="ru-RU" dirty="0"/>
              <a:t>№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45585" algn="l"/>
              </a:tabLst>
            </a:pPr>
            <a:r>
              <a:rPr dirty="0"/>
              <a:t>Sani</a:t>
            </a:r>
            <a:r>
              <a:rPr spc="-5" dirty="0"/>
              <a:t>t</a:t>
            </a:r>
            <a:r>
              <a:rPr dirty="0"/>
              <a:t>ize</a:t>
            </a:r>
            <a:r>
              <a:rPr spc="-5" dirty="0"/>
              <a:t>r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and	</a:t>
            </a:r>
            <a:r>
              <a:rPr spc="-5" dirty="0"/>
              <a:t>G</a:t>
            </a:r>
            <a:r>
              <a:rPr dirty="0"/>
              <a:t>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62541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/>
              <a:t>Вспоминаем проблемы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71219" y="1763086"/>
            <a:ext cx="3430904" cy="367728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70"/>
              </a:spcBef>
              <a:buChar char="•"/>
              <a:tabLst>
                <a:tab pos="241300" algn="l"/>
              </a:tabLst>
            </a:pPr>
            <a:r>
              <a:rPr sz="3600" spc="-5" dirty="0">
                <a:latin typeface="Arial MT"/>
                <a:cs typeface="Arial MT"/>
              </a:rPr>
              <a:t>Out</a:t>
            </a:r>
            <a:r>
              <a:rPr sz="3600" spc="-3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of</a:t>
            </a:r>
            <a:r>
              <a:rPr sz="3600" spc="-3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range</a:t>
            </a:r>
            <a:endParaRPr sz="36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Char char="•"/>
              <a:tabLst>
                <a:tab pos="241300" algn="l"/>
              </a:tabLst>
            </a:pPr>
            <a:r>
              <a:rPr sz="3600" dirty="0">
                <a:latin typeface="Arial MT"/>
                <a:cs typeface="Arial MT"/>
              </a:rPr>
              <a:t>Double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free</a:t>
            </a:r>
            <a:endParaRPr sz="36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475"/>
              </a:spcBef>
              <a:buChar char="•"/>
              <a:tabLst>
                <a:tab pos="241300" algn="l"/>
              </a:tabLst>
            </a:pPr>
            <a:r>
              <a:rPr sz="3600" spc="-5" dirty="0">
                <a:latin typeface="Arial MT"/>
                <a:cs typeface="Arial MT"/>
              </a:rPr>
              <a:t>Memory</a:t>
            </a:r>
            <a:r>
              <a:rPr sz="3600" spc="-4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leak</a:t>
            </a:r>
            <a:endParaRPr sz="36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Char char="•"/>
              <a:tabLst>
                <a:tab pos="241300" algn="l"/>
              </a:tabLst>
            </a:pPr>
            <a:r>
              <a:rPr sz="3600" dirty="0">
                <a:latin typeface="Arial MT"/>
                <a:cs typeface="Arial MT"/>
              </a:rPr>
              <a:t>Use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after</a:t>
            </a:r>
            <a:r>
              <a:rPr sz="3600" spc="-25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free</a:t>
            </a:r>
            <a:endParaRPr sz="36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Char char="•"/>
              <a:tabLst>
                <a:tab pos="241300" algn="l"/>
              </a:tabLst>
            </a:pPr>
            <a:r>
              <a:rPr sz="3600" dirty="0">
                <a:latin typeface="Arial MT"/>
                <a:cs typeface="Arial MT"/>
              </a:rPr>
              <a:t>Use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after</a:t>
            </a:r>
            <a:r>
              <a:rPr sz="3600" spc="-35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return</a:t>
            </a:r>
            <a:endParaRPr sz="36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475"/>
              </a:spcBef>
              <a:buChar char="•"/>
              <a:tabLst>
                <a:tab pos="241300" algn="l"/>
              </a:tabLst>
            </a:pPr>
            <a:r>
              <a:rPr sz="3600" spc="-5" dirty="0">
                <a:latin typeface="Arial MT"/>
                <a:cs typeface="Arial MT"/>
              </a:rPr>
              <a:t>...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24796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Sanitizers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4474210" cy="348297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There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many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them:</a:t>
            </a:r>
            <a:endParaRPr sz="28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25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-fsanitize=address</a:t>
            </a:r>
            <a:endParaRPr sz="28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-fsanitize=pointer-compare</a:t>
            </a:r>
            <a:endParaRPr sz="28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-fsanitize=undefined</a:t>
            </a:r>
            <a:endParaRPr sz="28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...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38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241300" algn="l"/>
              </a:tabLst>
            </a:pPr>
            <a:r>
              <a:rPr sz="2800" u="heavy" spc="-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2"/>
              </a:rPr>
              <a:t>The</a:t>
            </a:r>
            <a:r>
              <a:rPr sz="2800" u="heavy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800" u="heavy" spc="-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2"/>
              </a:rPr>
              <a:t>full</a:t>
            </a:r>
            <a:r>
              <a:rPr sz="2800" u="heavy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800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2"/>
              </a:rPr>
              <a:t>list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409447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Adress</a:t>
            </a:r>
            <a:r>
              <a:rPr spc="-60" dirty="0"/>
              <a:t> </a:t>
            </a:r>
            <a:r>
              <a:rPr spc="-5" dirty="0"/>
              <a:t>Sanitizer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2947" y="1841367"/>
            <a:ext cx="11225530" cy="4174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 MT"/>
                <a:cs typeface="Arial MT"/>
              </a:rPr>
              <a:t>How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to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use?</a:t>
            </a:r>
            <a:endParaRPr sz="26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50"/>
              </a:spcBef>
              <a:buChar char="•"/>
              <a:tabLst>
                <a:tab pos="698500" algn="l"/>
              </a:tabLst>
            </a:pPr>
            <a:r>
              <a:rPr sz="2600" dirty="0">
                <a:latin typeface="Arial MT"/>
                <a:cs typeface="Arial MT"/>
              </a:rPr>
              <a:t>g++ </a:t>
            </a:r>
            <a:r>
              <a:rPr sz="2600" spc="-5" dirty="0">
                <a:latin typeface="Arial MT"/>
                <a:cs typeface="Arial MT"/>
              </a:rPr>
              <a:t>-fsanitize=address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main.cpp</a:t>
            </a:r>
            <a:endParaRPr sz="26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50"/>
              </a:spcBef>
              <a:buChar char="•"/>
              <a:tabLst>
                <a:tab pos="698500" algn="l"/>
              </a:tabLst>
            </a:pPr>
            <a:r>
              <a:rPr sz="2600" spc="-5" dirty="0">
                <a:latin typeface="Arial MT"/>
                <a:cs typeface="Arial MT"/>
              </a:rPr>
              <a:t>./a.out</a:t>
            </a:r>
            <a:endParaRPr sz="2600">
              <a:latin typeface="Arial MT"/>
              <a:cs typeface="Arial MT"/>
            </a:endParaRPr>
          </a:p>
          <a:p>
            <a:pPr marL="698500" marR="5080" lvl="1" indent="-228600">
              <a:lnSpc>
                <a:spcPts val="2320"/>
              </a:lnSpc>
              <a:spcBef>
                <a:spcPts val="495"/>
              </a:spcBef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2200" b="1" spc="-5" dirty="0">
                <a:latin typeface="Arial"/>
                <a:cs typeface="Arial"/>
              </a:rPr>
              <a:t>ASAN_OPTIONS=detect_stack_use_after_return=1</a:t>
            </a:r>
            <a:r>
              <a:rPr sz="2200" b="1" spc="20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./a.out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–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for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«use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after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return»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checks</a:t>
            </a:r>
            <a:endParaRPr sz="22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Char char="•"/>
              <a:tabLst>
                <a:tab pos="241300" algn="l"/>
              </a:tabLst>
            </a:pPr>
            <a:r>
              <a:rPr sz="2600" spc="-5" dirty="0">
                <a:latin typeface="Arial MT"/>
                <a:cs typeface="Arial MT"/>
              </a:rPr>
              <a:t>Why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to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use?</a:t>
            </a:r>
            <a:endParaRPr sz="26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50"/>
              </a:spcBef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Arial MT"/>
                <a:cs typeface="Arial MT"/>
              </a:rPr>
              <a:t>index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range</a:t>
            </a:r>
            <a:endParaRPr sz="22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85"/>
              </a:spcBef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Arial MT"/>
                <a:cs typeface="Arial MT"/>
              </a:rPr>
              <a:t>double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free</a:t>
            </a:r>
            <a:endParaRPr sz="22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85"/>
              </a:spcBef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Arial MT"/>
                <a:cs typeface="Arial MT"/>
              </a:rPr>
              <a:t>use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after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free</a:t>
            </a:r>
            <a:endParaRPr sz="22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85"/>
              </a:spcBef>
              <a:buChar char="•"/>
              <a:tabLst>
                <a:tab pos="697865" algn="l"/>
                <a:tab pos="698500" algn="l"/>
              </a:tabLst>
            </a:pP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leak</a:t>
            </a:r>
            <a:endParaRPr sz="22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85"/>
              </a:spcBef>
              <a:buChar char="•"/>
              <a:tabLst>
                <a:tab pos="697865" algn="l"/>
                <a:tab pos="698500" algn="l"/>
              </a:tabLst>
            </a:pPr>
            <a:r>
              <a:rPr sz="2200" spc="-5" dirty="0">
                <a:latin typeface="Arial MT"/>
                <a:cs typeface="Arial MT"/>
              </a:rPr>
              <a:t>...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25736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Undefined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22455"/>
            <a:ext cx="6158230" cy="2682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How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use?</a:t>
            </a:r>
            <a:endParaRPr sz="28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30"/>
              </a:spcBef>
              <a:buChar char="•"/>
              <a:tabLst>
                <a:tab pos="698500" algn="l"/>
              </a:tabLst>
            </a:pPr>
            <a:r>
              <a:rPr sz="2800" dirty="0">
                <a:latin typeface="Arial MT"/>
                <a:cs typeface="Arial MT"/>
              </a:rPr>
              <a:t>g++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-fsanitize=undefined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main.cpp</a:t>
            </a:r>
            <a:endParaRPr sz="28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25"/>
              </a:spcBef>
              <a:buChar char="•"/>
              <a:tabLst>
                <a:tab pos="698500" algn="l"/>
              </a:tabLst>
            </a:pPr>
            <a:r>
              <a:rPr sz="2800" spc="-5" dirty="0">
                <a:latin typeface="Arial MT"/>
                <a:cs typeface="Arial MT"/>
              </a:rPr>
              <a:t>./a.out</a:t>
            </a:r>
            <a:endParaRPr sz="2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har char="•"/>
            </a:pPr>
            <a:endParaRPr sz="3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Why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use?</a:t>
            </a:r>
            <a:endParaRPr sz="28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698500" algn="l"/>
              </a:tabLst>
            </a:pPr>
            <a:r>
              <a:rPr sz="2400" spc="-135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detect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undefined </a:t>
            </a:r>
            <a:r>
              <a:rPr sz="2400" dirty="0">
                <a:latin typeface="Arial MT"/>
                <a:cs typeface="Arial MT"/>
              </a:rPr>
              <a:t>behaviour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45910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5240" algn="l"/>
              </a:tabLst>
            </a:pPr>
            <a:r>
              <a:rPr dirty="0"/>
              <a:t>How	does</a:t>
            </a:r>
            <a:r>
              <a:rPr spc="-55" dirty="0"/>
              <a:t> </a:t>
            </a:r>
            <a:r>
              <a:rPr dirty="0"/>
              <a:t>it</a:t>
            </a:r>
            <a:r>
              <a:rPr spc="-55" dirty="0"/>
              <a:t> </a:t>
            </a:r>
            <a:r>
              <a:rPr dirty="0"/>
              <a:t>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5669280" cy="200152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malloc/free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wrappers</a:t>
            </a:r>
          </a:p>
          <a:p>
            <a:pPr marL="241300" indent="-228600">
              <a:lnSpc>
                <a:spcPct val="100000"/>
              </a:lnSpc>
              <a:spcBef>
                <a:spcPts val="525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memory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access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wrappers</a:t>
            </a: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stack</a:t>
            </a:r>
            <a:endParaRPr sz="28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information,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read</a:t>
            </a:r>
            <a:r>
              <a:rPr sz="2800" spc="-15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2800" u="heavy" spc="-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  <a:hlinkClick r:id="rId2"/>
              </a:rPr>
              <a:t>GitHub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24205" y="180741"/>
            <a:ext cx="3883047" cy="25079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9307" y="2830284"/>
            <a:ext cx="4532842" cy="3845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12363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GDB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8642"/>
            <a:ext cx="9211310" cy="429733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5" dirty="0">
                <a:latin typeface="Arial"/>
                <a:cs typeface="Arial"/>
              </a:rPr>
              <a:t>g++ </a:t>
            </a:r>
            <a:r>
              <a:rPr sz="2600" b="1" dirty="0">
                <a:latin typeface="Arial"/>
                <a:cs typeface="Arial"/>
              </a:rPr>
              <a:t>-g</a:t>
            </a:r>
            <a:r>
              <a:rPr sz="2600" b="1" spc="-5" dirty="0">
                <a:latin typeface="Arial"/>
                <a:cs typeface="Arial"/>
              </a:rPr>
              <a:t> main.cpp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– compile</a:t>
            </a:r>
            <a:r>
              <a:rPr sz="2600" spc="-5" dirty="0">
                <a:latin typeface="Arial MT"/>
                <a:cs typeface="Arial MT"/>
              </a:rPr>
              <a:t> with</a:t>
            </a:r>
            <a:r>
              <a:rPr sz="2600" dirty="0">
                <a:latin typeface="Arial MT"/>
                <a:cs typeface="Arial MT"/>
              </a:rPr>
              <a:t> debug </a:t>
            </a:r>
            <a:r>
              <a:rPr sz="2600" spc="-5" dirty="0">
                <a:latin typeface="Arial MT"/>
                <a:cs typeface="Arial MT"/>
              </a:rPr>
              <a:t>information</a:t>
            </a:r>
            <a:endParaRPr sz="26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5" dirty="0">
                <a:latin typeface="Arial"/>
                <a:cs typeface="Arial"/>
              </a:rPr>
              <a:t>gdb</a:t>
            </a:r>
            <a:r>
              <a:rPr sz="2600" b="1" spc="-10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a.out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– </a:t>
            </a:r>
            <a:r>
              <a:rPr sz="2600" spc="-5" dirty="0">
                <a:latin typeface="Arial MT"/>
                <a:cs typeface="Arial MT"/>
              </a:rPr>
              <a:t>start </a:t>
            </a:r>
            <a:r>
              <a:rPr sz="2600" dirty="0">
                <a:latin typeface="Arial MT"/>
                <a:cs typeface="Arial MT"/>
              </a:rPr>
              <a:t>debugging </a:t>
            </a:r>
            <a:r>
              <a:rPr sz="2600" spc="-5" dirty="0">
                <a:latin typeface="Arial MT"/>
                <a:cs typeface="Arial MT"/>
              </a:rPr>
              <a:t>this executable</a:t>
            </a:r>
            <a:endParaRPr sz="26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5" dirty="0">
                <a:latin typeface="Arial"/>
                <a:cs typeface="Arial"/>
              </a:rPr>
              <a:t>gdb --args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a.out arg1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b="1" spc="-5" dirty="0">
                <a:latin typeface="Arial"/>
                <a:cs typeface="Arial"/>
              </a:rPr>
              <a:t>arg2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– pass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command line </a:t>
            </a:r>
            <a:r>
              <a:rPr sz="2600" spc="-5" dirty="0">
                <a:latin typeface="Arial MT"/>
                <a:cs typeface="Arial MT"/>
              </a:rPr>
              <a:t>arguments</a:t>
            </a:r>
            <a:endParaRPr sz="2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38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Arial"/>
                <a:cs typeface="Arial"/>
              </a:rPr>
              <a:t>break</a:t>
            </a:r>
            <a:r>
              <a:rPr sz="2600" b="1" spc="-15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(</a:t>
            </a:r>
            <a:r>
              <a:rPr sz="2600" b="1" dirty="0">
                <a:latin typeface="Arial"/>
                <a:cs typeface="Arial"/>
              </a:rPr>
              <a:t>b</a:t>
            </a:r>
            <a:r>
              <a:rPr sz="2600" dirty="0">
                <a:latin typeface="Arial MT"/>
                <a:cs typeface="Arial MT"/>
              </a:rPr>
              <a:t>)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b="1" spc="-5" dirty="0">
                <a:latin typeface="Arial"/>
                <a:cs typeface="Arial"/>
              </a:rPr>
              <a:t>func_name/line/...</a:t>
            </a:r>
            <a:r>
              <a:rPr sz="2600" spc="-5" dirty="0">
                <a:latin typeface="Arial MT"/>
                <a:cs typeface="Arial MT"/>
              </a:rPr>
              <a:t>–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set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breakpoint</a:t>
            </a: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5" dirty="0">
                <a:latin typeface="Arial"/>
                <a:cs typeface="Arial"/>
              </a:rPr>
              <a:t>run </a:t>
            </a:r>
            <a:r>
              <a:rPr sz="2600" dirty="0">
                <a:latin typeface="Arial MT"/>
                <a:cs typeface="Arial MT"/>
              </a:rPr>
              <a:t>(</a:t>
            </a:r>
            <a:r>
              <a:rPr sz="2600" b="1" dirty="0">
                <a:latin typeface="Arial"/>
                <a:cs typeface="Arial"/>
              </a:rPr>
              <a:t>r</a:t>
            </a:r>
            <a:r>
              <a:rPr sz="2600" dirty="0">
                <a:latin typeface="Arial MT"/>
                <a:cs typeface="Arial MT"/>
              </a:rPr>
              <a:t>)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– run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 program</a:t>
            </a:r>
            <a:r>
              <a:rPr sz="2600" spc="-5" dirty="0">
                <a:latin typeface="Arial MT"/>
                <a:cs typeface="Arial MT"/>
              </a:rPr>
              <a:t> to the</a:t>
            </a:r>
            <a:r>
              <a:rPr sz="2600" dirty="0">
                <a:latin typeface="Arial MT"/>
                <a:cs typeface="Arial MT"/>
              </a:rPr>
              <a:t> end (or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the</a:t>
            </a:r>
            <a:r>
              <a:rPr sz="2600" dirty="0">
                <a:latin typeface="Arial MT"/>
                <a:cs typeface="Arial MT"/>
              </a:rPr>
              <a:t> nearest</a:t>
            </a:r>
            <a:r>
              <a:rPr sz="2600" spc="-5" dirty="0">
                <a:latin typeface="Arial MT"/>
                <a:cs typeface="Arial MT"/>
              </a:rPr>
              <a:t> breakpoint)</a:t>
            </a:r>
            <a:endParaRPr sz="2600" dirty="0">
              <a:latin typeface="Arial MT"/>
              <a:cs typeface="Arial MT"/>
            </a:endParaRPr>
          </a:p>
          <a:p>
            <a:pPr marL="241300" marR="169545" indent="-228600">
              <a:lnSpc>
                <a:spcPts val="277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5" dirty="0">
                <a:latin typeface="Arial"/>
                <a:cs typeface="Arial"/>
              </a:rPr>
              <a:t>continue</a:t>
            </a:r>
            <a:r>
              <a:rPr sz="2600" b="1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(</a:t>
            </a:r>
            <a:r>
              <a:rPr sz="2600" b="1" dirty="0">
                <a:latin typeface="Arial"/>
                <a:cs typeface="Arial"/>
              </a:rPr>
              <a:t>c</a:t>
            </a:r>
            <a:r>
              <a:rPr sz="2600" dirty="0">
                <a:latin typeface="Arial MT"/>
                <a:cs typeface="Arial MT"/>
              </a:rPr>
              <a:t>)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– </a:t>
            </a:r>
            <a:r>
              <a:rPr sz="2600" spc="-5" dirty="0">
                <a:latin typeface="Arial MT"/>
                <a:cs typeface="Arial MT"/>
              </a:rPr>
              <a:t>continue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execution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to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the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end (or</a:t>
            </a:r>
            <a:r>
              <a:rPr sz="2600" spc="-5" dirty="0">
                <a:latin typeface="Arial MT"/>
                <a:cs typeface="Arial MT"/>
              </a:rPr>
              <a:t> the</a:t>
            </a:r>
            <a:r>
              <a:rPr sz="2600" dirty="0">
                <a:latin typeface="Arial MT"/>
                <a:cs typeface="Arial MT"/>
              </a:rPr>
              <a:t> nearest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breakpoint)</a:t>
            </a:r>
            <a:endParaRPr lang="en-US" sz="2600" spc="-5" dirty="0">
              <a:latin typeface="Arial MT"/>
              <a:cs typeface="Arial MT"/>
            </a:endParaRPr>
          </a:p>
          <a:p>
            <a:pPr marL="241300" marR="169545" indent="-228600">
              <a:lnSpc>
                <a:spcPts val="277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600" b="1" spc="-5" dirty="0">
                <a:latin typeface="Arial MT"/>
                <a:cs typeface="Arial MT"/>
              </a:rPr>
              <a:t>quit</a:t>
            </a:r>
            <a:r>
              <a:rPr lang="en-US" sz="2600" spc="-5" dirty="0">
                <a:latin typeface="Arial MT"/>
                <a:cs typeface="Arial MT"/>
              </a:rPr>
              <a:t> – quit the debugger</a:t>
            </a:r>
            <a:endParaRPr sz="2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26663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Navigation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9840595" cy="2491708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Arial"/>
                <a:cs typeface="Arial"/>
              </a:rPr>
              <a:t>step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b="1" dirty="0">
                <a:latin typeface="Arial"/>
                <a:cs typeface="Arial"/>
              </a:rPr>
              <a:t>s</a:t>
            </a:r>
            <a:r>
              <a:rPr sz="2800" dirty="0">
                <a:latin typeface="Arial MT"/>
                <a:cs typeface="Arial MT"/>
              </a:rPr>
              <a:t>)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 </a:t>
            </a:r>
            <a:r>
              <a:rPr sz="2800" spc="-5" dirty="0">
                <a:latin typeface="Arial MT"/>
                <a:cs typeface="Arial MT"/>
              </a:rPr>
              <a:t>to the</a:t>
            </a:r>
            <a:r>
              <a:rPr sz="2800" dirty="0">
                <a:latin typeface="Arial MT"/>
                <a:cs typeface="Arial MT"/>
              </a:rPr>
              <a:t> next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 </a:t>
            </a:r>
            <a:r>
              <a:rPr sz="2800" spc="-5" dirty="0">
                <a:latin typeface="Arial MT"/>
                <a:cs typeface="Arial MT"/>
              </a:rPr>
              <a:t>(step </a:t>
            </a:r>
            <a:r>
              <a:rPr sz="2800" dirty="0">
                <a:latin typeface="Arial MT"/>
                <a:cs typeface="Arial MT"/>
              </a:rPr>
              <a:t>inside a</a:t>
            </a:r>
            <a:r>
              <a:rPr sz="2800" spc="-5" dirty="0">
                <a:latin typeface="Arial MT"/>
                <a:cs typeface="Arial MT"/>
              </a:rPr>
              <a:t> function)</a:t>
            </a:r>
            <a:endParaRPr sz="28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Arial"/>
                <a:cs typeface="Arial"/>
              </a:rPr>
              <a:t>next 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b="1" dirty="0">
                <a:latin typeface="Arial"/>
                <a:cs typeface="Arial"/>
              </a:rPr>
              <a:t>n</a:t>
            </a:r>
            <a:r>
              <a:rPr sz="2800" dirty="0">
                <a:latin typeface="Arial MT"/>
                <a:cs typeface="Arial MT"/>
              </a:rPr>
              <a:t>)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– go </a:t>
            </a:r>
            <a:r>
              <a:rPr sz="2800" spc="-5" dirty="0">
                <a:latin typeface="Arial MT"/>
                <a:cs typeface="Arial MT"/>
              </a:rPr>
              <a:t>to the</a:t>
            </a:r>
            <a:r>
              <a:rPr sz="2800" dirty="0">
                <a:latin typeface="Arial MT"/>
                <a:cs typeface="Arial MT"/>
              </a:rPr>
              <a:t> next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 </a:t>
            </a:r>
            <a:r>
              <a:rPr sz="2800" spc="-5" dirty="0">
                <a:latin typeface="Arial MT"/>
                <a:cs typeface="Arial MT"/>
              </a:rPr>
              <a:t>(</a:t>
            </a:r>
            <a:r>
              <a:rPr sz="2800" b="1" spc="-5" dirty="0">
                <a:latin typeface="Arial"/>
                <a:cs typeface="Arial"/>
              </a:rPr>
              <a:t>do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not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step</a:t>
            </a:r>
            <a:r>
              <a:rPr sz="2800" dirty="0">
                <a:latin typeface="Arial MT"/>
                <a:cs typeface="Arial MT"/>
              </a:rPr>
              <a:t> inside a </a:t>
            </a:r>
            <a:r>
              <a:rPr sz="2800" spc="-5" dirty="0">
                <a:latin typeface="Arial MT"/>
                <a:cs typeface="Arial MT"/>
              </a:rPr>
              <a:t>function)</a:t>
            </a:r>
            <a:endParaRPr sz="28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Arial"/>
                <a:cs typeface="Arial"/>
              </a:rPr>
              <a:t>stepi </a:t>
            </a:r>
            <a:r>
              <a:rPr sz="2800" dirty="0">
                <a:latin typeface="Arial MT"/>
                <a:cs typeface="Arial MT"/>
              </a:rPr>
              <a:t>/ </a:t>
            </a:r>
            <a:r>
              <a:rPr sz="2800" b="1" spc="-5" dirty="0">
                <a:latin typeface="Arial"/>
                <a:cs typeface="Arial"/>
              </a:rPr>
              <a:t>nexti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same, but</a:t>
            </a:r>
            <a:r>
              <a:rPr sz="2800" spc="-5" dirty="0">
                <a:latin typeface="Arial MT"/>
                <a:cs typeface="Arial MT"/>
              </a:rPr>
              <a:t> to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next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assembly</a:t>
            </a:r>
            <a:r>
              <a:rPr sz="2800" spc="-5" dirty="0">
                <a:latin typeface="Arial MT"/>
                <a:cs typeface="Arial MT"/>
              </a:rPr>
              <a:t> instruction</a:t>
            </a:r>
            <a:endParaRPr sz="28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Arial"/>
                <a:cs typeface="Arial"/>
              </a:rPr>
              <a:t>finish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 </a:t>
            </a:r>
            <a:r>
              <a:rPr sz="2800" spc="-5" dirty="0">
                <a:latin typeface="Arial MT"/>
                <a:cs typeface="Arial MT"/>
              </a:rPr>
              <a:t>continue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until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end of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current</a:t>
            </a:r>
            <a:r>
              <a:rPr sz="2800" spc="-5" dirty="0">
                <a:latin typeface="Arial MT"/>
                <a:cs typeface="Arial MT"/>
              </a:rPr>
              <a:t> function</a:t>
            </a:r>
            <a:endParaRPr lang="en-US" sz="2800" spc="-5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800" b="1" spc="-5" dirty="0">
                <a:latin typeface="Arial MT"/>
                <a:cs typeface="Arial MT"/>
              </a:rPr>
              <a:t>return</a:t>
            </a:r>
            <a:r>
              <a:rPr lang="en-US" sz="2800" spc="-5" dirty="0">
                <a:latin typeface="Arial MT"/>
                <a:cs typeface="Arial MT"/>
              </a:rPr>
              <a:t> – return from the function immediately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3014285" cy="686829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pc="-197" dirty="0"/>
              <a:t>GDB</a:t>
            </a:r>
            <a:r>
              <a:rPr lang="en-US" spc="-197" dirty="0"/>
              <a:t> (layout)</a:t>
            </a:r>
            <a:endParaRPr spc="-197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447800"/>
            <a:ext cx="10661283" cy="5019021"/>
          </a:xfrm>
          <a:prstGeom prst="rect">
            <a:avLst/>
          </a:prstGeom>
        </p:spPr>
        <p:txBody>
          <a:bodyPr vert="horz" wrap="square" lIns="0" tIns="152101" rIns="0" bIns="0" rtlCol="0">
            <a:spAutoFit/>
          </a:bodyPr>
          <a:lstStyle/>
          <a:p>
            <a:pPr marL="497118" lvl="1" indent="-212555">
              <a:spcBef>
                <a:spcPts val="1140"/>
              </a:spcBef>
              <a:buChar char="•"/>
              <a:tabLst>
                <a:tab pos="219872" algn="l"/>
                <a:tab pos="220257" algn="l"/>
              </a:tabLst>
            </a:pPr>
            <a:r>
              <a:rPr lang="en-US" sz="2800" b="1" spc="36" dirty="0">
                <a:latin typeface="Arial" panose="020B0604020202020204" pitchFamily="34" charset="0"/>
                <a:cs typeface="Arial" panose="020B0604020202020204" pitchFamily="34" charset="0"/>
              </a:rPr>
              <a:t>tui enable/disable (Ctrl + X A) / </a:t>
            </a:r>
            <a:r>
              <a:rPr lang="en-US" sz="2800" b="1" spc="36" dirty="0" err="1"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r>
              <a:rPr lang="en-US" sz="2800" b="1" spc="36" dirty="0">
                <a:latin typeface="Arial" panose="020B0604020202020204" pitchFamily="34" charset="0"/>
                <a:cs typeface="Arial" panose="020B0604020202020204" pitchFamily="34" charset="0"/>
              </a:rPr>
              <a:t> –tui </a:t>
            </a:r>
            <a:r>
              <a:rPr lang="en-US" sz="2800" spc="36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800" spc="36" dirty="0">
                <a:latin typeface="Arial" panose="020B0604020202020204" pitchFamily="34" charset="0"/>
                <a:cs typeface="Arial" panose="020B0604020202020204" pitchFamily="34" charset="0"/>
              </a:rPr>
              <a:t>запустить </a:t>
            </a:r>
            <a:r>
              <a:rPr lang="en-US" sz="2800" spc="36" dirty="0">
                <a:latin typeface="Arial" panose="020B0604020202020204" pitchFamily="34" charset="0"/>
                <a:cs typeface="Arial" panose="020B0604020202020204" pitchFamily="34" charset="0"/>
              </a:rPr>
              <a:t>tui (Text User Interface)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9043" lvl="1" indent="-212555">
              <a:spcBef>
                <a:spcPts val="1137"/>
              </a:spcBef>
              <a:buChar char="•"/>
              <a:tabLst>
                <a:tab pos="499043" algn="l"/>
                <a:tab pos="499427" algn="l"/>
              </a:tabLst>
            </a:pPr>
            <a:r>
              <a:rPr sz="2800" b="1" spc="52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sz="2800" b="1" spc="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8" dirty="0">
                <a:latin typeface="Arial" panose="020B0604020202020204" pitchFamily="34" charset="0"/>
                <a:cs typeface="Arial" panose="020B0604020202020204" pitchFamily="34" charset="0"/>
              </a:rPr>
              <a:t>next(n)/prev(p)/src/asm/split/regs</a:t>
            </a:r>
            <a:r>
              <a:rPr sz="2800" b="1" spc="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800" spc="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45" dirty="0">
                <a:latin typeface="Arial" panose="020B0604020202020204" pitchFamily="34" charset="0"/>
                <a:cs typeface="Arial" panose="020B0604020202020204" pitchFamily="34" charset="0"/>
              </a:rPr>
              <a:t>изменить</a:t>
            </a:r>
            <a:r>
              <a:rPr sz="28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2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9043" lvl="1" indent="-212555">
              <a:spcBef>
                <a:spcPts val="1145"/>
              </a:spcBef>
              <a:buChar char="•"/>
              <a:tabLst>
                <a:tab pos="499043" algn="l"/>
                <a:tab pos="499427" algn="l"/>
              </a:tabLst>
            </a:pPr>
            <a:r>
              <a:rPr sz="2800" b="1" spc="67" dirty="0"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  <a:r>
              <a:rPr sz="2800" b="1" spc="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8" dirty="0">
                <a:latin typeface="Arial" panose="020B0604020202020204" pitchFamily="34" charset="0"/>
                <a:cs typeface="Arial" panose="020B0604020202020204" pitchFamily="34" charset="0"/>
              </a:rPr>
              <a:t>next(n)/prev(p)/src/asm/split/regs</a:t>
            </a:r>
            <a:r>
              <a:rPr sz="2800" b="1" spc="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2800" spc="-45" dirty="0" err="1">
                <a:latin typeface="Arial" panose="020B0604020202020204" pitchFamily="34" charset="0"/>
                <a:cs typeface="Arial" panose="020B0604020202020204" pitchFamily="34" charset="0"/>
              </a:rPr>
              <a:t>изменить</a:t>
            </a:r>
            <a:r>
              <a:rPr sz="2800" spc="-88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1" dirty="0" err="1">
                <a:latin typeface="Arial" panose="020B0604020202020204" pitchFamily="34" charset="0"/>
                <a:cs typeface="Arial" panose="020B0604020202020204" pitchFamily="34" charset="0"/>
              </a:rPr>
              <a:t>фокус</a:t>
            </a:r>
            <a:endParaRPr lang="en-US" sz="2800" spc="-2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9043" lvl="1" indent="-212555">
              <a:spcBef>
                <a:spcPts val="1145"/>
              </a:spcBef>
              <a:buChar char="•"/>
              <a:tabLst>
                <a:tab pos="499043" algn="l"/>
                <a:tab pos="499427" algn="l"/>
              </a:tabLst>
            </a:pPr>
            <a:r>
              <a:rPr lang="en-US" sz="2800" b="1" spc="-21" dirty="0">
                <a:latin typeface="Arial" panose="020B0604020202020204" pitchFamily="34" charset="0"/>
                <a:cs typeface="Arial" panose="020B0604020202020204" pitchFamily="34" charset="0"/>
              </a:rPr>
              <a:t>tui reg </a:t>
            </a:r>
            <a:r>
              <a:rPr lang="en-US" sz="2800" b="1" spc="-21" dirty="0" err="1">
                <a:latin typeface="Arial" panose="020B0604020202020204" pitchFamily="34" charset="0"/>
                <a:cs typeface="Arial" panose="020B0604020202020204" pitchFamily="34" charset="0"/>
              </a:rPr>
              <a:t>sse</a:t>
            </a:r>
            <a:r>
              <a:rPr lang="en-US" sz="2800" b="1" spc="-21" dirty="0">
                <a:latin typeface="Arial" panose="020B0604020202020204" pitchFamily="34" charset="0"/>
                <a:cs typeface="Arial" panose="020B0604020202020204" pitchFamily="34" charset="0"/>
              </a:rPr>
              <a:t>/float/… </a:t>
            </a:r>
            <a:r>
              <a:rPr lang="en-US" sz="2800" spc="-2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800" spc="-21" dirty="0">
                <a:latin typeface="Arial" panose="020B0604020202020204" pitchFamily="34" charset="0"/>
                <a:cs typeface="Arial" panose="020B0604020202020204" pitchFamily="34" charset="0"/>
              </a:rPr>
              <a:t>добавить окно с определённым </a:t>
            </a:r>
            <a:r>
              <a:rPr lang="en-US" sz="2800" spc="-21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endParaRPr lang="ru-RU" sz="2800" spc="-2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9043" lvl="1" indent="-212555">
              <a:spcBef>
                <a:spcPts val="1145"/>
              </a:spcBef>
              <a:buChar char="•"/>
              <a:tabLst>
                <a:tab pos="499043" algn="l"/>
                <a:tab pos="499427" algn="l"/>
              </a:tabLst>
            </a:pPr>
            <a:endParaRPr lang="en-US" sz="2800" spc="-2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99043" lvl="1" indent="-212555">
              <a:spcBef>
                <a:spcPts val="1145"/>
              </a:spcBef>
              <a:buChar char="•"/>
              <a:tabLst>
                <a:tab pos="499043" algn="l"/>
                <a:tab pos="499427" algn="l"/>
              </a:tabLst>
            </a:pPr>
            <a:r>
              <a:rPr lang="en-US" sz="2800" b="1" spc="-21" dirty="0">
                <a:latin typeface="Arial" panose="020B0604020202020204" pitchFamily="34" charset="0"/>
                <a:cs typeface="Arial" panose="020B0604020202020204" pitchFamily="34" charset="0"/>
              </a:rPr>
              <a:t>Ctrl + X 2 </a:t>
            </a:r>
            <a:r>
              <a:rPr lang="en-US" sz="2800" spc="-21" dirty="0">
                <a:latin typeface="Arial" panose="020B0604020202020204" pitchFamily="34" charset="0"/>
                <a:cs typeface="Arial" panose="020B0604020202020204" pitchFamily="34" charset="0"/>
              </a:rPr>
              <a:t>– layout next</a:t>
            </a:r>
          </a:p>
          <a:p>
            <a:pPr marL="499043" lvl="1" indent="-212555">
              <a:spcBef>
                <a:spcPts val="1145"/>
              </a:spcBef>
              <a:buChar char="•"/>
              <a:tabLst>
                <a:tab pos="499043" algn="l"/>
                <a:tab pos="499427" algn="l"/>
              </a:tabLst>
            </a:pPr>
            <a:r>
              <a:rPr lang="en-US" sz="2800" b="1" spc="-21" dirty="0">
                <a:latin typeface="Arial" panose="020B0604020202020204" pitchFamily="34" charset="0"/>
                <a:cs typeface="Arial" panose="020B0604020202020204" pitchFamily="34" charset="0"/>
              </a:rPr>
              <a:t>Ctrl + P / N</a:t>
            </a:r>
            <a:r>
              <a:rPr lang="en-US" sz="2800" spc="-21" dirty="0">
                <a:latin typeface="Arial" panose="020B0604020202020204" pitchFamily="34" charset="0"/>
                <a:cs typeface="Arial" panose="020B0604020202020204" pitchFamily="34" charset="0"/>
              </a:rPr>
              <a:t> – previous/next command</a:t>
            </a:r>
          </a:p>
          <a:p>
            <a:pPr marL="499043" lvl="1" indent="-212555">
              <a:spcBef>
                <a:spcPts val="1145"/>
              </a:spcBef>
              <a:buChar char="•"/>
              <a:tabLst>
                <a:tab pos="499043" algn="l"/>
                <a:tab pos="499427" algn="l"/>
              </a:tabLst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Ctrl + L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перерисовать экран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239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29768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Breakpoints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7665720" cy="249555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Arial"/>
                <a:cs typeface="Arial"/>
              </a:rPr>
              <a:t>break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(</a:t>
            </a:r>
            <a:r>
              <a:rPr sz="2800" b="1" dirty="0">
                <a:latin typeface="Arial"/>
                <a:cs typeface="Arial"/>
              </a:rPr>
              <a:t>b</a:t>
            </a:r>
            <a:r>
              <a:rPr sz="2800" dirty="0">
                <a:latin typeface="Arial MT"/>
                <a:cs typeface="Arial MT"/>
              </a:rPr>
              <a:t>)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b="1" spc="-5" dirty="0">
                <a:latin typeface="Arial"/>
                <a:cs typeface="Arial"/>
              </a:rPr>
              <a:t>func_name/line/...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breakpoint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Arial"/>
                <a:cs typeface="Arial"/>
              </a:rPr>
              <a:t>info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break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 get</a:t>
            </a:r>
            <a:r>
              <a:rPr sz="2800" spc="-5" dirty="0">
                <a:latin typeface="Arial MT"/>
                <a:cs typeface="Arial MT"/>
              </a:rPr>
              <a:t> the </a:t>
            </a:r>
            <a:r>
              <a:rPr sz="2800" dirty="0">
                <a:latin typeface="Arial MT"/>
                <a:cs typeface="Arial MT"/>
              </a:rPr>
              <a:t>list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" dirty="0">
                <a:latin typeface="Arial MT"/>
                <a:cs typeface="Arial MT"/>
              </a:rPr>
              <a:t> breakpoints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>
                <a:latin typeface="Arial"/>
                <a:cs typeface="Arial"/>
              </a:rPr>
              <a:t>delete *break_num*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5" dirty="0">
                <a:latin typeface="Arial MT"/>
                <a:cs typeface="Arial MT"/>
              </a:rPr>
              <a:t> delete</a:t>
            </a:r>
            <a:r>
              <a:rPr sz="2800" dirty="0">
                <a:latin typeface="Arial MT"/>
                <a:cs typeface="Arial MT"/>
              </a:rPr>
              <a:t> 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breakpoint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Arial"/>
                <a:cs typeface="Arial"/>
              </a:rPr>
              <a:t>clear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5" dirty="0">
                <a:latin typeface="Arial MT"/>
                <a:cs typeface="Arial MT"/>
              </a:rPr>
              <a:t> delete </a:t>
            </a:r>
            <a:r>
              <a:rPr sz="2800" dirty="0">
                <a:latin typeface="Arial MT"/>
                <a:cs typeface="Arial MT"/>
              </a:rPr>
              <a:t>all</a:t>
            </a:r>
            <a:r>
              <a:rPr sz="2800" spc="-5" dirty="0">
                <a:latin typeface="Arial MT"/>
                <a:cs typeface="Arial MT"/>
              </a:rPr>
              <a:t> breakpoints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Arial"/>
                <a:cs typeface="Arial"/>
              </a:rPr>
              <a:t>enable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/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b="1" spc="-5" dirty="0">
                <a:latin typeface="Arial"/>
                <a:cs typeface="Arial"/>
              </a:rPr>
              <a:t>disable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*break_num*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obvious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14230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</a:t>
            </a:r>
            <a:r>
              <a:rPr spc="-5" dirty="0"/>
              <a:t>t</a:t>
            </a:r>
            <a:r>
              <a:rPr dirty="0"/>
              <a:t>ack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8" y="1755251"/>
            <a:ext cx="10177781" cy="266611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backtrace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–</a:t>
            </a:r>
            <a:r>
              <a:rPr lang="ru-RU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распечатать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backtrace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backtrace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full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распечатать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backtrace</a:t>
            </a:r>
            <a:r>
              <a:rPr lang="ru-RU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и локальные переменные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*</a:t>
            </a:r>
            <a:r>
              <a:rPr lang="en-US" sz="2800" b="1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func_name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*/*line range*/...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распечатать код</a:t>
            </a:r>
            <a:endParaRPr lang="en-US" sz="2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info </a:t>
            </a:r>
            <a:r>
              <a:rPr lang="en-US" sz="28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args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распечатать аргументы функции</a:t>
            </a:r>
            <a:endParaRPr lang="en-US" sz="28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800" b="1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nfo locals </a:t>
            </a:r>
            <a:r>
              <a:rPr lang="ru-RU" sz="280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распечатать локальные переменные</a:t>
            </a:r>
            <a:endParaRPr lang="en-US" sz="2800" b="1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10198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utils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8982710" cy="2035173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Arial"/>
                <a:cs typeface="Arial"/>
              </a:rPr>
              <a:t>set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var </a:t>
            </a:r>
            <a:r>
              <a:rPr sz="2800" b="1" spc="-5" dirty="0">
                <a:latin typeface="Arial"/>
                <a:cs typeface="Arial"/>
              </a:rPr>
              <a:t>*var_name*=*value*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– set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 value</a:t>
            </a:r>
            <a:r>
              <a:rPr sz="2800" spc="-5" dirty="0">
                <a:latin typeface="Arial MT"/>
                <a:cs typeface="Arial MT"/>
              </a:rPr>
              <a:t> to</a:t>
            </a:r>
            <a:r>
              <a:rPr sz="2800" dirty="0">
                <a:latin typeface="Arial MT"/>
                <a:cs typeface="Arial MT"/>
              </a:rPr>
              <a:t> a variable</a:t>
            </a:r>
          </a:p>
          <a:p>
            <a:pPr marL="241300" indent="-228600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" dirty="0" err="1">
                <a:latin typeface="Arial"/>
                <a:cs typeface="Arial"/>
              </a:rPr>
              <a:t>gdb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--pid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*pid* </a:t>
            </a: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5" dirty="0">
                <a:latin typeface="Arial MT"/>
                <a:cs typeface="Arial MT"/>
              </a:rPr>
              <a:t> attach to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working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process</a:t>
            </a:r>
            <a:endParaRPr lang="en-US" sz="280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800" b="1" dirty="0">
                <a:latin typeface="Arial MT"/>
                <a:cs typeface="Arial MT"/>
              </a:rPr>
              <a:t>detach</a:t>
            </a:r>
            <a:r>
              <a:rPr lang="en-US" sz="2800" dirty="0">
                <a:latin typeface="Arial MT"/>
                <a:cs typeface="Arial MT"/>
              </a:rPr>
              <a:t> – detach from a previously attached process</a:t>
            </a:r>
          </a:p>
          <a:p>
            <a:pPr marL="241300" indent="-228600">
              <a:spcBef>
                <a:spcPts val="55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set disassembly-flavor intel (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att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(&gt;&gt; ~/.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gdbinit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765C6-9B41-4C62-8D0F-034EB155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080" y="517912"/>
            <a:ext cx="6201839" cy="677108"/>
          </a:xfrm>
        </p:spPr>
        <p:txBody>
          <a:bodyPr/>
          <a:lstStyle/>
          <a:p>
            <a:pPr algn="ctr"/>
            <a:r>
              <a:rPr lang="en-US" dirty="0"/>
              <a:t>GDB (printing memory)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7B215-BC65-4D52-AD05-028BEBF0A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081" y="2130841"/>
            <a:ext cx="10885839" cy="3695050"/>
          </a:xfrm>
        </p:spPr>
        <p:txBody>
          <a:bodyPr/>
          <a:lstStyle/>
          <a:p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668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var *</a:t>
            </a:r>
            <a:r>
              <a:rPr lang="en-US" sz="2668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var_name</a:t>
            </a:r>
            <a:r>
              <a:rPr lang="en-US" sz="2668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*=*value* </a:t>
            </a:r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установить значение переменной</a:t>
            </a:r>
            <a:endParaRPr lang="en-US" sz="2668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668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x/</a:t>
            </a:r>
            <a:r>
              <a:rPr lang="en-US" sz="2668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nfu</a:t>
            </a:r>
            <a:r>
              <a:rPr lang="en-US" sz="2668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68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</a:t>
            </a:r>
            <a:r>
              <a:rPr lang="en-US" sz="2668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examine memory</a:t>
            </a:r>
            <a:endParaRPr lang="en-US" sz="2668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668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/format *</a:t>
            </a:r>
            <a:r>
              <a:rPr lang="en-US" sz="2668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var_name</a:t>
            </a:r>
            <a:r>
              <a:rPr lang="en-US" sz="2668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display a variable </a:t>
            </a:r>
          </a:p>
          <a:p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Format:</a:t>
            </a:r>
          </a:p>
          <a:p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• a – pointer </a:t>
            </a:r>
          </a:p>
          <a:p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• d – decimal</a:t>
            </a:r>
          </a:p>
          <a:p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• x – hexadecimal</a:t>
            </a:r>
          </a:p>
          <a:p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• f – floating point value</a:t>
            </a:r>
          </a:p>
          <a:p>
            <a:r>
              <a:rPr lang="en-US" sz="2668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• ... </a:t>
            </a:r>
            <a:endParaRPr lang="ru-RU" sz="266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758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765C6-9B41-4C62-8D0F-034EB155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080" y="517912"/>
            <a:ext cx="6201839" cy="677108"/>
          </a:xfrm>
        </p:spPr>
        <p:txBody>
          <a:bodyPr/>
          <a:lstStyle/>
          <a:p>
            <a:pPr algn="ctr"/>
            <a:r>
              <a:rPr lang="en-US" dirty="0"/>
              <a:t>GDB (reverse execution)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7B215-BC65-4D52-AD05-028BEBF0A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63" y="2273806"/>
            <a:ext cx="12245053" cy="1866537"/>
          </a:xfrm>
        </p:spPr>
        <p:txBody>
          <a:bodyPr/>
          <a:lstStyle/>
          <a:p>
            <a:pPr marL="346558" indent="-346558">
              <a:buFont typeface="Arial" panose="020B0604020202020204" pitchFamily="34" charset="0"/>
              <a:buChar char="•"/>
            </a:pPr>
            <a:r>
              <a:rPr lang="en-US" sz="2426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 – </a:t>
            </a:r>
            <a:r>
              <a:rPr lang="ru-RU" sz="24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начать запись исполнения</a:t>
            </a:r>
            <a:endParaRPr lang="en-US" sz="2426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6558" indent="-346558">
              <a:buFont typeface="Arial" panose="020B0604020202020204" pitchFamily="34" charset="0"/>
              <a:buChar char="•"/>
            </a:pPr>
            <a:r>
              <a:rPr lang="en-US" sz="2426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reverse-step / </a:t>
            </a:r>
            <a:r>
              <a:rPr lang="en-US" sz="2426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en-US" sz="2426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4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шаг в обратном направлении (с заходом в функцию)</a:t>
            </a:r>
            <a:endParaRPr lang="en-US" sz="2426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6558" indent="-346558">
              <a:buFont typeface="Arial" panose="020B0604020202020204" pitchFamily="34" charset="0"/>
              <a:buChar char="•"/>
            </a:pPr>
            <a:r>
              <a:rPr lang="en-US" sz="2426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reverse-next / </a:t>
            </a:r>
            <a:r>
              <a:rPr lang="en-US" sz="2426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</a:t>
            </a:r>
            <a:r>
              <a:rPr lang="en-US" sz="2426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4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шаг в обратном направлении (без захода в функцию)</a:t>
            </a:r>
            <a:endParaRPr lang="en-US" sz="2426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6558" indent="-346558">
              <a:buFont typeface="Arial" panose="020B0604020202020204" pitchFamily="34" charset="0"/>
              <a:buChar char="•"/>
            </a:pPr>
            <a:r>
              <a:rPr lang="en-US" sz="2426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reverse-finish </a:t>
            </a:r>
            <a:r>
              <a:rPr lang="en-US" sz="24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4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шагать в обратном направлении до точки вызова функции</a:t>
            </a:r>
            <a:endParaRPr lang="en-US" sz="2426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6558" indent="-346558">
              <a:buFont typeface="Arial" panose="020B0604020202020204" pitchFamily="34" charset="0"/>
              <a:buChar char="•"/>
            </a:pPr>
            <a:r>
              <a:rPr lang="en-US" sz="2426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reverse-continue / </a:t>
            </a:r>
            <a:r>
              <a:rPr lang="en-US" sz="2426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</a:t>
            </a:r>
            <a:r>
              <a:rPr lang="en-US" sz="2426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4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продолжить исполнение до следующего </a:t>
            </a:r>
            <a:r>
              <a:rPr lang="en-US" sz="2426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breakpoint</a:t>
            </a:r>
          </a:p>
        </p:txBody>
      </p:sp>
    </p:spTree>
    <p:extLst>
      <p:ext uri="{BB962C8B-B14F-4D97-AF65-F5344CB8AC3E}">
        <p14:creationId xmlns:p14="http://schemas.microsoft.com/office/powerpoint/2010/main" val="2939867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49028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99820" algn="l"/>
                <a:tab pos="2249170" algn="l"/>
              </a:tabLst>
            </a:pPr>
            <a:r>
              <a:rPr lang="en-US" dirty="0"/>
              <a:t>Core </a:t>
            </a:r>
            <a:r>
              <a:rPr dirty="0"/>
              <a:t>dump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10634981" cy="2235227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sudo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sysctl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kernel.core_pattern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"./</a:t>
            </a:r>
            <a:r>
              <a:rPr lang="en-US" sz="28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coredump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8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установить сохранение корок в текущей директории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ulimit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-c unlimited; ./</a:t>
            </a:r>
            <a:r>
              <a:rPr lang="en-US" sz="28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a.out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8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убрать ограничения на размер корок и собрать </a:t>
            </a:r>
            <a:r>
              <a:rPr lang="en-US" sz="2800" b="0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coredump</a:t>
            </a:r>
            <a:endParaRPr lang="en-US" sz="2800" b="0" i="0" dirty="0">
              <a:solidFill>
                <a:srgbClr val="1F232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gdb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./</a:t>
            </a:r>
            <a:r>
              <a:rPr lang="en-US" sz="28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a.out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./</a:t>
            </a:r>
            <a:r>
              <a:rPr lang="en-US" sz="2800" b="1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coredump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  <a:r>
              <a:rPr lang="ru-RU" sz="28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запустить </a:t>
            </a:r>
            <a:r>
              <a:rPr lang="en-US" sz="2800" b="0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coredump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отладчике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309F-C22A-410F-8027-7C78B81B5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45A87-1838-486E-843B-B74B47A71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081" y="2130842"/>
            <a:ext cx="10885839" cy="2052806"/>
          </a:xfrm>
        </p:spPr>
        <p:txBody>
          <a:bodyPr/>
          <a:lstStyle/>
          <a:p>
            <a:r>
              <a:rPr lang="en-US" sz="2668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GDB cheat sheet </a:t>
            </a:r>
            <a:endParaRPr lang="en-US" sz="26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68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One more </a:t>
            </a:r>
            <a:endParaRPr lang="en-US" sz="26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68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Занятная статья на </a:t>
            </a:r>
            <a:r>
              <a:rPr lang="ru-RU" sz="2668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Хабре</a:t>
            </a:r>
            <a:endParaRPr lang="ru-RU" sz="26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68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TUI documentation</a:t>
            </a:r>
            <a:endParaRPr lang="ru-RU" sz="2668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68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GDB Essentials Overview</a:t>
            </a:r>
            <a:endParaRPr lang="ru-RU" sz="266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397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732</Words>
  <Application>Microsoft Office PowerPoint</Application>
  <PresentationFormat>Widescreen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MT</vt:lpstr>
      <vt:lpstr>Calibri</vt:lpstr>
      <vt:lpstr>Office Theme</vt:lpstr>
      <vt:lpstr>Семинар по C++ №8</vt:lpstr>
      <vt:lpstr>Вспоминаем проблемы</vt:lpstr>
      <vt:lpstr>Sanitizers</vt:lpstr>
      <vt:lpstr>Adress Sanitizer</vt:lpstr>
      <vt:lpstr>Undefined</vt:lpstr>
      <vt:lpstr>How does it work?</vt:lpstr>
      <vt:lpstr>GDB</vt:lpstr>
      <vt:lpstr>Navigation</vt:lpstr>
      <vt:lpstr>GDB (layout)</vt:lpstr>
      <vt:lpstr>Breakpoints</vt:lpstr>
      <vt:lpstr>Stack</vt:lpstr>
      <vt:lpstr>utils</vt:lpstr>
      <vt:lpstr>GDB (printing memory)</vt:lpstr>
      <vt:lpstr>GDB (reverse execution)</vt:lpstr>
      <vt:lpstr>Core dump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Семинар_5_</dc:title>
  <cp:lastModifiedBy>Konstantin Dragun</cp:lastModifiedBy>
  <cp:revision>4</cp:revision>
  <dcterms:created xsi:type="dcterms:W3CDTF">2024-10-16T21:29:01Z</dcterms:created>
  <dcterms:modified xsi:type="dcterms:W3CDTF">2025-10-19T23:33:37Z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2023-10-26T00:00:00Z</vt:filetime>
  </property>
  <property fmtid="{D5CDD505-2E9C-101B-9397-08002B2CF9AE}" pid="3" name="Creator">
    <vt:lpwstr>Keynote</vt:lpwstr>
  </property>
  <property fmtid="{D5CDD505-2E9C-101B-9397-08002B2CF9AE}" pid="4" name="LastSaved">
    <vt:filetime>2024-10-16T00:00:00Z</vt:filetime>
  </property>
</Properties>
</file>