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884" y="1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29141" y="1644530"/>
            <a:ext cx="6933717" cy="2361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1219" y="1755251"/>
            <a:ext cx="5709284" cy="1938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9141" y="1644530"/>
            <a:ext cx="6933717" cy="17504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845"/>
              </a:spcBef>
            </a:pPr>
            <a:r>
              <a:rPr lang="ru-RU" spc="-5" dirty="0">
                <a:latin typeface="Arial" panose="020B0604020202020204" pitchFamily="34" charset="0"/>
                <a:cs typeface="Arial" panose="020B0604020202020204" pitchFamily="34" charset="0"/>
              </a:rPr>
              <a:t>Семинар </a:t>
            </a:r>
            <a:r>
              <a:rPr lang="en-US" spc="-5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br>
              <a:rPr lang="ru-RU" spc="-5" dirty="0"/>
            </a:br>
            <a:r>
              <a:rPr spc="-5" dirty="0" err="1"/>
              <a:t>Codestyle</a:t>
            </a:r>
            <a:endParaRPr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28213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Abstraction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1219" y="1763086"/>
            <a:ext cx="5972175" cy="124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9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3600" b="1" spc="-5" dirty="0">
                <a:latin typeface="Arial"/>
                <a:cs typeface="Arial"/>
              </a:rPr>
              <a:t>Abstraction </a:t>
            </a:r>
            <a:r>
              <a:rPr sz="3600" dirty="0">
                <a:latin typeface="Arial MT"/>
                <a:cs typeface="Arial MT"/>
              </a:rPr>
              <a:t>– hiding </a:t>
            </a:r>
            <a:r>
              <a:rPr sz="3600" spc="-5" dirty="0">
                <a:latin typeface="Arial MT"/>
                <a:cs typeface="Arial MT"/>
              </a:rPr>
              <a:t>details </a:t>
            </a:r>
            <a:r>
              <a:rPr sz="3600" spc="-994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when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they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are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not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spc="-5" dirty="0">
                <a:latin typeface="Arial MT"/>
                <a:cs typeface="Arial MT"/>
              </a:rPr>
              <a:t>important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2025" y="340685"/>
            <a:ext cx="3203121" cy="59640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4417" y="5826363"/>
            <a:ext cx="4778375" cy="5664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20"/>
              </a:spcBef>
            </a:pPr>
            <a:r>
              <a:rPr sz="1800" dirty="0">
                <a:latin typeface="Arial MT"/>
                <a:cs typeface="Arial MT"/>
              </a:rPr>
              <a:t>by </a:t>
            </a:r>
            <a:r>
              <a:rPr sz="1800" spc="-5" dirty="0">
                <a:latin typeface="Arial MT"/>
                <a:cs typeface="Arial MT"/>
              </a:rPr>
              <a:t>«Digital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Computer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Architecture»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Harris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&amp; Harris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24174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Discipline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3851275" cy="348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Arial"/>
                <a:cs typeface="Arial"/>
              </a:rPr>
              <a:t>Discipline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act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intentionally restricting </a:t>
            </a:r>
            <a:r>
              <a:rPr sz="2800" dirty="0">
                <a:latin typeface="Arial MT"/>
                <a:cs typeface="Arial MT"/>
              </a:rPr>
              <a:t> your design choices so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that </a:t>
            </a:r>
            <a:r>
              <a:rPr sz="2800" dirty="0">
                <a:latin typeface="Arial MT"/>
                <a:cs typeface="Arial MT"/>
              </a:rPr>
              <a:t>you can work more 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productively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800" dirty="0">
                <a:latin typeface="Arial MT"/>
                <a:cs typeface="Arial MT"/>
              </a:rPr>
              <a:t>at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higher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level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800" b="1" spc="-5" dirty="0">
                <a:latin typeface="Arial"/>
                <a:cs typeface="Arial"/>
              </a:rPr>
              <a:t>abstraction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10637" y="1270032"/>
            <a:ext cx="6894195" cy="5227320"/>
            <a:chOff x="5210637" y="1270032"/>
            <a:chExt cx="6894195" cy="5227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0637" y="1270032"/>
              <a:ext cx="6724218" cy="50224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93141" y="4884963"/>
              <a:ext cx="1905000" cy="1605915"/>
            </a:xfrm>
            <a:custGeom>
              <a:avLst/>
              <a:gdLst/>
              <a:ahLst/>
              <a:cxnLst/>
              <a:rect l="l" t="t" r="r" b="b"/>
              <a:pathLst>
                <a:path w="1905000" h="1605914">
                  <a:moveTo>
                    <a:pt x="1904998" y="0"/>
                  </a:moveTo>
                  <a:lnTo>
                    <a:pt x="0" y="0"/>
                  </a:lnTo>
                  <a:lnTo>
                    <a:pt x="0" y="1605641"/>
                  </a:lnTo>
                  <a:lnTo>
                    <a:pt x="1904998" y="1605641"/>
                  </a:lnTo>
                  <a:lnTo>
                    <a:pt x="19049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193141" y="4884963"/>
              <a:ext cx="1905000" cy="1605915"/>
            </a:xfrm>
            <a:custGeom>
              <a:avLst/>
              <a:gdLst/>
              <a:ahLst/>
              <a:cxnLst/>
              <a:rect l="l" t="t" r="r" b="b"/>
              <a:pathLst>
                <a:path w="1905000" h="1605914">
                  <a:moveTo>
                    <a:pt x="0" y="0"/>
                  </a:moveTo>
                  <a:lnTo>
                    <a:pt x="1904998" y="0"/>
                  </a:lnTo>
                  <a:lnTo>
                    <a:pt x="1904998" y="1605641"/>
                  </a:lnTo>
                  <a:lnTo>
                    <a:pt x="0" y="1605641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35458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The</a:t>
            </a:r>
            <a:r>
              <a:rPr sz="4400" spc="-160" dirty="0"/>
              <a:t> </a:t>
            </a:r>
            <a:r>
              <a:rPr sz="4400" spc="-10" dirty="0"/>
              <a:t>Three-Y’s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1219" y="1837988"/>
            <a:ext cx="10093960" cy="42087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1300" marR="5080" indent="-228600">
              <a:lnSpc>
                <a:spcPts val="237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</a:tabLst>
            </a:pPr>
            <a:r>
              <a:rPr sz="2300" b="1" dirty="0">
                <a:latin typeface="Arial"/>
                <a:cs typeface="Arial"/>
              </a:rPr>
              <a:t>Hierarchy </a:t>
            </a:r>
            <a:r>
              <a:rPr sz="2300" dirty="0">
                <a:latin typeface="Arial MT"/>
                <a:cs typeface="Arial MT"/>
              </a:rPr>
              <a:t>involves dividing a </a:t>
            </a:r>
            <a:r>
              <a:rPr sz="2300" spc="-5" dirty="0">
                <a:latin typeface="Arial MT"/>
                <a:cs typeface="Arial MT"/>
              </a:rPr>
              <a:t>system into </a:t>
            </a:r>
            <a:r>
              <a:rPr sz="2300" dirty="0">
                <a:latin typeface="Arial MT"/>
                <a:cs typeface="Arial MT"/>
              </a:rPr>
              <a:t>modules, </a:t>
            </a:r>
            <a:r>
              <a:rPr sz="2300" spc="-5" dirty="0">
                <a:latin typeface="Arial MT"/>
                <a:cs typeface="Arial MT"/>
              </a:rPr>
              <a:t>then further </a:t>
            </a:r>
            <a:r>
              <a:rPr sz="2300" dirty="0">
                <a:latin typeface="Arial MT"/>
                <a:cs typeface="Arial MT"/>
              </a:rPr>
              <a:t>sub-dividing </a:t>
            </a:r>
            <a:r>
              <a:rPr sz="2300" spc="-6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each of</a:t>
            </a:r>
            <a:r>
              <a:rPr sz="2300" spc="-5" dirty="0">
                <a:latin typeface="Arial MT"/>
                <a:cs typeface="Arial MT"/>
              </a:rPr>
              <a:t> these</a:t>
            </a:r>
            <a:r>
              <a:rPr sz="2300" dirty="0">
                <a:latin typeface="Arial MT"/>
                <a:cs typeface="Arial MT"/>
              </a:rPr>
              <a:t> modules</a:t>
            </a:r>
            <a:r>
              <a:rPr sz="2300" spc="-5" dirty="0">
                <a:latin typeface="Arial MT"/>
                <a:cs typeface="Arial MT"/>
              </a:rPr>
              <a:t> until</a:t>
            </a:r>
            <a:r>
              <a:rPr sz="2300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the</a:t>
            </a:r>
            <a:r>
              <a:rPr sz="2300" dirty="0">
                <a:latin typeface="Arial MT"/>
                <a:cs typeface="Arial MT"/>
              </a:rPr>
              <a:t> pieces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are easy</a:t>
            </a:r>
            <a:r>
              <a:rPr sz="2300" spc="-5" dirty="0">
                <a:latin typeface="Arial MT"/>
                <a:cs typeface="Arial MT"/>
              </a:rPr>
              <a:t> to</a:t>
            </a:r>
            <a:r>
              <a:rPr sz="2300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understand.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3250">
              <a:latin typeface="Arial MT"/>
              <a:cs typeface="Arial MT"/>
            </a:endParaRPr>
          </a:p>
          <a:p>
            <a:pPr marL="12700" marR="1092835">
              <a:lnSpc>
                <a:spcPct val="122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300" b="1" spc="-5" dirty="0">
                <a:latin typeface="Arial"/>
                <a:cs typeface="Arial"/>
              </a:rPr>
              <a:t>Modularity</a:t>
            </a:r>
            <a:r>
              <a:rPr sz="2300" b="1" spc="5" dirty="0">
                <a:latin typeface="Arial"/>
                <a:cs typeface="Arial"/>
              </a:rPr>
              <a:t> </a:t>
            </a:r>
            <a:r>
              <a:rPr sz="2300" spc="-5" dirty="0">
                <a:latin typeface="Arial MT"/>
                <a:cs typeface="Arial MT"/>
              </a:rPr>
              <a:t>states</a:t>
            </a:r>
            <a:r>
              <a:rPr sz="2300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that</a:t>
            </a:r>
            <a:r>
              <a:rPr sz="2300" spc="5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the</a:t>
            </a:r>
            <a:r>
              <a:rPr sz="2300" spc="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modules</a:t>
            </a:r>
            <a:r>
              <a:rPr sz="2300" spc="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have</a:t>
            </a:r>
            <a:r>
              <a:rPr sz="2300" spc="5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well-defined</a:t>
            </a:r>
            <a:r>
              <a:rPr sz="2300" spc="10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functions</a:t>
            </a:r>
            <a:r>
              <a:rPr sz="2300" dirty="0">
                <a:latin typeface="Arial MT"/>
                <a:cs typeface="Arial MT"/>
              </a:rPr>
              <a:t> and </a:t>
            </a:r>
            <a:r>
              <a:rPr sz="2300" spc="-625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interfaces,</a:t>
            </a:r>
            <a:r>
              <a:rPr sz="2300" dirty="0">
                <a:latin typeface="Arial MT"/>
                <a:cs typeface="Arial MT"/>
              </a:rPr>
              <a:t> so</a:t>
            </a:r>
            <a:r>
              <a:rPr sz="2300" spc="10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that</a:t>
            </a:r>
            <a:r>
              <a:rPr sz="2300" spc="5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they</a:t>
            </a:r>
            <a:r>
              <a:rPr sz="2300" spc="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connect</a:t>
            </a:r>
            <a:r>
              <a:rPr sz="2300" spc="5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together</a:t>
            </a:r>
            <a:r>
              <a:rPr sz="2300" spc="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easily </a:t>
            </a:r>
            <a:r>
              <a:rPr sz="2300" spc="-5" dirty="0">
                <a:latin typeface="Arial MT"/>
                <a:cs typeface="Arial MT"/>
              </a:rPr>
              <a:t>without</a:t>
            </a:r>
            <a:r>
              <a:rPr sz="2300" spc="5" dirty="0">
                <a:latin typeface="Arial MT"/>
                <a:cs typeface="Arial MT"/>
              </a:rPr>
              <a:t> </a:t>
            </a:r>
            <a:r>
              <a:rPr sz="2300" spc="-5" dirty="0">
                <a:latin typeface="Arial MT"/>
                <a:cs typeface="Arial MT"/>
              </a:rPr>
              <a:t>unanticipated </a:t>
            </a:r>
            <a:r>
              <a:rPr sz="2300" dirty="0">
                <a:latin typeface="Arial MT"/>
                <a:cs typeface="Arial MT"/>
              </a:rPr>
              <a:t> side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effects.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3300">
              <a:latin typeface="Arial MT"/>
              <a:cs typeface="Arial MT"/>
            </a:endParaRPr>
          </a:p>
          <a:p>
            <a:pPr marL="12700" marR="1044575">
              <a:lnSpc>
                <a:spcPct val="122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sz="2300" b="1" spc="-5" dirty="0">
                <a:latin typeface="Arial"/>
                <a:cs typeface="Arial"/>
              </a:rPr>
              <a:t>Regularity </a:t>
            </a:r>
            <a:r>
              <a:rPr sz="2300" dirty="0">
                <a:latin typeface="Arial MT"/>
                <a:cs typeface="Arial MT"/>
              </a:rPr>
              <a:t>seeks </a:t>
            </a:r>
            <a:r>
              <a:rPr sz="2300" spc="-5" dirty="0">
                <a:latin typeface="Arial MT"/>
                <a:cs typeface="Arial MT"/>
              </a:rPr>
              <a:t>uniformity </a:t>
            </a:r>
            <a:r>
              <a:rPr sz="2300" dirty="0">
                <a:latin typeface="Arial MT"/>
                <a:cs typeface="Arial MT"/>
              </a:rPr>
              <a:t>among </a:t>
            </a:r>
            <a:r>
              <a:rPr sz="2300" spc="-5" dirty="0">
                <a:latin typeface="Arial MT"/>
                <a:cs typeface="Arial MT"/>
              </a:rPr>
              <a:t>the </a:t>
            </a:r>
            <a:r>
              <a:rPr sz="2300" dirty="0">
                <a:latin typeface="Arial MT"/>
                <a:cs typeface="Arial MT"/>
              </a:rPr>
              <a:t>modules. Common modules </a:t>
            </a:r>
            <a:r>
              <a:rPr sz="2300" spc="-6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are reused many </a:t>
            </a:r>
            <a:r>
              <a:rPr sz="2300" spc="-5" dirty="0">
                <a:latin typeface="Arial MT"/>
                <a:cs typeface="Arial MT"/>
              </a:rPr>
              <a:t>times, </a:t>
            </a:r>
            <a:r>
              <a:rPr sz="2300" dirty="0">
                <a:latin typeface="Arial MT"/>
                <a:cs typeface="Arial MT"/>
              </a:rPr>
              <a:t>reducing </a:t>
            </a:r>
            <a:r>
              <a:rPr sz="2300" spc="-5" dirty="0">
                <a:latin typeface="Arial MT"/>
                <a:cs typeface="Arial MT"/>
              </a:rPr>
              <a:t>the </a:t>
            </a:r>
            <a:r>
              <a:rPr sz="2300" dirty="0">
                <a:latin typeface="Arial MT"/>
                <a:cs typeface="Arial MT"/>
              </a:rPr>
              <a:t>number of </a:t>
            </a:r>
            <a:r>
              <a:rPr sz="2300" spc="-5" dirty="0">
                <a:latin typeface="Arial MT"/>
                <a:cs typeface="Arial MT"/>
              </a:rPr>
              <a:t>distinct </a:t>
            </a:r>
            <a:r>
              <a:rPr sz="2300" dirty="0">
                <a:latin typeface="Arial MT"/>
                <a:cs typeface="Arial MT"/>
              </a:rPr>
              <a:t>modules </a:t>
            </a:r>
            <a:r>
              <a:rPr sz="2300" spc="-5" dirty="0">
                <a:latin typeface="Arial MT"/>
                <a:cs typeface="Arial MT"/>
              </a:rPr>
              <a:t>that </a:t>
            </a:r>
            <a:r>
              <a:rPr sz="2300" dirty="0">
                <a:latin typeface="Arial MT"/>
                <a:cs typeface="Arial MT"/>
              </a:rPr>
              <a:t> must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be designed.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27590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03680" algn="l"/>
              </a:tabLst>
            </a:pPr>
            <a:r>
              <a:rPr sz="4400" dirty="0"/>
              <a:t>Code	S</a:t>
            </a:r>
            <a:r>
              <a:rPr sz="4400" spc="-5" dirty="0"/>
              <a:t>t</a:t>
            </a:r>
            <a:r>
              <a:rPr sz="4400" dirty="0"/>
              <a:t>yle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1219" y="1815990"/>
            <a:ext cx="9942830" cy="4299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38760" indent="-226695">
              <a:lnSpc>
                <a:spcPts val="4230"/>
              </a:lnSpc>
              <a:spcBef>
                <a:spcPts val="110"/>
              </a:spcBef>
              <a:buChar char="•"/>
              <a:tabLst>
                <a:tab pos="239395" algn="l"/>
              </a:tabLst>
            </a:pPr>
            <a:r>
              <a:rPr sz="3550" spc="5" dirty="0">
                <a:latin typeface="Arial MT"/>
                <a:cs typeface="Arial MT"/>
              </a:rPr>
              <a:t>Naming:</a:t>
            </a:r>
            <a:endParaRPr sz="3550">
              <a:latin typeface="Arial MT"/>
              <a:cs typeface="Arial MT"/>
            </a:endParaRPr>
          </a:p>
          <a:p>
            <a:pPr marL="695960" lvl="1" indent="-226695">
              <a:lnSpc>
                <a:spcPts val="4195"/>
              </a:lnSpc>
              <a:buChar char="•"/>
              <a:tabLst>
                <a:tab pos="696595" algn="l"/>
              </a:tabLst>
            </a:pPr>
            <a:r>
              <a:rPr sz="3550" spc="5" dirty="0">
                <a:latin typeface="Arial MT"/>
                <a:cs typeface="Arial MT"/>
              </a:rPr>
              <a:t>snake_style</a:t>
            </a:r>
            <a:r>
              <a:rPr sz="3550" spc="-25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vs</a:t>
            </a:r>
            <a:r>
              <a:rPr sz="3550" spc="-20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camelStyle</a:t>
            </a:r>
            <a:endParaRPr sz="3550">
              <a:latin typeface="Arial MT"/>
              <a:cs typeface="Arial MT"/>
            </a:endParaRPr>
          </a:p>
          <a:p>
            <a:pPr marL="695960" lvl="1" indent="-226695">
              <a:lnSpc>
                <a:spcPts val="4195"/>
              </a:lnSpc>
              <a:buChar char="•"/>
              <a:tabLst>
                <a:tab pos="696595" algn="l"/>
              </a:tabLst>
            </a:pPr>
            <a:r>
              <a:rPr sz="3550" spc="5" dirty="0">
                <a:latin typeface="Arial MT"/>
                <a:cs typeface="Arial MT"/>
              </a:rPr>
              <a:t>bool</a:t>
            </a:r>
            <a:r>
              <a:rPr sz="3550" spc="-5" dirty="0">
                <a:latin typeface="Arial MT"/>
                <a:cs typeface="Arial MT"/>
              </a:rPr>
              <a:t> </a:t>
            </a:r>
            <a:r>
              <a:rPr sz="3550" dirty="0">
                <a:latin typeface="Arial MT"/>
                <a:cs typeface="Arial MT"/>
              </a:rPr>
              <a:t>isPredicate(...) </a:t>
            </a:r>
            <a:r>
              <a:rPr sz="3550" spc="5" dirty="0">
                <a:latin typeface="Arial MT"/>
                <a:cs typeface="Arial MT"/>
              </a:rPr>
              <a:t>–</a:t>
            </a:r>
            <a:r>
              <a:rPr sz="3550" spc="-5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Which?</a:t>
            </a:r>
            <a:endParaRPr sz="3550">
              <a:latin typeface="Arial MT"/>
              <a:cs typeface="Arial MT"/>
            </a:endParaRPr>
          </a:p>
          <a:p>
            <a:pPr marL="695960" lvl="1" indent="-226695">
              <a:lnSpc>
                <a:spcPts val="4195"/>
              </a:lnSpc>
              <a:buChar char="•"/>
              <a:tabLst>
                <a:tab pos="696595" algn="l"/>
              </a:tabLst>
            </a:pPr>
            <a:r>
              <a:rPr sz="3550" spc="5" dirty="0">
                <a:latin typeface="Arial MT"/>
                <a:cs typeface="Arial MT"/>
              </a:rPr>
              <a:t>void</a:t>
            </a:r>
            <a:r>
              <a:rPr sz="3550" spc="-15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push_back(...)</a:t>
            </a:r>
            <a:r>
              <a:rPr sz="3550" spc="-10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–</a:t>
            </a:r>
            <a:r>
              <a:rPr sz="3550" spc="-80" dirty="0">
                <a:latin typeface="Arial MT"/>
                <a:cs typeface="Arial MT"/>
              </a:rPr>
              <a:t> </a:t>
            </a:r>
            <a:r>
              <a:rPr sz="3550" spc="-190" dirty="0">
                <a:latin typeface="Arial MT"/>
                <a:cs typeface="Arial MT"/>
              </a:rPr>
              <a:t>To</a:t>
            </a:r>
            <a:r>
              <a:rPr sz="3550" spc="-10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do</a:t>
            </a:r>
            <a:r>
              <a:rPr sz="3550" spc="-10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what?</a:t>
            </a:r>
            <a:endParaRPr sz="3550">
              <a:latin typeface="Arial MT"/>
              <a:cs typeface="Arial MT"/>
            </a:endParaRPr>
          </a:p>
          <a:p>
            <a:pPr marL="695960" lvl="1" indent="-226695">
              <a:lnSpc>
                <a:spcPts val="4195"/>
              </a:lnSpc>
              <a:buChar char="•"/>
              <a:tabLst>
                <a:tab pos="696595" algn="l"/>
              </a:tabLst>
            </a:pPr>
            <a:r>
              <a:rPr sz="3550" spc="5" dirty="0">
                <a:latin typeface="Arial MT"/>
                <a:cs typeface="Arial MT"/>
              </a:rPr>
              <a:t>T</a:t>
            </a:r>
            <a:r>
              <a:rPr sz="3550" spc="-80" dirty="0">
                <a:latin typeface="Arial MT"/>
                <a:cs typeface="Arial MT"/>
              </a:rPr>
              <a:t> </a:t>
            </a:r>
            <a:r>
              <a:rPr sz="3550" dirty="0">
                <a:latin typeface="Arial MT"/>
                <a:cs typeface="Arial MT"/>
              </a:rPr>
              <a:t>size(...)</a:t>
            </a:r>
            <a:r>
              <a:rPr sz="3550" spc="-15" dirty="0">
                <a:latin typeface="Arial MT"/>
                <a:cs typeface="Arial MT"/>
              </a:rPr>
              <a:t> </a:t>
            </a:r>
            <a:r>
              <a:rPr sz="3550" dirty="0">
                <a:latin typeface="Arial MT"/>
                <a:cs typeface="Arial MT"/>
              </a:rPr>
              <a:t>-</a:t>
            </a:r>
            <a:r>
              <a:rPr sz="3550" spc="-10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What?</a:t>
            </a:r>
            <a:endParaRPr sz="3550">
              <a:latin typeface="Arial MT"/>
              <a:cs typeface="Arial MT"/>
            </a:endParaRPr>
          </a:p>
          <a:p>
            <a:pPr marL="695960" lvl="1" indent="-226695">
              <a:lnSpc>
                <a:spcPts val="4195"/>
              </a:lnSpc>
              <a:buChar char="•"/>
              <a:tabLst>
                <a:tab pos="696595" algn="l"/>
              </a:tabLst>
            </a:pPr>
            <a:r>
              <a:rPr sz="3550" spc="5" dirty="0">
                <a:latin typeface="Arial MT"/>
                <a:cs typeface="Arial MT"/>
              </a:rPr>
              <a:t>T</a:t>
            </a:r>
            <a:r>
              <a:rPr sz="3550" spc="-80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getLen()</a:t>
            </a:r>
            <a:r>
              <a:rPr sz="3550" spc="-10" dirty="0">
                <a:latin typeface="Arial MT"/>
                <a:cs typeface="Arial MT"/>
              </a:rPr>
              <a:t> </a:t>
            </a:r>
            <a:r>
              <a:rPr sz="3550" dirty="0">
                <a:latin typeface="Arial MT"/>
                <a:cs typeface="Arial MT"/>
              </a:rPr>
              <a:t>/</a:t>
            </a:r>
            <a:r>
              <a:rPr sz="3550" spc="-10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void</a:t>
            </a:r>
            <a:r>
              <a:rPr sz="3550" spc="-15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setLen(T</a:t>
            </a:r>
            <a:r>
              <a:rPr sz="3550" spc="-75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obj)</a:t>
            </a:r>
            <a:endParaRPr sz="3550">
              <a:latin typeface="Arial MT"/>
              <a:cs typeface="Arial MT"/>
            </a:endParaRPr>
          </a:p>
          <a:p>
            <a:pPr marL="695960" lvl="1" indent="-226695">
              <a:lnSpc>
                <a:spcPts val="4195"/>
              </a:lnSpc>
              <a:buChar char="•"/>
              <a:tabLst>
                <a:tab pos="696595" algn="l"/>
              </a:tabLst>
            </a:pPr>
            <a:r>
              <a:rPr sz="3550" spc="5" dirty="0">
                <a:latin typeface="Arial MT"/>
                <a:cs typeface="Arial MT"/>
              </a:rPr>
              <a:t>One</a:t>
            </a:r>
            <a:r>
              <a:rPr sz="3550" spc="-5" dirty="0">
                <a:latin typeface="Arial MT"/>
                <a:cs typeface="Arial MT"/>
              </a:rPr>
              <a:t> </a:t>
            </a:r>
            <a:r>
              <a:rPr sz="3550" dirty="0">
                <a:latin typeface="Arial MT"/>
                <a:cs typeface="Arial MT"/>
              </a:rPr>
              <a:t>letter </a:t>
            </a:r>
            <a:r>
              <a:rPr sz="3550" spc="5" dirty="0">
                <a:latin typeface="Arial MT"/>
                <a:cs typeface="Arial MT"/>
              </a:rPr>
              <a:t>variable,</a:t>
            </a:r>
            <a:r>
              <a:rPr sz="3550" dirty="0">
                <a:latin typeface="Arial MT"/>
                <a:cs typeface="Arial MT"/>
              </a:rPr>
              <a:t> translit </a:t>
            </a:r>
            <a:r>
              <a:rPr sz="3550" spc="5" dirty="0">
                <a:latin typeface="Arial MT"/>
                <a:cs typeface="Arial MT"/>
              </a:rPr>
              <a:t>variable</a:t>
            </a:r>
            <a:r>
              <a:rPr sz="3550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–</a:t>
            </a:r>
            <a:r>
              <a:rPr sz="3550" spc="-5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very</a:t>
            </a:r>
            <a:r>
              <a:rPr sz="3550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bad</a:t>
            </a:r>
            <a:endParaRPr sz="3550">
              <a:latin typeface="Arial MT"/>
              <a:cs typeface="Arial MT"/>
            </a:endParaRPr>
          </a:p>
          <a:p>
            <a:pPr marL="695960" lvl="1" indent="-226695">
              <a:lnSpc>
                <a:spcPts val="4230"/>
              </a:lnSpc>
              <a:buChar char="•"/>
              <a:tabLst>
                <a:tab pos="696595" algn="l"/>
              </a:tabLst>
            </a:pPr>
            <a:r>
              <a:rPr sz="3550" spc="5" dirty="0">
                <a:latin typeface="Arial MT"/>
                <a:cs typeface="Arial MT"/>
              </a:rPr>
              <a:t>xx,</a:t>
            </a:r>
            <a:r>
              <a:rPr sz="3550" spc="-20" dirty="0">
                <a:latin typeface="Arial MT"/>
                <a:cs typeface="Arial MT"/>
              </a:rPr>
              <a:t> </a:t>
            </a:r>
            <a:r>
              <a:rPr sz="3550" spc="-60" dirty="0">
                <a:latin typeface="Arial MT"/>
                <a:cs typeface="Arial MT"/>
              </a:rPr>
              <a:t>yy,…</a:t>
            </a:r>
            <a:r>
              <a:rPr sz="3550" spc="-25" dirty="0">
                <a:latin typeface="Arial MT"/>
                <a:cs typeface="Arial MT"/>
              </a:rPr>
              <a:t> </a:t>
            </a:r>
            <a:r>
              <a:rPr sz="3550" dirty="0">
                <a:latin typeface="Arial MT"/>
                <a:cs typeface="Arial MT"/>
              </a:rPr>
              <a:t>//</a:t>
            </a:r>
            <a:r>
              <a:rPr sz="3550" spc="-20" dirty="0">
                <a:latin typeface="Arial MT"/>
                <a:cs typeface="Arial MT"/>
              </a:rPr>
              <a:t> </a:t>
            </a:r>
            <a:r>
              <a:rPr sz="3550" spc="5" dirty="0">
                <a:latin typeface="Arial MT"/>
                <a:cs typeface="Arial MT"/>
              </a:rPr>
              <a:t>bad</a:t>
            </a:r>
            <a:endParaRPr sz="3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41878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31795" algn="l"/>
              </a:tabLst>
            </a:pPr>
            <a:r>
              <a:rPr sz="4400" dirty="0"/>
              <a:t>More Code	S</a:t>
            </a:r>
            <a:r>
              <a:rPr sz="4400" spc="-5" dirty="0"/>
              <a:t>t</a:t>
            </a:r>
            <a:r>
              <a:rPr sz="4400" dirty="0"/>
              <a:t>yle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9934575" cy="3977004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Char char="•"/>
              <a:tabLst>
                <a:tab pos="241300" algn="l"/>
              </a:tabLst>
            </a:pPr>
            <a:r>
              <a:rPr sz="2800" spc="-30" dirty="0">
                <a:latin typeface="Arial MT"/>
                <a:cs typeface="Arial MT"/>
              </a:rPr>
              <a:t>Variable</a:t>
            </a:r>
            <a:r>
              <a:rPr sz="2800" spc="-5" dirty="0">
                <a:latin typeface="Arial MT"/>
                <a:cs typeface="Arial MT"/>
              </a:rPr>
              <a:t> declaration</a:t>
            </a:r>
            <a:r>
              <a:rPr sz="2800" dirty="0">
                <a:latin typeface="Arial MT"/>
                <a:cs typeface="Arial MT"/>
              </a:rPr>
              <a:t> – as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close as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possible </a:t>
            </a:r>
            <a:r>
              <a:rPr sz="2800" spc="-5" dirty="0">
                <a:latin typeface="Arial MT"/>
                <a:cs typeface="Arial MT"/>
              </a:rPr>
              <a:t>to </a:t>
            </a:r>
            <a:r>
              <a:rPr sz="2800" dirty="0">
                <a:latin typeface="Arial MT"/>
                <a:cs typeface="Arial MT"/>
              </a:rPr>
              <a:t>a place of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using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Arial"/>
                <a:cs typeface="Arial"/>
              </a:rPr>
              <a:t>using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namespace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-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don’t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use!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(even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namespace</a:t>
            </a:r>
            <a:r>
              <a:rPr sz="2800" spc="-5" dirty="0">
                <a:latin typeface="Arial MT"/>
                <a:cs typeface="Arial MT"/>
              </a:rPr>
              <a:t> std!)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spc="-80" dirty="0">
                <a:latin typeface="Arial MT"/>
                <a:cs typeface="Arial MT"/>
              </a:rPr>
              <a:t>Tabs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-&gt;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4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spaces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spc="-105" dirty="0">
                <a:latin typeface="Arial MT"/>
                <a:cs typeface="Arial MT"/>
              </a:rPr>
              <a:t>Too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long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(100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characters)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Arial"/>
                <a:cs typeface="Arial"/>
              </a:rPr>
              <a:t>Do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not</a:t>
            </a:r>
            <a:r>
              <a:rPr sz="2800" b="1" spc="-2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copy-paste!</a:t>
            </a:r>
            <a:endParaRPr sz="2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Manage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whitespaces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blank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lines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Use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{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}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after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/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for...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25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Don’t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 </a:t>
            </a:r>
            <a:r>
              <a:rPr sz="2800" spc="-5" dirty="0">
                <a:latin typeface="Arial MT"/>
                <a:cs typeface="Arial MT"/>
              </a:rPr>
              <a:t>casts.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Especially,</a:t>
            </a:r>
            <a:r>
              <a:rPr sz="2800" spc="-5" dirty="0">
                <a:latin typeface="Arial MT"/>
                <a:cs typeface="Arial MT"/>
              </a:rPr>
              <a:t> C-style casts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54305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74490" algn="l"/>
              </a:tabLst>
            </a:pPr>
            <a:r>
              <a:rPr sz="4400" dirty="0"/>
              <a:t>A</a:t>
            </a:r>
            <a:r>
              <a:rPr sz="4400" spc="-245" dirty="0"/>
              <a:t> </a:t>
            </a:r>
            <a:r>
              <a:rPr sz="4400" dirty="0"/>
              <a:t>bit</a:t>
            </a:r>
            <a:r>
              <a:rPr sz="4400" spc="-5" dirty="0"/>
              <a:t> </a:t>
            </a:r>
            <a:r>
              <a:rPr sz="4400" dirty="0"/>
              <a:t>more Code	S</a:t>
            </a:r>
            <a:r>
              <a:rPr sz="4400" spc="-5" dirty="0"/>
              <a:t>t</a:t>
            </a:r>
            <a:r>
              <a:rPr sz="4400" dirty="0"/>
              <a:t>yle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Char char="•"/>
              <a:tabLst>
                <a:tab pos="241300" algn="l"/>
              </a:tabLst>
            </a:pPr>
            <a:r>
              <a:rPr dirty="0"/>
              <a:t>Use</a:t>
            </a:r>
            <a:r>
              <a:rPr spc="-5" dirty="0"/>
              <a:t> </a:t>
            </a:r>
            <a:r>
              <a:rPr dirty="0"/>
              <a:t>x</a:t>
            </a:r>
            <a:r>
              <a:rPr spc="-10" dirty="0"/>
              <a:t> </a:t>
            </a:r>
            <a:r>
              <a:rPr dirty="0"/>
              <a:t>+=</a:t>
            </a:r>
            <a:r>
              <a:rPr spc="-5" dirty="0"/>
              <a:t> </a:t>
            </a:r>
            <a:r>
              <a:rPr dirty="0"/>
              <a:t>c</a:t>
            </a:r>
            <a:r>
              <a:rPr spc="-10" dirty="0"/>
              <a:t> </a:t>
            </a:r>
            <a:r>
              <a:rPr spc="-5" dirty="0"/>
              <a:t>instead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x</a:t>
            </a:r>
            <a:r>
              <a:rPr spc="-10" dirty="0"/>
              <a:t> </a:t>
            </a:r>
            <a:r>
              <a:rPr dirty="0"/>
              <a:t>=</a:t>
            </a:r>
            <a:r>
              <a:rPr spc="-5" dirty="0"/>
              <a:t> </a:t>
            </a:r>
            <a:r>
              <a:rPr dirty="0"/>
              <a:t>x</a:t>
            </a:r>
            <a:r>
              <a:rPr spc="-10" dirty="0"/>
              <a:t> </a:t>
            </a:r>
            <a:r>
              <a:rPr dirty="0"/>
              <a:t>+</a:t>
            </a:r>
            <a:r>
              <a:rPr spc="-5" dirty="0"/>
              <a:t> </a:t>
            </a:r>
            <a:r>
              <a:rPr dirty="0"/>
              <a:t>c</a:t>
            </a:r>
            <a:r>
              <a:rPr spc="-10" dirty="0"/>
              <a:t> </a:t>
            </a:r>
            <a:r>
              <a:rPr spc="-5" dirty="0"/>
              <a:t>etc.</a:t>
            </a:r>
          </a:p>
          <a:p>
            <a:pPr marL="241300" indent="-228600">
              <a:lnSpc>
                <a:spcPct val="100000"/>
              </a:lnSpc>
              <a:spcBef>
                <a:spcPts val="525"/>
              </a:spcBef>
              <a:buChar char="•"/>
              <a:tabLst>
                <a:tab pos="241300" algn="l"/>
              </a:tabLst>
            </a:pPr>
            <a:r>
              <a:rPr dirty="0"/>
              <a:t>Use</a:t>
            </a:r>
            <a:r>
              <a:rPr spc="-10" dirty="0"/>
              <a:t> </a:t>
            </a:r>
            <a:r>
              <a:rPr dirty="0"/>
              <a:t>++x</a:t>
            </a:r>
            <a:r>
              <a:rPr spc="-10" dirty="0"/>
              <a:t> </a:t>
            </a:r>
            <a:r>
              <a:rPr spc="-5" dirty="0"/>
              <a:t>instead</a:t>
            </a:r>
            <a:r>
              <a:rPr spc="-1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x++</a:t>
            </a:r>
            <a:r>
              <a:rPr spc="-15" dirty="0"/>
              <a:t> </a:t>
            </a:r>
            <a:r>
              <a:rPr dirty="0"/>
              <a:t>if</a:t>
            </a:r>
            <a:r>
              <a:rPr spc="-15" dirty="0"/>
              <a:t> </a:t>
            </a:r>
            <a:r>
              <a:rPr dirty="0"/>
              <a:t>possible</a:t>
            </a: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dirty="0"/>
              <a:t>Use</a:t>
            </a:r>
            <a:r>
              <a:rPr spc="-10" dirty="0"/>
              <a:t> </a:t>
            </a:r>
            <a:r>
              <a:rPr spc="-5" dirty="0"/>
              <a:t>ternary</a:t>
            </a:r>
            <a:r>
              <a:rPr spc="-15" dirty="0"/>
              <a:t> </a:t>
            </a:r>
            <a:r>
              <a:rPr spc="-5" dirty="0"/>
              <a:t>operator:</a:t>
            </a:r>
          </a:p>
          <a:p>
            <a:pPr marL="698500" lvl="1" indent="-228600">
              <a:lnSpc>
                <a:spcPct val="100000"/>
              </a:lnSpc>
              <a:spcBef>
                <a:spcPts val="30"/>
              </a:spcBef>
              <a:buChar char="•"/>
              <a:tabLst>
                <a:tab pos="698500" algn="l"/>
              </a:tabLst>
            </a:pPr>
            <a:r>
              <a:rPr sz="2800" dirty="0">
                <a:latin typeface="Arial MT"/>
                <a:cs typeface="Arial MT"/>
              </a:rPr>
              <a:t>if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(condition)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a;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else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x=b;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419" y="3671148"/>
            <a:ext cx="4030345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 MT"/>
                <a:cs typeface="Arial MT"/>
              </a:rPr>
              <a:t>condition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?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x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b;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3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x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(condition </a:t>
            </a:r>
            <a:r>
              <a:rPr sz="2800" dirty="0">
                <a:latin typeface="Arial MT"/>
                <a:cs typeface="Arial MT"/>
              </a:rPr>
              <a:t>?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: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b);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57620" y="3671148"/>
            <a:ext cx="1112520" cy="8826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70"/>
              </a:spcBef>
            </a:pP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BAD </a:t>
            </a:r>
            <a:r>
              <a:rPr sz="2800" b="1" spc="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B050"/>
                </a:solidFill>
                <a:latin typeface="Arial"/>
                <a:cs typeface="Arial"/>
              </a:rPr>
              <a:t>GOOD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65798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Don’t</a:t>
            </a:r>
            <a:r>
              <a:rPr sz="4400" spc="-30" dirty="0"/>
              <a:t> </a:t>
            </a:r>
            <a:r>
              <a:rPr sz="4400" dirty="0"/>
              <a:t>use</a:t>
            </a:r>
            <a:r>
              <a:rPr sz="4400" spc="-20" dirty="0"/>
              <a:t> </a:t>
            </a:r>
            <a:r>
              <a:rPr sz="4400" dirty="0"/>
              <a:t>magic</a:t>
            </a:r>
            <a:r>
              <a:rPr sz="4400" spc="-25" dirty="0"/>
              <a:t> </a:t>
            </a:r>
            <a:r>
              <a:rPr sz="4400" spc="-5" dirty="0"/>
              <a:t>constants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1219" y="1455060"/>
            <a:ext cx="8497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241300" algn="l"/>
              </a:tabLst>
            </a:pPr>
            <a:r>
              <a:rPr sz="2800" u="heavy" spc="-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Inverse</a:t>
            </a:r>
            <a:r>
              <a:rPr sz="2800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 square</a:t>
            </a:r>
            <a:r>
              <a:rPr sz="2800" u="heavy" spc="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 </a:t>
            </a:r>
            <a:r>
              <a:rPr sz="2800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root </a:t>
            </a:r>
            <a:r>
              <a:rPr sz="2800" u="heavy" spc="-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implementation, Quake</a:t>
            </a:r>
            <a:r>
              <a:rPr sz="2800" u="heavy" spc="-15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 </a:t>
            </a:r>
            <a:r>
              <a:rPr sz="2800" u="heavy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Arena </a:t>
            </a:r>
            <a:r>
              <a:rPr sz="2800" u="heavy" spc="-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III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1775" y="1960621"/>
            <a:ext cx="8689580" cy="48395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016980-CEFC-4313-A3E2-1F5B383197D6}"/>
              </a:ext>
            </a:extLst>
          </p:cNvPr>
          <p:cNvSpPr/>
          <p:nvPr/>
        </p:nvSpPr>
        <p:spPr>
          <a:xfrm>
            <a:off x="9448800" y="4800600"/>
            <a:ext cx="76200" cy="15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1219" y="642446"/>
            <a:ext cx="71780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7290" algn="l"/>
              </a:tabLst>
            </a:pPr>
            <a:r>
              <a:rPr sz="4400" spc="-35" dirty="0"/>
              <a:t>Tips,</a:t>
            </a:r>
            <a:r>
              <a:rPr sz="4400" spc="5" dirty="0"/>
              <a:t> </a:t>
            </a:r>
            <a:r>
              <a:rPr sz="4400" spc="-5" dirty="0"/>
              <a:t>tricks</a:t>
            </a:r>
            <a:r>
              <a:rPr sz="4400" spc="5" dirty="0"/>
              <a:t> </a:t>
            </a:r>
            <a:r>
              <a:rPr sz="4400" dirty="0"/>
              <a:t>&amp;&amp;	best</a:t>
            </a:r>
            <a:r>
              <a:rPr sz="4400" spc="-60" dirty="0"/>
              <a:t> </a:t>
            </a:r>
            <a:r>
              <a:rPr sz="4400" spc="-5" dirty="0"/>
              <a:t>practices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871219" y="1755251"/>
            <a:ext cx="9702800" cy="200152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Don’t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compare</a:t>
            </a:r>
            <a:r>
              <a:rPr sz="2800" spc="-5" dirty="0">
                <a:latin typeface="Arial MT"/>
                <a:cs typeface="Arial MT"/>
              </a:rPr>
              <a:t> floats/doubles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like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var_1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==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var2</a:t>
            </a:r>
            <a:endParaRPr sz="2800">
              <a:latin typeface="Arial M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525"/>
              </a:spcBef>
              <a:buChar char="•"/>
              <a:tabLst>
                <a:tab pos="698500" algn="l"/>
              </a:tabLst>
            </a:pPr>
            <a:r>
              <a:rPr sz="2800" dirty="0">
                <a:latin typeface="Arial MT"/>
                <a:cs typeface="Arial MT"/>
              </a:rPr>
              <a:t>abs(var_1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-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var_2)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&lt;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eps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(~1e-5)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Use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b="1" dirty="0">
                <a:latin typeface="Arial"/>
                <a:cs typeface="Arial"/>
              </a:rPr>
              <a:t>const</a:t>
            </a:r>
            <a:r>
              <a:rPr sz="2800" b="1" spc="-5" dirty="0"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and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b="1" spc="-5" dirty="0">
                <a:latin typeface="Arial"/>
                <a:cs typeface="Arial"/>
              </a:rPr>
              <a:t>references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function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arguments</a:t>
            </a:r>
            <a:r>
              <a:rPr sz="2800" dirty="0">
                <a:latin typeface="Arial MT"/>
                <a:cs typeface="Arial MT"/>
              </a:rPr>
              <a:t> if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possible</a:t>
            </a:r>
            <a:endParaRPr sz="2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har char="•"/>
              <a:tabLst>
                <a:tab pos="241300" algn="l"/>
              </a:tabLst>
            </a:pPr>
            <a:r>
              <a:rPr sz="2800" dirty="0">
                <a:latin typeface="Arial MT"/>
                <a:cs typeface="Arial MT"/>
              </a:rPr>
              <a:t>Make </a:t>
            </a:r>
            <a:r>
              <a:rPr sz="2800" spc="-10" dirty="0">
                <a:latin typeface="Arial MT"/>
                <a:cs typeface="Arial MT"/>
              </a:rPr>
              <a:t>difference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between </a:t>
            </a:r>
            <a:r>
              <a:rPr sz="2800" b="1" spc="-5" dirty="0">
                <a:latin typeface="Arial"/>
                <a:cs typeface="Arial"/>
              </a:rPr>
              <a:t>struct </a:t>
            </a:r>
            <a:r>
              <a:rPr sz="2800" spc="-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b="1" dirty="0"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636</TotalTime>
  <Words>370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MT</vt:lpstr>
      <vt:lpstr>Calibri</vt:lpstr>
      <vt:lpstr>Office Theme</vt:lpstr>
      <vt:lpstr>Семинар 7 Codestyle</vt:lpstr>
      <vt:lpstr>Abstraction</vt:lpstr>
      <vt:lpstr>Discipline</vt:lpstr>
      <vt:lpstr>The Three-Y’s</vt:lpstr>
      <vt:lpstr>Code Style</vt:lpstr>
      <vt:lpstr>More Code Style</vt:lpstr>
      <vt:lpstr>A bit more Code Style</vt:lpstr>
      <vt:lpstr>Don’t use magic constants</vt:lpstr>
      <vt:lpstr>Tips, tricks &amp;&amp; 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Семинар_6</dc:title>
  <cp:lastModifiedBy>Konstantin Dragun</cp:lastModifiedBy>
  <cp:revision>3</cp:revision>
  <dcterms:created xsi:type="dcterms:W3CDTF">2024-10-09T21:01:57Z</dcterms:created>
  <dcterms:modified xsi:type="dcterms:W3CDTF">2025-10-13T06:06:31Z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2023-10-12T00:00:00Z</vt:filetime>
  </property>
  <property fmtid="{D5CDD505-2E9C-101B-9397-08002B2CF9AE}" pid="3" name="Creator">
    <vt:lpwstr>Keynote</vt:lpwstr>
  </property>
  <property fmtid="{D5CDD505-2E9C-101B-9397-08002B2CF9AE}" pid="4" name="LastSaved">
    <vt:filetime>2024-10-09T00:00:00Z</vt:filetime>
  </property>
</Properties>
</file>