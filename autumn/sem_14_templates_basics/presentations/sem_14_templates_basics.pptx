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59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6647-D07D-4B92-AD0D-084583A74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36072-C8DA-4ABF-8E95-CBBB24940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952BF-CA38-42A0-B445-C6F518369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3CC5E-CC30-408F-80A2-30518A19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35ADE-FE97-45E0-AD1E-63212919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99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4050-ED43-4BEE-A923-6BB59ABE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62AE8-C60B-4ABB-AEDB-18B058A5C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DD2FC-ADA0-40D5-AA84-39AAA664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255AC-96ED-4E93-997C-A6BEB380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68432-60AC-4D17-B045-A6A08EE3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85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3BCF-7178-4AD5-BF79-83FFED46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17A31-1B1F-4865-84DB-0224373B6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166FB-6133-4F4A-8675-BB4D477D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E8D4B-7800-4D48-87E6-84BABFB5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DAB06-72EC-4AD6-8D2E-BAF514FC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57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4B50-949F-4E2C-8FD4-509B98CB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43EEE-ADD2-426F-98C9-797D9542C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2B32A-CF37-401B-872E-A323FCC04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C652B-E560-479E-9999-10B166DE4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F53C7-CB05-4B3D-A368-A6C40742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77C6F-6750-4871-B988-1FDE4B58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563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16BF-AA83-4B73-A30D-05A56F1B8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0A5F4-0319-48CE-AA9E-FF57CDA63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06A19-4EDB-462B-9F0E-9E7451D42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A4F39-5AE5-497E-9ED3-5135D662B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56C28-6C0E-4223-AB38-E17BBA5AC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06A979-35FE-49B5-8B4F-9F4A84A4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B490E8-9793-4E50-8FCF-5E1693BF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2400E-17F5-4A08-8894-2040A541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982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626B-E61D-4726-BB09-290FFD0D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6A822-F217-4B9F-B6C4-A0BFA7E3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766EC-8038-4926-AEBA-F2643ED7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A683C-D6F1-4DB5-811A-4719B958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895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E1D19-61ED-4D32-A565-D2DD4BF9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71C32-7DF9-429C-A770-ED282048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E69C2-EFAD-437F-998D-E83795B4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02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8670-626A-4561-A47D-77ED571D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9C8C-3697-41C0-8E95-78C1D9E1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CD094-36D3-4B26-AB23-DC9DAD797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925D3-3608-4AAC-9E45-4C5244D1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FF951-599A-4131-A19F-BE763A05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0F7FF-EB48-4DEA-991B-AC1D99F8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88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25255-DA69-48E9-9C1D-4D23C9E4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A84E02-4753-40F1-BE1C-163661A64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6F4F4-40E2-4872-A7D8-86F309EA0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C2B68-07F5-4075-97A4-074A6A47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3BAA1-F3FC-4D69-BB79-7ADEC33C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85F54-6918-476A-9324-CDFF66D2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5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4AC2-5613-49E5-8744-3086D498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BA4FE-D8FD-45A3-9D7F-5662C79B9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DFBB-8F0B-4EE8-BDC4-11A4F746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7CDED-2AF3-477B-ADB5-01E38F04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72101-E422-4BEF-8F38-98CA46D2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51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39848-98A4-4F1F-BBA1-7E998D131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4030E-C539-421C-8978-A9B1D6B68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B5F0D-675D-4180-8E6D-CBC07DF0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814DB-E868-4744-844D-E8EA2874E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8E7AC-C7A8-4026-8F4E-9BFFE61C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97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B9E5F-7964-45A2-B843-1E6E9FBF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80FA2-9E74-4C2B-85F2-B26B854E1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DE49C-2E92-4F9A-AE30-9D4031D42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4931B-9411-45F6-8DA5-11A10B7C1484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B90AD-C3A9-4B79-910D-4961B4AD6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34BA0-26C4-4525-A458-39CA16C35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03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ppinsights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DAFE-044E-40C1-AEA3-FC1F42BA5B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>
                <a:latin typeface="Arial" panose="020B0604020202020204" pitchFamily="34" charset="0"/>
                <a:cs typeface="Arial" panose="020B0604020202020204" pitchFamily="34" charset="0"/>
              </a:rPr>
              <a:t>Семинар</a:t>
            </a:r>
            <a:r>
              <a:rPr lang="ru-RU" sz="6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6000" dirty="0"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lang="ru-RU" sz="6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C++</a:t>
            </a:r>
            <a:r>
              <a:rPr lang="en-US" sz="6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spc="-25" dirty="0">
                <a:latin typeface="Arial" panose="020B0604020202020204" pitchFamily="34" charset="0"/>
                <a:cs typeface="Arial" panose="020B0604020202020204" pitchFamily="34" charset="0"/>
              </a:rPr>
              <a:t>№14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02455-A020-4DED-ACAF-716715E385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Шаблоны. Часть 1</a:t>
            </a:r>
          </a:p>
        </p:txBody>
      </p:sp>
    </p:spTree>
    <p:extLst>
      <p:ext uri="{BB962C8B-B14F-4D97-AF65-F5344CB8AC3E}">
        <p14:creationId xmlns:p14="http://schemas.microsoft.com/office/powerpoint/2010/main" val="113174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A39A8-CB23-4494-AFFD-2451BDF39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Мотивация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использования шаблонов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7DBE0-F7A5-465B-8B7A-F82388928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ru-RU" dirty="0"/>
              <a:t>Не хотим дублировать один и тот же код для разных типов</a:t>
            </a:r>
          </a:p>
          <a:p>
            <a:r>
              <a:rPr lang="ru-RU" dirty="0"/>
              <a:t>Примеры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max, swap, …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3B1BA-EFDE-42CD-8B29-92148DC80362}"/>
              </a:ext>
            </a:extLst>
          </p:cNvPr>
          <p:cNvSpPr txBox="1"/>
          <p:nvPr/>
        </p:nvSpPr>
        <p:spPr>
          <a:xfrm>
            <a:off x="1017141" y="4086546"/>
            <a:ext cx="40125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 max(int a, int b) {</a:t>
            </a:r>
          </a:p>
          <a:p>
            <a:r>
              <a:rPr lang="en-US" sz="2800" dirty="0"/>
              <a:t>    return a &gt; b ? a : b;</a:t>
            </a:r>
          </a:p>
          <a:p>
            <a:r>
              <a:rPr lang="en-US" sz="2800" dirty="0"/>
              <a:t>} 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4DDB2-BDF4-4045-BDEB-BE4FBE2370AC}"/>
              </a:ext>
            </a:extLst>
          </p:cNvPr>
          <p:cNvSpPr txBox="1"/>
          <p:nvPr/>
        </p:nvSpPr>
        <p:spPr>
          <a:xfrm>
            <a:off x="6096000" y="4073703"/>
            <a:ext cx="40125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float max(float a, float b) {</a:t>
            </a:r>
          </a:p>
          <a:p>
            <a:r>
              <a:rPr lang="en-US" sz="2800" dirty="0"/>
              <a:t>    return a &gt; b ? a : b;</a:t>
            </a:r>
          </a:p>
          <a:p>
            <a:r>
              <a:rPr lang="en-US" sz="2800" dirty="0"/>
              <a:t>}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6834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0405-987D-42D2-B427-D251F50C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Простейший пример использования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98F3B-7B04-4710-90AE-DA339FC24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18735" cy="418475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</a:t>
            </a:r>
            <a:r>
              <a:rPr lang="en-US" sz="2800" dirty="0">
                <a:solidFill>
                  <a:srgbClr val="00B050"/>
                </a:solidFill>
              </a:rPr>
              <a:t>emplate &lt;</a:t>
            </a:r>
            <a:r>
              <a:rPr lang="en-US" sz="2800" dirty="0" err="1">
                <a:solidFill>
                  <a:srgbClr val="00B050"/>
                </a:solidFill>
              </a:rPr>
              <a:t>typename</a:t>
            </a:r>
            <a:r>
              <a:rPr lang="en-US" sz="2800" dirty="0">
                <a:solidFill>
                  <a:srgbClr val="00B050"/>
                </a:solidFill>
              </a:rPr>
              <a:t> T&gt;</a:t>
            </a:r>
          </a:p>
          <a:p>
            <a:pPr marL="0" indent="0">
              <a:buNone/>
            </a:pPr>
            <a:r>
              <a:rPr lang="en-US" sz="2800" dirty="0"/>
              <a:t>T max(</a:t>
            </a:r>
            <a:r>
              <a:rPr lang="en-US" dirty="0"/>
              <a:t>T</a:t>
            </a:r>
            <a:r>
              <a:rPr lang="en-US" sz="2800" dirty="0"/>
              <a:t> a, </a:t>
            </a:r>
            <a:r>
              <a:rPr lang="en-US" dirty="0"/>
              <a:t>T</a:t>
            </a:r>
            <a:r>
              <a:rPr lang="en-US" sz="2800" dirty="0"/>
              <a:t> b) {</a:t>
            </a:r>
          </a:p>
          <a:p>
            <a:pPr marL="0" indent="0">
              <a:buNone/>
            </a:pPr>
            <a:r>
              <a:rPr lang="en-US" sz="2800" dirty="0"/>
              <a:t>    return a &gt; b ? a : b;</a:t>
            </a:r>
          </a:p>
          <a:p>
            <a:pPr marL="0" indent="0">
              <a:buNone/>
            </a:pPr>
            <a:r>
              <a:rPr lang="en-US" sz="2800" dirty="0"/>
              <a:t>} </a:t>
            </a:r>
            <a:endParaRPr lang="ru-RU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m</a:t>
            </a:r>
            <a:r>
              <a:rPr lang="en-US" sz="2800" dirty="0"/>
              <a:t>ax(1.0, 2.0);</a:t>
            </a:r>
          </a:p>
          <a:p>
            <a:pPr marL="0" indent="0">
              <a:buNone/>
            </a:pPr>
            <a:r>
              <a:rPr lang="en-US" dirty="0"/>
              <a:t>max(1, 2);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D39C8-E345-441E-B5D7-6FF4DEFC0774}"/>
              </a:ext>
            </a:extLst>
          </p:cNvPr>
          <p:cNvSpPr txBox="1"/>
          <p:nvPr/>
        </p:nvSpPr>
        <p:spPr>
          <a:xfrm>
            <a:off x="6369978" y="1690688"/>
            <a:ext cx="50810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Теперь </a:t>
            </a:r>
            <a:r>
              <a:rPr lang="en-US" sz="3200" dirty="0"/>
              <a:t>max </a:t>
            </a:r>
            <a:r>
              <a:rPr lang="ru-RU" sz="3200" dirty="0"/>
              <a:t>это не функция, а шаблон функции.</a:t>
            </a:r>
          </a:p>
          <a:p>
            <a:r>
              <a:rPr lang="ru-RU" sz="3200" dirty="0"/>
              <a:t>При использовании функции подставляется необходимый тип и генерируется код функции – происходит </a:t>
            </a:r>
            <a:r>
              <a:rPr lang="ru-RU" sz="3200" b="1" dirty="0" err="1"/>
              <a:t>инстанцирование</a:t>
            </a:r>
            <a:r>
              <a:rPr lang="ru-RU" sz="3200" b="1" dirty="0"/>
              <a:t> шаблона</a:t>
            </a:r>
            <a:r>
              <a:rPr lang="ru-RU" sz="32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FBF99-0D38-4ED5-98A5-96357BD507B6}"/>
              </a:ext>
            </a:extLst>
          </p:cNvPr>
          <p:cNvSpPr txBox="1"/>
          <p:nvPr/>
        </p:nvSpPr>
        <p:spPr>
          <a:xfrm flipH="1">
            <a:off x="427234" y="6308209"/>
            <a:ext cx="432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Удобно смотреть на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https://cppinsights.io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0138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3C12-9565-46DD-88A2-169A17A9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Шаблонные классы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A3964-5FA0-436E-A985-26C776714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812587" cy="37326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template &lt;</a:t>
            </a:r>
            <a:r>
              <a:rPr lang="en-US" dirty="0" err="1">
                <a:solidFill>
                  <a:srgbClr val="00B050"/>
                </a:solidFill>
              </a:rPr>
              <a:t>typename</a:t>
            </a:r>
            <a:r>
              <a:rPr lang="en-US" dirty="0">
                <a:solidFill>
                  <a:srgbClr val="00B050"/>
                </a:solidFill>
              </a:rPr>
              <a:t> T&gt;</a:t>
            </a:r>
          </a:p>
          <a:p>
            <a:pPr marL="0" indent="0">
              <a:buNone/>
            </a:pPr>
            <a:r>
              <a:rPr lang="en-US" dirty="0"/>
              <a:t>class Test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B050"/>
                </a:solidFill>
              </a:rPr>
              <a:t>T</a:t>
            </a:r>
            <a:r>
              <a:rPr lang="en-US" dirty="0"/>
              <a:t> obj;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B050"/>
                </a:solidFill>
              </a:rPr>
              <a:t>T</a:t>
            </a:r>
            <a:r>
              <a:rPr lang="en-US" dirty="0"/>
              <a:t>* </a:t>
            </a:r>
            <a:r>
              <a:rPr lang="en-US" dirty="0" err="1"/>
              <a:t>obj_ptr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std::vector&lt;</a:t>
            </a:r>
            <a:r>
              <a:rPr lang="en-US" dirty="0">
                <a:solidFill>
                  <a:srgbClr val="00B050"/>
                </a:solidFill>
              </a:rPr>
              <a:t>T</a:t>
            </a:r>
            <a:r>
              <a:rPr lang="en-US" dirty="0"/>
              <a:t>&gt; </a:t>
            </a:r>
            <a:r>
              <a:rPr lang="en-US" dirty="0" err="1"/>
              <a:t>vec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void foo(</a:t>
            </a:r>
            <a:r>
              <a:rPr lang="en-US" dirty="0">
                <a:solidFill>
                  <a:srgbClr val="00B050"/>
                </a:solidFill>
              </a:rPr>
              <a:t>T</a:t>
            </a:r>
            <a:r>
              <a:rPr lang="en-US" dirty="0"/>
              <a:t> x);</a:t>
            </a:r>
          </a:p>
          <a:p>
            <a:pPr marL="0" indent="0">
              <a:buNone/>
            </a:pPr>
            <a:r>
              <a:rPr lang="en-US" dirty="0"/>
              <a:t>    …</a:t>
            </a:r>
          </a:p>
          <a:p>
            <a:pPr marL="0" indent="0">
              <a:buNone/>
            </a:pPr>
            <a:r>
              <a:rPr lang="en-US" dirty="0"/>
              <a:t>};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2B631-DC21-4E25-8744-789DD6CA8330}"/>
              </a:ext>
            </a:extLst>
          </p:cNvPr>
          <p:cNvSpPr txBox="1"/>
          <p:nvPr/>
        </p:nvSpPr>
        <p:spPr>
          <a:xfrm>
            <a:off x="6349429" y="1825623"/>
            <a:ext cx="40377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Можно создавать шаблонные классы и работать в них с шаблонной переменной как с обычным типом. Точно так же реальный класс будет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инстанцирован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с реальным типом компилятором</a:t>
            </a:r>
          </a:p>
        </p:txBody>
      </p:sp>
    </p:spTree>
    <p:extLst>
      <p:ext uri="{BB962C8B-B14F-4D97-AF65-F5344CB8AC3E}">
        <p14:creationId xmlns:p14="http://schemas.microsoft.com/office/powerpoint/2010/main" val="33506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A367-F620-42AB-8F7A-E01E0168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Шаблонные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переменные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7AB6-29F2-4A18-AC77-D36157AA4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template &lt;</a:t>
            </a:r>
            <a:r>
              <a:rPr lang="en-US" dirty="0" err="1">
                <a:solidFill>
                  <a:srgbClr val="00B050"/>
                </a:solidFill>
              </a:rPr>
              <a:t>typename</a:t>
            </a:r>
            <a:r>
              <a:rPr lang="en-US" dirty="0">
                <a:solidFill>
                  <a:srgbClr val="00B050"/>
                </a:solidFill>
              </a:rPr>
              <a:t> T&gt;</a:t>
            </a:r>
          </a:p>
          <a:p>
            <a:pPr marL="0" indent="0">
              <a:buNone/>
            </a:pPr>
            <a:r>
              <a:rPr lang="en-US" dirty="0"/>
              <a:t>using </a:t>
            </a:r>
            <a:r>
              <a:rPr lang="en-US" dirty="0" err="1"/>
              <a:t>MyPair</a:t>
            </a:r>
            <a:r>
              <a:rPr lang="en-US" dirty="0"/>
              <a:t> = std::pair&lt;std::</a:t>
            </a:r>
            <a:r>
              <a:rPr lang="en-US" dirty="0" err="1"/>
              <a:t>unordered_map</a:t>
            </a:r>
            <a:r>
              <a:rPr lang="en-US" dirty="0"/>
              <a:t>&lt;T, T&gt;, std::map&lt;std::vector&lt;std::string&gt;, std……&gt;&gt;;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template &lt;</a:t>
            </a:r>
            <a:r>
              <a:rPr lang="en-US" dirty="0" err="1">
                <a:solidFill>
                  <a:srgbClr val="00B050"/>
                </a:solidFill>
              </a:rPr>
              <a:t>typename</a:t>
            </a:r>
            <a:r>
              <a:rPr lang="en-US" dirty="0">
                <a:solidFill>
                  <a:srgbClr val="00B050"/>
                </a:solidFill>
              </a:rPr>
              <a:t> T&gt;</a:t>
            </a:r>
          </a:p>
          <a:p>
            <a:pPr marL="0" indent="0">
              <a:buNone/>
            </a:pPr>
            <a:r>
              <a:rPr lang="en-US" dirty="0"/>
              <a:t>T </a:t>
            </a:r>
            <a:r>
              <a:rPr lang="en-US" dirty="0" err="1"/>
              <a:t>template_var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MyPair</a:t>
            </a:r>
            <a:r>
              <a:rPr lang="en-US" dirty="0"/>
              <a:t>&lt;int&gt; pair;</a:t>
            </a:r>
          </a:p>
          <a:p>
            <a:pPr marL="0" indent="0">
              <a:buNone/>
            </a:pPr>
            <a:r>
              <a:rPr lang="en-US" dirty="0" err="1"/>
              <a:t>template_var</a:t>
            </a:r>
            <a:r>
              <a:rPr lang="en-US" dirty="0"/>
              <a:t>&lt;double&gt; var;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579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875C-5ACB-4EF7-A794-37AE748BA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Сигнатура функции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0BF24-A240-47A8-8634-E486CFCF2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0344"/>
          </a:xfrm>
        </p:spPr>
        <p:txBody>
          <a:bodyPr>
            <a:normAutofit fontScale="92500"/>
          </a:bodyPr>
          <a:lstStyle/>
          <a:p>
            <a:r>
              <a:rPr lang="ru-RU" dirty="0"/>
              <a:t>В отличие от обычных функций, возвращаемое значение шаблонных функций входит в сигнатуру, поэтому не является </a:t>
            </a:r>
            <a:r>
              <a:rPr lang="en-US" dirty="0"/>
              <a:t>CE </a:t>
            </a:r>
            <a:r>
              <a:rPr lang="ru-RU" dirty="0"/>
              <a:t>следующее</a:t>
            </a:r>
            <a:r>
              <a:rPr lang="en-US" dirty="0"/>
              <a:t>: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en-US" dirty="0"/>
              <a:t>template&lt;class T&gt; int foo(T) {}</a:t>
            </a:r>
          </a:p>
          <a:p>
            <a:pPr marL="0" indent="0">
              <a:buNone/>
            </a:pPr>
            <a:r>
              <a:rPr lang="en-US" dirty="0"/>
              <a:t>template&lt;class T&gt; bool foo(T) {}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228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E120-8D4D-4412-9E4E-9DFF35730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Двухэтапная компиляция шаблонов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E313-C864-4D5D-A399-1BE893B93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Сначала проверка шаблона на корректность (максимально возможная проверка без знания шаблонных параметров)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Проверка </a:t>
            </a:r>
            <a:r>
              <a:rPr lang="ru-RU" dirty="0" err="1"/>
              <a:t>инстанцированного</a:t>
            </a:r>
            <a:r>
              <a:rPr lang="ru-RU" dirty="0"/>
              <a:t> шаблона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7BDCC-B09A-4F93-B207-43332C4C9EEC}"/>
              </a:ext>
            </a:extLst>
          </p:cNvPr>
          <p:cNvSpPr txBox="1"/>
          <p:nvPr/>
        </p:nvSpPr>
        <p:spPr>
          <a:xfrm>
            <a:off x="1407560" y="4089113"/>
            <a:ext cx="40582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template &lt;</a:t>
            </a:r>
            <a:r>
              <a:rPr lang="en-US" sz="2400" dirty="0" err="1"/>
              <a:t>typename</a:t>
            </a:r>
            <a:r>
              <a:rPr lang="en-US" sz="2400" dirty="0"/>
              <a:t> T&gt;</a:t>
            </a:r>
          </a:p>
          <a:p>
            <a:r>
              <a:rPr lang="en-US" sz="2400" dirty="0"/>
              <a:t>int foo(T x) {</a:t>
            </a:r>
          </a:p>
          <a:p>
            <a:r>
              <a:rPr lang="en-US" sz="2400" dirty="0"/>
              <a:t>    return std::vector&lt;int&gt;();</a:t>
            </a:r>
          </a:p>
          <a:p>
            <a:r>
              <a:rPr lang="en-US" sz="2400" dirty="0"/>
              <a:t>}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04E5F-167B-465E-A11F-1568BB6055C8}"/>
              </a:ext>
            </a:extLst>
          </p:cNvPr>
          <p:cNvSpPr txBox="1"/>
          <p:nvPr/>
        </p:nvSpPr>
        <p:spPr>
          <a:xfrm>
            <a:off x="6328881" y="3563937"/>
            <a:ext cx="46541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template &lt;</a:t>
            </a:r>
            <a:r>
              <a:rPr lang="en-US" sz="2400" dirty="0" err="1"/>
              <a:t>typename</a:t>
            </a:r>
            <a:r>
              <a:rPr lang="en-US" sz="2400" dirty="0"/>
              <a:t> T&gt;</a:t>
            </a:r>
          </a:p>
          <a:p>
            <a:r>
              <a:rPr lang="en-US" sz="2400" dirty="0"/>
              <a:t>int foo(T x) {</a:t>
            </a:r>
          </a:p>
          <a:p>
            <a:r>
              <a:rPr lang="en-US" sz="2400" dirty="0"/>
              <a:t>    return x;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dirty="0"/>
              <a:t>int main() {</a:t>
            </a:r>
          </a:p>
          <a:p>
            <a:r>
              <a:rPr lang="en-US" sz="2400" dirty="0"/>
              <a:t>    foo(std::vector&lt;int&gt;());</a:t>
            </a:r>
          </a:p>
          <a:p>
            <a:r>
              <a:rPr lang="en-US" sz="2400" dirty="0"/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40706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3CBD-5BB8-46A4-9A73-BF6223A0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Template argument deduction (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вывод шаблонных аргументов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707BE-A0D7-4001-A69C-B89090199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</a:t>
            </a:r>
            <a:r>
              <a:rPr lang="en-US" sz="2800" dirty="0">
                <a:solidFill>
                  <a:srgbClr val="00B050"/>
                </a:solidFill>
              </a:rPr>
              <a:t>emplate &lt;</a:t>
            </a:r>
            <a:r>
              <a:rPr lang="en-US" sz="2800" dirty="0" err="1">
                <a:solidFill>
                  <a:srgbClr val="00B050"/>
                </a:solidFill>
              </a:rPr>
              <a:t>typename</a:t>
            </a:r>
            <a:r>
              <a:rPr lang="en-US" sz="2800" dirty="0">
                <a:solidFill>
                  <a:srgbClr val="00B050"/>
                </a:solidFill>
              </a:rPr>
              <a:t> T&gt;</a:t>
            </a:r>
          </a:p>
          <a:p>
            <a:pPr marL="0" indent="0">
              <a:buNone/>
            </a:pPr>
            <a:r>
              <a:rPr lang="en-US" sz="2800" dirty="0"/>
              <a:t>T max(</a:t>
            </a:r>
            <a:r>
              <a:rPr lang="en-US" dirty="0"/>
              <a:t>T</a:t>
            </a:r>
            <a:r>
              <a:rPr lang="en-US" sz="2800" dirty="0"/>
              <a:t> a, </a:t>
            </a:r>
            <a:r>
              <a:rPr lang="en-US" dirty="0"/>
              <a:t>T</a:t>
            </a:r>
            <a:r>
              <a:rPr lang="en-US" sz="2800" dirty="0"/>
              <a:t> b);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</a:t>
            </a:r>
            <a:r>
              <a:rPr lang="en-US" sz="2800" dirty="0"/>
              <a:t>ax(1, 0) - </a:t>
            </a:r>
            <a:r>
              <a:rPr lang="en-US" sz="2800" b="1" dirty="0">
                <a:solidFill>
                  <a:srgbClr val="00B050"/>
                </a:solidFill>
              </a:rPr>
              <a:t>OK</a:t>
            </a:r>
          </a:p>
          <a:p>
            <a:pPr marL="0" indent="0">
              <a:buNone/>
            </a:pPr>
            <a:r>
              <a:rPr lang="en-US" dirty="0"/>
              <a:t>max(1.0, 2.0) - </a:t>
            </a:r>
            <a:r>
              <a:rPr lang="en-US" b="1" dirty="0">
                <a:solidFill>
                  <a:srgbClr val="00B050"/>
                </a:solidFill>
              </a:rPr>
              <a:t>OK</a:t>
            </a:r>
          </a:p>
          <a:p>
            <a:pPr marL="0" indent="0">
              <a:buNone/>
            </a:pPr>
            <a:r>
              <a:rPr lang="en-US" sz="2800" dirty="0"/>
              <a:t>max(1, 2.0) – </a:t>
            </a:r>
            <a:r>
              <a:rPr lang="en-US" b="1" dirty="0">
                <a:solidFill>
                  <a:srgbClr val="FF0000"/>
                </a:solidFill>
              </a:rPr>
              <a:t>CE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template argument deduction/substitution failed: deduced conflicting types for parameter ‘T’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76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C966-8322-4190-BA46-B08E4A55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64065" cy="1325563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Правила</a:t>
            </a:r>
            <a:r>
              <a:rPr lang="ru-RU" dirty="0"/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вывода шаблонных аргументов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BADD-291B-457F-B1B4-DADB3AC8E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1324" cy="2849117"/>
          </a:xfrm>
        </p:spPr>
        <p:txBody>
          <a:bodyPr/>
          <a:lstStyle/>
          <a:p>
            <a:r>
              <a:rPr lang="ru-RU" dirty="0"/>
              <a:t>Компиляция заканчивается ошибкой при</a:t>
            </a:r>
            <a:r>
              <a:rPr lang="en-US" dirty="0"/>
              <a:t>: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Неоднозначно, какой тип выбрать в качестве шаблонного параметра (при выборе типа касты не происходят)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 является аргументом функции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Когда аргумент имеет </a:t>
            </a:r>
            <a:r>
              <a:rPr lang="en-US" dirty="0"/>
              <a:t>“</a:t>
            </a:r>
            <a:r>
              <a:rPr lang="ru-RU" dirty="0"/>
              <a:t>сложный</a:t>
            </a:r>
            <a:r>
              <a:rPr lang="en-US" dirty="0"/>
              <a:t>”</a:t>
            </a:r>
            <a:r>
              <a:rPr lang="ru-RU" dirty="0"/>
              <a:t> тип </a:t>
            </a:r>
            <a:r>
              <a:rPr lang="en-US" dirty="0"/>
              <a:t>(e.g. std::vector&lt;T&gt;::iterator)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943E4-2E1F-4B6A-8BD6-2A3012D4A0A8}"/>
              </a:ext>
            </a:extLst>
          </p:cNvPr>
          <p:cNvSpPr txBox="1"/>
          <p:nvPr/>
        </p:nvSpPr>
        <p:spPr>
          <a:xfrm>
            <a:off x="838199" y="5045984"/>
            <a:ext cx="111209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cs typeface="Arial" panose="020B0604020202020204" pitchFamily="34" charset="0"/>
              </a:rPr>
              <a:t>Можно явно указать, с каким шаблонным параметром нужен шаблон</a:t>
            </a:r>
            <a:r>
              <a:rPr lang="en-US" sz="2800" dirty="0">
                <a:cs typeface="Arial" panose="020B0604020202020204" pitchFamily="34" charset="0"/>
              </a:rPr>
              <a:t>:</a:t>
            </a:r>
          </a:p>
          <a:p>
            <a:endParaRPr lang="ru-RU" dirty="0"/>
          </a:p>
          <a:p>
            <a:r>
              <a:rPr lang="en-US" sz="2800" dirty="0"/>
              <a:t>max&lt;float&gt;(1, 1.0)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88643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D3BA-235C-42D8-BCD6-DEE51417C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deduction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DDE7C-DB72-4055-A6E1-0BCEAF551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21476" cy="1603375"/>
          </a:xfrm>
        </p:spPr>
        <p:txBody>
          <a:bodyPr/>
          <a:lstStyle/>
          <a:p>
            <a:pPr marL="0" indent="0">
              <a:buNone/>
            </a:pPr>
            <a:r>
              <a:rPr lang="fr-FR" dirty="0" err="1"/>
              <a:t>template</a:t>
            </a:r>
            <a:r>
              <a:rPr lang="fr-FR" dirty="0"/>
              <a:t> &lt;</a:t>
            </a:r>
            <a:r>
              <a:rPr lang="fr-FR" dirty="0" err="1"/>
              <a:t>typename</a:t>
            </a:r>
            <a:r>
              <a:rPr lang="fr-FR" dirty="0"/>
              <a:t> </a:t>
            </a:r>
            <a:r>
              <a:rPr lang="fr-FR" dirty="0">
                <a:solidFill>
                  <a:srgbClr val="00B050"/>
                </a:solidFill>
              </a:rPr>
              <a:t>T</a:t>
            </a:r>
            <a:r>
              <a:rPr lang="fr-FR" dirty="0"/>
              <a:t>&gt;</a:t>
            </a:r>
          </a:p>
          <a:p>
            <a:pPr marL="0" indent="0">
              <a:buNone/>
            </a:pPr>
            <a:r>
              <a:rPr lang="fr-FR" dirty="0" err="1"/>
              <a:t>void</a:t>
            </a:r>
            <a:r>
              <a:rPr lang="fr-FR" dirty="0"/>
              <a:t> f(</a:t>
            </a:r>
            <a:r>
              <a:rPr lang="fr-FR" dirty="0" err="1">
                <a:solidFill>
                  <a:srgbClr val="00B050"/>
                </a:solidFill>
              </a:rPr>
              <a:t>ParamType</a:t>
            </a:r>
            <a:r>
              <a:rPr lang="fr-FR" dirty="0"/>
              <a:t> param); </a:t>
            </a:r>
          </a:p>
          <a:p>
            <a:pPr marL="0" indent="0">
              <a:buNone/>
            </a:pPr>
            <a:r>
              <a:rPr lang="fr-FR" dirty="0"/>
              <a:t>f(</a:t>
            </a:r>
            <a:r>
              <a:rPr lang="fr-FR" dirty="0" err="1">
                <a:solidFill>
                  <a:srgbClr val="00B050"/>
                </a:solidFill>
              </a:rPr>
              <a:t>expr</a:t>
            </a:r>
            <a:r>
              <a:rPr lang="fr-FR" dirty="0"/>
              <a:t>);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85391-9030-471B-B521-146F70764182}"/>
              </a:ext>
            </a:extLst>
          </p:cNvPr>
          <p:cNvSpPr txBox="1"/>
          <p:nvPr/>
        </p:nvSpPr>
        <p:spPr>
          <a:xfrm>
            <a:off x="6575461" y="1690688"/>
            <a:ext cx="4859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Типы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 тип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expr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могут не совпадать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B99CE-BD33-4C0D-B095-3947CAAE1CA3}"/>
              </a:ext>
            </a:extLst>
          </p:cNvPr>
          <p:cNvSpPr txBox="1"/>
          <p:nvPr/>
        </p:nvSpPr>
        <p:spPr>
          <a:xfrm>
            <a:off x="658915" y="3563937"/>
            <a:ext cx="8135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Если </a:t>
            </a:r>
            <a:r>
              <a:rPr lang="en-US" sz="2400" dirty="0" err="1"/>
              <a:t>ParamType</a:t>
            </a:r>
            <a:r>
              <a:rPr lang="en-US" sz="2400" dirty="0"/>
              <a:t> </a:t>
            </a:r>
            <a:r>
              <a:rPr lang="ru-RU" sz="2400" dirty="0"/>
              <a:t>является указателем или ссылкой</a:t>
            </a:r>
            <a:r>
              <a:rPr lang="en-US" sz="24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Если тип </a:t>
            </a:r>
            <a:r>
              <a:rPr lang="en-US" sz="2400" dirty="0"/>
              <a:t>expr </a:t>
            </a:r>
            <a:r>
              <a:rPr lang="ru-RU" sz="2400" dirty="0"/>
              <a:t>это ссылка, игнорируем </a:t>
            </a:r>
            <a:r>
              <a:rPr lang="ru-RU" sz="2400" dirty="0" err="1"/>
              <a:t>ссылочность</a:t>
            </a:r>
            <a:endParaRPr lang="ru-RU" sz="2400" dirty="0"/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Паттерн-</a:t>
            </a:r>
            <a:r>
              <a:rPr lang="ru-RU" sz="2400" dirty="0" err="1"/>
              <a:t>матчинг</a:t>
            </a:r>
            <a:r>
              <a:rPr lang="ru-RU" sz="2400" dirty="0"/>
              <a:t> типа </a:t>
            </a:r>
            <a:r>
              <a:rPr lang="en-US" sz="2400" dirty="0"/>
              <a:t>expr </a:t>
            </a:r>
            <a:r>
              <a:rPr lang="ru-RU" sz="2400" dirty="0"/>
              <a:t>в </a:t>
            </a:r>
            <a:r>
              <a:rPr lang="en-US" sz="2400" dirty="0" err="1"/>
              <a:t>ParamType</a:t>
            </a:r>
            <a:r>
              <a:rPr lang="en-US" sz="2400" dirty="0"/>
              <a:t> </a:t>
            </a:r>
            <a:r>
              <a:rPr lang="ru-RU" sz="2400" dirty="0"/>
              <a:t>для выяснения </a:t>
            </a:r>
            <a:r>
              <a:rPr lang="en-US" sz="2400" dirty="0"/>
              <a:t>T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8B63A-5A40-471A-99BC-4BAEE3ECAE08}"/>
              </a:ext>
            </a:extLst>
          </p:cNvPr>
          <p:cNvSpPr txBox="1"/>
          <p:nvPr/>
        </p:nvSpPr>
        <p:spPr>
          <a:xfrm>
            <a:off x="651637" y="4899203"/>
            <a:ext cx="1077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Если </a:t>
            </a:r>
            <a:r>
              <a:rPr lang="en-US" sz="2400" dirty="0" err="1"/>
              <a:t>ParamType</a:t>
            </a:r>
            <a:r>
              <a:rPr lang="en-US" sz="2400" dirty="0"/>
              <a:t> </a:t>
            </a:r>
            <a:r>
              <a:rPr lang="ru-RU" sz="2400" b="1" dirty="0"/>
              <a:t>не</a:t>
            </a:r>
            <a:r>
              <a:rPr lang="ru-RU" sz="2400" dirty="0"/>
              <a:t> является ни указателем, ни ссылкой</a:t>
            </a:r>
            <a:r>
              <a:rPr lang="en-US" sz="24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Если тип </a:t>
            </a:r>
            <a:r>
              <a:rPr lang="en-US" sz="2400" dirty="0"/>
              <a:t>expr </a:t>
            </a:r>
            <a:r>
              <a:rPr lang="ru-RU" sz="2400" dirty="0"/>
              <a:t>это ссылка, игнорируем </a:t>
            </a:r>
            <a:r>
              <a:rPr lang="ru-RU" sz="2400" dirty="0" err="1"/>
              <a:t>ссылочность</a:t>
            </a:r>
            <a:r>
              <a:rPr lang="ru-RU" sz="2400" dirty="0"/>
              <a:t> (как и раньше)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Игнорируем константность тоже (так как всё равно создаётся копия объекта)</a:t>
            </a:r>
          </a:p>
        </p:txBody>
      </p:sp>
    </p:spTree>
    <p:extLst>
      <p:ext uri="{BB962C8B-B14F-4D97-AF65-F5344CB8AC3E}">
        <p14:creationId xmlns:p14="http://schemas.microsoft.com/office/powerpoint/2010/main" val="1232476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3251-4961-43DE-BA56-7BF3432F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deduction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05F9-AC49-4825-AB8F-2F848F9F5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передаче массива в функцию, принимающую </a:t>
            </a:r>
            <a:r>
              <a:rPr lang="en-US" dirty="0"/>
              <a:t>T, </a:t>
            </a:r>
            <a:r>
              <a:rPr lang="ru-RU" dirty="0"/>
              <a:t>происходит </a:t>
            </a:r>
            <a:r>
              <a:rPr lang="en-US" dirty="0"/>
              <a:t>decay </a:t>
            </a:r>
            <a:r>
              <a:rPr lang="ru-RU" dirty="0"/>
              <a:t>массива до указателя</a:t>
            </a:r>
          </a:p>
          <a:p>
            <a:r>
              <a:rPr lang="ru-RU" dirty="0"/>
              <a:t>Однако, если функция принимает </a:t>
            </a:r>
            <a:r>
              <a:rPr lang="en-US" dirty="0"/>
              <a:t>T&amp;, </a:t>
            </a:r>
            <a:r>
              <a:rPr lang="ru-RU" dirty="0"/>
              <a:t>то тип </a:t>
            </a:r>
            <a:r>
              <a:rPr lang="en-US" dirty="0"/>
              <a:t>T </a:t>
            </a:r>
            <a:r>
              <a:rPr lang="ru-RU" dirty="0"/>
              <a:t>будет массив соответствующего массива</a:t>
            </a:r>
          </a:p>
          <a:p>
            <a:r>
              <a:rPr lang="ru-RU" dirty="0"/>
              <a:t>Ровно то же самое происходит и с функциями</a:t>
            </a:r>
            <a:r>
              <a:rPr lang="en-US" dirty="0"/>
              <a:t>: </a:t>
            </a:r>
            <a:r>
              <a:rPr lang="ru-RU" dirty="0"/>
              <a:t>либо </a:t>
            </a:r>
            <a:r>
              <a:rPr lang="en-US" dirty="0"/>
              <a:t>decay </a:t>
            </a:r>
            <a:r>
              <a:rPr lang="ru-RU" dirty="0"/>
              <a:t>до указателя, либо ссылка на функцию</a:t>
            </a:r>
          </a:p>
        </p:txBody>
      </p:sp>
    </p:spTree>
    <p:extLst>
      <p:ext uri="{BB962C8B-B14F-4D97-AF65-F5344CB8AC3E}">
        <p14:creationId xmlns:p14="http://schemas.microsoft.com/office/powerpoint/2010/main" val="4185342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011F-CEF6-486F-8D1B-BB8654A0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Перегрузка шаблонных функций (</a:t>
            </a:r>
            <a:r>
              <a:rPr lang="en-US" b="1" dirty="0"/>
              <a:t>overload</a:t>
            </a:r>
            <a:r>
              <a:rPr lang="ru-RU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215D-DED9-456D-B0FD-736BA0EF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b="1" dirty="0"/>
              <a:t>Частное предпочтительнее общего </a:t>
            </a:r>
            <a:r>
              <a:rPr lang="ru-RU" dirty="0"/>
              <a:t>(общее – шаблонный параметр, частное – функция, с конкретным типом)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Точное соответствие лучше приведения типа </a:t>
            </a:r>
            <a:r>
              <a:rPr lang="ru-RU" dirty="0"/>
              <a:t>(если есть точное соответствие типов (даже в более общей версии), то это лучше чем каст)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25875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4053-029F-4869-B289-9490DBB5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Специализация шаблонов классов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D64EC-0389-40B5-B56C-7B9A185EF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251"/>
            <a:ext cx="10515600" cy="1133332"/>
          </a:xfrm>
        </p:spPr>
        <p:txBody>
          <a:bodyPr/>
          <a:lstStyle/>
          <a:p>
            <a:r>
              <a:rPr lang="ru-RU" dirty="0"/>
              <a:t>Можно указать, что реализация класса с некоторым шаблонным параметром отличается от остальных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824CE8-D137-470B-B244-567DFAC59F4F}"/>
              </a:ext>
            </a:extLst>
          </p:cNvPr>
          <p:cNvSpPr txBox="1"/>
          <p:nvPr/>
        </p:nvSpPr>
        <p:spPr>
          <a:xfrm>
            <a:off x="6028360" y="3122120"/>
            <a:ext cx="5369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 &lt;</a:t>
            </a:r>
            <a:r>
              <a:rPr lang="en-US" sz="2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typename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T, </a:t>
            </a:r>
            <a:r>
              <a:rPr lang="en-US" sz="2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typename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U&gt;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 Test {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…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 &lt;</a:t>
            </a:r>
            <a:r>
              <a:rPr lang="en-US" sz="2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typename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T&gt;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 Test&lt;T, std::vector&lt;T&gt;&gt; {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…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C492DD-0F5F-43F3-B3FE-2DEC2E96AA42}"/>
              </a:ext>
            </a:extLst>
          </p:cNvPr>
          <p:cNvSpPr txBox="1"/>
          <p:nvPr/>
        </p:nvSpPr>
        <p:spPr>
          <a:xfrm>
            <a:off x="838200" y="3088727"/>
            <a:ext cx="4596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 &lt;</a:t>
            </a:r>
            <a:r>
              <a:rPr lang="en-US" sz="2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typename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T, </a:t>
            </a:r>
            <a:r>
              <a:rPr lang="en-US" sz="2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typename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U&gt;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 Test {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…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 &lt;&gt;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 Test&lt;int, double&gt; {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…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ABC69-E097-436A-87B5-0AB02D8A7146}"/>
              </a:ext>
            </a:extLst>
          </p:cNvPr>
          <p:cNvSpPr txBox="1"/>
          <p:nvPr/>
        </p:nvSpPr>
        <p:spPr>
          <a:xfrm flipH="1">
            <a:off x="951216" y="6257980"/>
            <a:ext cx="2829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Полная специализация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B068C5-CBEC-4DA4-8644-EC4360A0FB7D}"/>
              </a:ext>
            </a:extLst>
          </p:cNvPr>
          <p:cNvSpPr txBox="1"/>
          <p:nvPr/>
        </p:nvSpPr>
        <p:spPr>
          <a:xfrm flipH="1">
            <a:off x="6753545" y="6257980"/>
            <a:ext cx="3109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Частичная специализация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2992187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C22F-87E7-47C9-AD8E-16AD6251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Специализация шаблонов функции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8C02C-610D-4BBB-85D0-5CC285B91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1324" cy="1236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Запрещена частичная специализация, есть только полная</a:t>
            </a:r>
            <a:r>
              <a:rPr lang="en-US" dirty="0"/>
              <a:t> (</a:t>
            </a:r>
            <a:r>
              <a:rPr lang="ru-RU" dirty="0"/>
              <a:t>она не нужна, есть перегрузка</a:t>
            </a:r>
            <a:r>
              <a:rPr lang="en-US" dirty="0"/>
              <a:t>)</a:t>
            </a:r>
            <a:r>
              <a:rPr lang="ru-RU" dirty="0"/>
              <a:t>. То есть, в специализации </a:t>
            </a:r>
            <a:r>
              <a:rPr lang="ru-RU" b="1" dirty="0"/>
              <a:t>всегда</a:t>
            </a:r>
            <a:r>
              <a:rPr lang="ru-RU" dirty="0"/>
              <a:t> </a:t>
            </a:r>
            <a:r>
              <a:rPr lang="en-US" dirty="0">
                <a:solidFill>
                  <a:srgbClr val="00B050"/>
                </a:solidFill>
              </a:rPr>
              <a:t>template &lt;&gt;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F6A2A-7203-4982-BC8D-1257F43FAA7A}"/>
              </a:ext>
            </a:extLst>
          </p:cNvPr>
          <p:cNvSpPr txBox="1"/>
          <p:nvPr/>
        </p:nvSpPr>
        <p:spPr>
          <a:xfrm>
            <a:off x="3044575" y="3429000"/>
            <a:ext cx="61028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template &lt;</a:t>
            </a:r>
            <a:r>
              <a:rPr lang="en-US" sz="2800" dirty="0" err="1">
                <a:solidFill>
                  <a:srgbClr val="00B050"/>
                </a:solidFill>
              </a:rPr>
              <a:t>typename</a:t>
            </a:r>
            <a:r>
              <a:rPr lang="en-US" sz="2800" dirty="0">
                <a:solidFill>
                  <a:srgbClr val="00B050"/>
                </a:solidFill>
              </a:rPr>
              <a:t> U, </a:t>
            </a:r>
            <a:r>
              <a:rPr lang="en-US" sz="2800" dirty="0" err="1">
                <a:solidFill>
                  <a:srgbClr val="00B050"/>
                </a:solidFill>
              </a:rPr>
              <a:t>typename</a:t>
            </a:r>
            <a:r>
              <a:rPr lang="en-US" sz="2800" dirty="0">
                <a:solidFill>
                  <a:srgbClr val="00B050"/>
                </a:solidFill>
              </a:rPr>
              <a:t> V&gt;</a:t>
            </a:r>
          </a:p>
          <a:p>
            <a:r>
              <a:rPr lang="en-US" sz="2800" dirty="0"/>
              <a:t>void foo(U a, V b) {}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B050"/>
                </a:solidFill>
              </a:rPr>
              <a:t>template &lt;&gt;</a:t>
            </a:r>
          </a:p>
          <a:p>
            <a:r>
              <a:rPr lang="en-US" sz="2800" dirty="0"/>
              <a:t>void foo(</a:t>
            </a:r>
            <a:r>
              <a:rPr lang="en-US" sz="2800" dirty="0">
                <a:solidFill>
                  <a:srgbClr val="00B050"/>
                </a:solidFill>
              </a:rPr>
              <a:t>int</a:t>
            </a:r>
            <a:r>
              <a:rPr lang="en-US" sz="2800" dirty="0"/>
              <a:t> a, </a:t>
            </a:r>
            <a:r>
              <a:rPr lang="en-US" sz="2800" dirty="0">
                <a:solidFill>
                  <a:srgbClr val="00B050"/>
                </a:solidFill>
              </a:rPr>
              <a:t>double</a:t>
            </a:r>
            <a:r>
              <a:rPr lang="en-US" sz="2800" dirty="0"/>
              <a:t> b) {}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45819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A9E30-CB2B-4F00-AF0A-0ED9D2AE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Специализация шаблонов функций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1CADE-837D-4BCA-A36B-AC73BEC84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27849"/>
          </a:xfrm>
        </p:spPr>
        <p:txBody>
          <a:bodyPr/>
          <a:lstStyle/>
          <a:p>
            <a:r>
              <a:rPr lang="ru-RU" dirty="0"/>
              <a:t>Специализация всегда цепляет</a:t>
            </a:r>
            <a:r>
              <a:rPr lang="en-US" dirty="0"/>
              <a:t>/</a:t>
            </a:r>
            <a:r>
              <a:rPr lang="ru-RU" dirty="0"/>
              <a:t>специализирует ближайший подходящий шаблон, который идёт до неё по коду</a:t>
            </a:r>
            <a:r>
              <a:rPr lang="en-US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39E08-5C40-4E59-9061-A6C17383B957}"/>
              </a:ext>
            </a:extLst>
          </p:cNvPr>
          <p:cNvSpPr txBox="1"/>
          <p:nvPr/>
        </p:nvSpPr>
        <p:spPr>
          <a:xfrm>
            <a:off x="3388760" y="2888411"/>
            <a:ext cx="423466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template &lt;</a:t>
            </a:r>
            <a:r>
              <a:rPr lang="en-US" sz="2000" dirty="0" err="1">
                <a:solidFill>
                  <a:srgbClr val="00B050"/>
                </a:solidFill>
              </a:rPr>
              <a:t>typename</a:t>
            </a:r>
            <a:r>
              <a:rPr lang="en-US" sz="2000" dirty="0">
                <a:solidFill>
                  <a:srgbClr val="00B050"/>
                </a:solidFill>
              </a:rPr>
              <a:t> U, </a:t>
            </a:r>
            <a:r>
              <a:rPr lang="en-US" sz="2000" dirty="0" err="1">
                <a:solidFill>
                  <a:srgbClr val="00B050"/>
                </a:solidFill>
              </a:rPr>
              <a:t>typename</a:t>
            </a:r>
            <a:r>
              <a:rPr lang="en-US" sz="2000" dirty="0">
                <a:solidFill>
                  <a:srgbClr val="00B050"/>
                </a:solidFill>
              </a:rPr>
              <a:t> V&gt;</a:t>
            </a:r>
          </a:p>
          <a:p>
            <a:r>
              <a:rPr lang="en-US" sz="2000" dirty="0"/>
              <a:t>void foo(U a, V b) {}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00B050"/>
                </a:solidFill>
              </a:rPr>
              <a:t>template &lt;</a:t>
            </a:r>
            <a:r>
              <a:rPr lang="en-US" sz="2000" dirty="0" err="1">
                <a:solidFill>
                  <a:srgbClr val="00B050"/>
                </a:solidFill>
              </a:rPr>
              <a:t>typename</a:t>
            </a:r>
            <a:r>
              <a:rPr lang="en-US" sz="2000" dirty="0">
                <a:solidFill>
                  <a:srgbClr val="00B050"/>
                </a:solidFill>
              </a:rPr>
              <a:t> U&gt;</a:t>
            </a:r>
          </a:p>
          <a:p>
            <a:r>
              <a:rPr lang="en-US" sz="2000" dirty="0"/>
              <a:t>void foo(U a, U b) {}</a:t>
            </a:r>
            <a:endParaRPr lang="ru-RU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00B050"/>
                </a:solidFill>
              </a:rPr>
              <a:t>template &lt;&gt;</a:t>
            </a:r>
          </a:p>
          <a:p>
            <a:r>
              <a:rPr lang="en-US" sz="2000" dirty="0"/>
              <a:t>void foo(int a, int b) {}</a:t>
            </a:r>
            <a:endParaRPr lang="ru-RU" sz="2000" dirty="0"/>
          </a:p>
          <a:p>
            <a:endParaRPr lang="ru-RU" sz="2000" dirty="0"/>
          </a:p>
          <a:p>
            <a:r>
              <a:rPr lang="en-US" sz="2000" dirty="0">
                <a:solidFill>
                  <a:srgbClr val="00B050"/>
                </a:solidFill>
              </a:rPr>
              <a:t>template &lt;&gt;</a:t>
            </a:r>
          </a:p>
          <a:p>
            <a:r>
              <a:rPr lang="en-US" sz="2000" dirty="0"/>
              <a:t>void foo(int a, double b) {}</a:t>
            </a:r>
            <a:endParaRPr lang="ru-RU" sz="2000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532BA-C306-4F84-9292-85FB13557809}"/>
              </a:ext>
            </a:extLst>
          </p:cNvPr>
          <p:cNvSpPr txBox="1"/>
          <p:nvPr/>
        </p:nvSpPr>
        <p:spPr>
          <a:xfrm>
            <a:off x="7346878" y="5969286"/>
            <a:ext cx="35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Специализация первого шаблона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F2111-5A38-4E81-900D-05314F373EDA}"/>
              </a:ext>
            </a:extLst>
          </p:cNvPr>
          <p:cNvSpPr txBox="1"/>
          <p:nvPr/>
        </p:nvSpPr>
        <p:spPr>
          <a:xfrm>
            <a:off x="7346878" y="5125092"/>
            <a:ext cx="35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Специализация второго шаблона</a:t>
            </a:r>
          </a:p>
        </p:txBody>
      </p:sp>
    </p:spTree>
    <p:extLst>
      <p:ext uri="{BB962C8B-B14F-4D97-AF65-F5344CB8AC3E}">
        <p14:creationId xmlns:p14="http://schemas.microsoft.com/office/powerpoint/2010/main" val="2458129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4E4D-7880-490F-819D-FB50F401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Правила перегрузок при специализации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244E-B89B-441E-B180-F5B219A87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3446"/>
            <a:ext cx="10515600" cy="159566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Сначала выбирается наиболее подходящая нешаблонная функция или шаблон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Затем выбирается специализация шаблона</a:t>
            </a:r>
          </a:p>
        </p:txBody>
      </p:sp>
    </p:spTree>
    <p:extLst>
      <p:ext uri="{BB962C8B-B14F-4D97-AF65-F5344CB8AC3E}">
        <p14:creationId xmlns:p14="http://schemas.microsoft.com/office/powerpoint/2010/main" val="1946192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D86A-03AD-4260-BA11-A77EF8A7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Integral template parameter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73471-DA26-462A-BD91-2F6792A94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0525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Шаблонным параметром может быть не только тип, но и целое число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21A11-B0E1-45E9-B81B-9A6B81E9CE50}"/>
              </a:ext>
            </a:extLst>
          </p:cNvPr>
          <p:cNvSpPr txBox="1"/>
          <p:nvPr/>
        </p:nvSpPr>
        <p:spPr>
          <a:xfrm>
            <a:off x="3799726" y="3534310"/>
            <a:ext cx="45925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template &lt;</a:t>
            </a:r>
            <a:r>
              <a:rPr lang="en-US" sz="2800" dirty="0" err="1">
                <a:solidFill>
                  <a:srgbClr val="00B050"/>
                </a:solidFill>
              </a:rPr>
              <a:t>size_t</a:t>
            </a:r>
            <a:r>
              <a:rPr lang="en-US" sz="2800" dirty="0">
                <a:solidFill>
                  <a:srgbClr val="00B050"/>
                </a:solidFill>
              </a:rPr>
              <a:t> M, </a:t>
            </a:r>
            <a:r>
              <a:rPr lang="en-US" sz="2800" dirty="0" err="1">
                <a:solidFill>
                  <a:srgbClr val="00B050"/>
                </a:solidFill>
              </a:rPr>
              <a:t>size_t</a:t>
            </a:r>
            <a:r>
              <a:rPr lang="en-US" sz="2800" dirty="0">
                <a:solidFill>
                  <a:srgbClr val="00B050"/>
                </a:solidFill>
              </a:rPr>
              <a:t> N&gt;</a:t>
            </a:r>
          </a:p>
          <a:p>
            <a:r>
              <a:rPr lang="en-US" sz="2800" dirty="0"/>
              <a:t>class Matrix {</a:t>
            </a:r>
          </a:p>
          <a:p>
            <a:r>
              <a:rPr lang="en-US" sz="2800" dirty="0"/>
              <a:t>    …</a:t>
            </a:r>
          </a:p>
          <a:p>
            <a:r>
              <a:rPr lang="en-US" sz="2800" dirty="0"/>
              <a:t>};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32132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972</Words>
  <Application>Microsoft Office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Семинар по C++ №14</vt:lpstr>
      <vt:lpstr>Мотивация использования шаблонов</vt:lpstr>
      <vt:lpstr>Простейший пример использования</vt:lpstr>
      <vt:lpstr>Шаблонные классы</vt:lpstr>
      <vt:lpstr>Шаблонные using и переменные</vt:lpstr>
      <vt:lpstr>Сигнатура функции</vt:lpstr>
      <vt:lpstr>Двухэтапная компиляция шаблонов</vt:lpstr>
      <vt:lpstr>Template argument deduction (вывод шаблонных аргументов)</vt:lpstr>
      <vt:lpstr>Правила вывода шаблонных аргументов</vt:lpstr>
      <vt:lpstr>Type deduction</vt:lpstr>
      <vt:lpstr>Type deduction </vt:lpstr>
      <vt:lpstr>Перегрузка шаблонных функций (overload)</vt:lpstr>
      <vt:lpstr>Специализация шаблонов классов</vt:lpstr>
      <vt:lpstr>Специализация шаблонов функции</vt:lpstr>
      <vt:lpstr>Специализация шаблонов функций</vt:lpstr>
      <vt:lpstr>Правила перегрузок при специализации</vt:lpstr>
      <vt:lpstr>Integral template parameter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C++ №14</dc:title>
  <dc:creator>Konstantin Dragun</dc:creator>
  <cp:lastModifiedBy>Konstantin Dragun</cp:lastModifiedBy>
  <cp:revision>22</cp:revision>
  <dcterms:created xsi:type="dcterms:W3CDTF">2024-12-04T19:13:21Z</dcterms:created>
  <dcterms:modified xsi:type="dcterms:W3CDTF">2024-12-05T19:15:51Z</dcterms:modified>
</cp:coreProperties>
</file>