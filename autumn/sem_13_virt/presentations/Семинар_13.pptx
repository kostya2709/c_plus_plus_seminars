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6" r:id="rId9"/>
    <p:sldId id="264" r:id="rId10"/>
    <p:sldId id="262" r:id="rId11"/>
    <p:sldId id="263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884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6726" y="1121375"/>
            <a:ext cx="773854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361" y="642444"/>
            <a:ext cx="6368688" cy="6959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4217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fspecs.linuxfoundation.org/LSB_4.0.0/LSB-CXX-generic/LSB-CXX-generic/baselib.html" TargetMode="External"/><Relationship Id="rId2" Type="http://schemas.openxmlformats.org/officeDocument/2006/relationships/hyperlink" Target="https://shaharmike.com/cpp/vtable-part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cc.gnu.org/onlinedocs/gcc-4.6.2/libstdc++/api/a01094_sourc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Семинар</a:t>
            </a:r>
            <a:r>
              <a:rPr sz="6000" spc="-45" dirty="0"/>
              <a:t> </a:t>
            </a:r>
            <a:r>
              <a:rPr sz="6000" dirty="0"/>
              <a:t>по</a:t>
            </a:r>
            <a:r>
              <a:rPr sz="6000" spc="-45" dirty="0"/>
              <a:t> </a:t>
            </a:r>
            <a:r>
              <a:rPr sz="6000" dirty="0"/>
              <a:t>C++</a:t>
            </a:r>
            <a:r>
              <a:rPr sz="6000" spc="-45" dirty="0"/>
              <a:t> </a:t>
            </a:r>
            <a:r>
              <a:rPr sz="6000" spc="-25" dirty="0"/>
              <a:t>№1</a:t>
            </a:r>
            <a:r>
              <a:rPr lang="ru-RU" sz="6000" spc="-25" dirty="0"/>
              <a:t>3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2890639" y="2715582"/>
            <a:ext cx="64109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Microsoft Sans Serif"/>
                <a:cs typeface="Microsoft Sans Serif"/>
              </a:rPr>
              <a:t>Виртуальные</a:t>
            </a:r>
            <a:r>
              <a:rPr sz="4800" spc="-95" dirty="0">
                <a:latin typeface="Microsoft Sans Serif"/>
                <a:cs typeface="Microsoft Sans Serif"/>
              </a:rPr>
              <a:t> </a:t>
            </a:r>
            <a:r>
              <a:rPr sz="4800" spc="-45" dirty="0">
                <a:latin typeface="Microsoft Sans Serif"/>
                <a:cs typeface="Microsoft Sans Serif"/>
              </a:rPr>
              <a:t>функции</a:t>
            </a:r>
            <a:endParaRPr sz="4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Виртуальная</a:t>
            </a:r>
            <a:r>
              <a:rPr spc="-110" dirty="0"/>
              <a:t> </a:t>
            </a:r>
            <a:r>
              <a:rPr spc="-40" dirty="0"/>
              <a:t>функция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71218" y="1755251"/>
            <a:ext cx="11092181" cy="4679486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lang="ru-RU" spc="-10" dirty="0"/>
              <a:t>Тип, хотя бы с одной виртуальной функцией, является полиморфным</a:t>
            </a:r>
            <a:endParaRPr lang="en-US" spc="-10" dirty="0"/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pc="-10" dirty="0" err="1"/>
              <a:t>Определение</a:t>
            </a:r>
            <a:r>
              <a:rPr spc="-75" dirty="0"/>
              <a:t> </a:t>
            </a:r>
            <a:r>
              <a:rPr dirty="0"/>
              <a:t>типа</a:t>
            </a:r>
            <a:r>
              <a:rPr spc="-70" dirty="0"/>
              <a:t> </a:t>
            </a:r>
            <a:r>
              <a:rPr spc="-20" dirty="0"/>
              <a:t>объекта</a:t>
            </a:r>
            <a:r>
              <a:rPr spc="-70" dirty="0"/>
              <a:t> </a:t>
            </a:r>
            <a:r>
              <a:rPr dirty="0"/>
              <a:t>происходит</a:t>
            </a:r>
            <a:r>
              <a:rPr spc="-70" dirty="0"/>
              <a:t> </a:t>
            </a:r>
            <a:r>
              <a:rPr dirty="0"/>
              <a:t>в</a:t>
            </a:r>
            <a:r>
              <a:rPr spc="-70" dirty="0"/>
              <a:t> </a:t>
            </a:r>
            <a:r>
              <a:rPr spc="-10" dirty="0"/>
              <a:t>рантайме</a:t>
            </a: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dirty="0"/>
              <a:t>override/final</a:t>
            </a:r>
            <a:r>
              <a:rPr spc="-20" dirty="0"/>
              <a:t> </a:t>
            </a:r>
            <a:r>
              <a:rPr dirty="0"/>
              <a:t>-</a:t>
            </a:r>
            <a:r>
              <a:rPr spc="-20" dirty="0"/>
              <a:t> </a:t>
            </a:r>
            <a:r>
              <a:rPr spc="-50" dirty="0"/>
              <a:t>подсказки</a:t>
            </a:r>
            <a:r>
              <a:rPr spc="-20" dirty="0"/>
              <a:t> </a:t>
            </a:r>
            <a:r>
              <a:rPr dirty="0" err="1"/>
              <a:t>для</a:t>
            </a:r>
            <a:r>
              <a:rPr spc="-20" dirty="0"/>
              <a:t> </a:t>
            </a:r>
            <a:r>
              <a:rPr spc="-10" dirty="0" err="1"/>
              <a:t>компилятора</a:t>
            </a:r>
            <a:r>
              <a:rPr lang="en-US" spc="-10" dirty="0"/>
              <a:t>,</a:t>
            </a:r>
            <a:r>
              <a:rPr lang="ru-RU" spc="-10" dirty="0"/>
              <a:t> всегда нужно писать</a:t>
            </a:r>
            <a:endParaRPr spc="-10" dirty="0"/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dirty="0"/>
              <a:t>Не</a:t>
            </a:r>
            <a:r>
              <a:rPr spc="-35" dirty="0"/>
              <a:t> </a:t>
            </a:r>
            <a:r>
              <a:rPr spc="-60" dirty="0"/>
              <a:t>забудьте</a:t>
            </a:r>
            <a:r>
              <a:rPr spc="-30" dirty="0"/>
              <a:t> </a:t>
            </a:r>
            <a:r>
              <a:rPr dirty="0"/>
              <a:t>про</a:t>
            </a:r>
            <a:r>
              <a:rPr spc="-30" dirty="0"/>
              <a:t> </a:t>
            </a:r>
            <a:r>
              <a:rPr dirty="0"/>
              <a:t>виртуальный</a:t>
            </a:r>
            <a:r>
              <a:rPr spc="-30" dirty="0"/>
              <a:t> </a:t>
            </a:r>
            <a:r>
              <a:rPr spc="-10" dirty="0"/>
              <a:t>деструктор</a:t>
            </a: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dirty="0"/>
              <a:t>Приватность</a:t>
            </a:r>
            <a:r>
              <a:rPr spc="-60" dirty="0"/>
              <a:t> </a:t>
            </a:r>
            <a:r>
              <a:rPr dirty="0"/>
              <a:t>не</a:t>
            </a:r>
            <a:r>
              <a:rPr spc="-55" dirty="0"/>
              <a:t> </a:t>
            </a:r>
            <a:r>
              <a:rPr dirty="0"/>
              <a:t>влияет</a:t>
            </a:r>
            <a:r>
              <a:rPr spc="-60" dirty="0"/>
              <a:t> </a:t>
            </a:r>
            <a:r>
              <a:rPr dirty="0"/>
              <a:t>на</a:t>
            </a:r>
            <a:r>
              <a:rPr spc="-55" dirty="0"/>
              <a:t> </a:t>
            </a:r>
            <a:r>
              <a:rPr dirty="0" err="1"/>
              <a:t>выбор</a:t>
            </a:r>
            <a:r>
              <a:rPr spc="-55" dirty="0"/>
              <a:t> </a:t>
            </a:r>
            <a:r>
              <a:rPr spc="-20" dirty="0" err="1"/>
              <a:t>функци</a:t>
            </a:r>
            <a:r>
              <a:rPr lang="ru-RU" spc="-20" dirty="0"/>
              <a:t>й</a:t>
            </a:r>
            <a:r>
              <a:rPr spc="-60" dirty="0"/>
              <a:t> </a:t>
            </a:r>
            <a:r>
              <a:rPr dirty="0"/>
              <a:t>в</a:t>
            </a:r>
            <a:r>
              <a:rPr spc="-55" dirty="0"/>
              <a:t> </a:t>
            </a:r>
            <a:r>
              <a:rPr spc="-10" dirty="0"/>
              <a:t>рантайме</a:t>
            </a:r>
          </a:p>
          <a:p>
            <a:pPr marL="241300" marR="636270" indent="-228600">
              <a:lnSpc>
                <a:spcPts val="2890"/>
              </a:lnSpc>
              <a:spcBef>
                <a:spcPts val="1015"/>
              </a:spcBef>
              <a:buChar char="•"/>
              <a:tabLst>
                <a:tab pos="241300" algn="l"/>
              </a:tabLst>
            </a:pPr>
            <a:r>
              <a:rPr dirty="0"/>
              <a:t>Виртуальными</a:t>
            </a:r>
            <a:r>
              <a:rPr spc="-95" dirty="0"/>
              <a:t> </a:t>
            </a:r>
            <a:r>
              <a:rPr dirty="0"/>
              <a:t>не</a:t>
            </a:r>
            <a:r>
              <a:rPr spc="-90" dirty="0"/>
              <a:t> </a:t>
            </a:r>
            <a:r>
              <a:rPr dirty="0"/>
              <a:t>могут</a:t>
            </a:r>
            <a:r>
              <a:rPr spc="-90" dirty="0"/>
              <a:t> </a:t>
            </a:r>
            <a:r>
              <a:rPr dirty="0"/>
              <a:t>быть</a:t>
            </a:r>
            <a:r>
              <a:rPr spc="-90" dirty="0"/>
              <a:t> </a:t>
            </a:r>
            <a:r>
              <a:rPr spc="-20" dirty="0"/>
              <a:t>статические</a:t>
            </a:r>
            <a:r>
              <a:rPr spc="-90" dirty="0"/>
              <a:t> </a:t>
            </a:r>
            <a:r>
              <a:rPr spc="-20" dirty="0"/>
              <a:t>функции</a:t>
            </a:r>
            <a:r>
              <a:rPr spc="-90" dirty="0"/>
              <a:t> </a:t>
            </a:r>
            <a:r>
              <a:rPr spc="-50" dirty="0"/>
              <a:t>и </a:t>
            </a:r>
            <a:r>
              <a:rPr spc="-10" dirty="0"/>
              <a:t>конструкторы</a:t>
            </a:r>
          </a:p>
          <a:p>
            <a:pPr marL="241300" indent="-228600">
              <a:lnSpc>
                <a:spcPts val="289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dirty="0"/>
              <a:t>Выбор</a:t>
            </a:r>
            <a:r>
              <a:rPr spc="-85" dirty="0"/>
              <a:t> </a:t>
            </a:r>
            <a:r>
              <a:rPr spc="-20" dirty="0"/>
              <a:t>значения</a:t>
            </a:r>
            <a:r>
              <a:rPr spc="-85" dirty="0"/>
              <a:t> </a:t>
            </a:r>
            <a:r>
              <a:rPr spc="-10" dirty="0"/>
              <a:t>аргумента</a:t>
            </a:r>
            <a:r>
              <a:rPr spc="-80" dirty="0"/>
              <a:t> </a:t>
            </a:r>
            <a:r>
              <a:rPr dirty="0"/>
              <a:t>по</a:t>
            </a:r>
            <a:r>
              <a:rPr spc="-85" dirty="0"/>
              <a:t> </a:t>
            </a:r>
            <a:r>
              <a:rPr spc="-20" dirty="0"/>
              <a:t>умолчанию</a:t>
            </a:r>
            <a:r>
              <a:rPr spc="-85" dirty="0"/>
              <a:t> </a:t>
            </a:r>
            <a:r>
              <a:rPr dirty="0"/>
              <a:t>происходит</a:t>
            </a:r>
            <a:r>
              <a:rPr spc="-80" dirty="0"/>
              <a:t> </a:t>
            </a:r>
            <a:r>
              <a:rPr spc="-25" dirty="0"/>
              <a:t>во </a:t>
            </a:r>
            <a:r>
              <a:rPr dirty="0" err="1"/>
              <a:t>время</a:t>
            </a:r>
            <a:r>
              <a:rPr spc="-75" dirty="0"/>
              <a:t> </a:t>
            </a:r>
            <a:r>
              <a:rPr spc="-10" dirty="0" err="1"/>
              <a:t>компиляции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dirty="0"/>
              <a:t>dynamic </a:t>
            </a:r>
            <a:r>
              <a:rPr spc="-20" dirty="0"/>
              <a:t>cast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5"/>
            <a:ext cx="8786495" cy="318356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5080" indent="-228600">
              <a:lnSpc>
                <a:spcPts val="289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r>
              <a:rPr sz="2800" spc="-50" dirty="0">
                <a:latin typeface="Microsoft Sans Serif"/>
                <a:cs typeface="Microsoft Sans Serif"/>
              </a:rPr>
              <a:t>Только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для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полиморфных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типов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(есть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хотя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бы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одна </a:t>
            </a:r>
            <a:r>
              <a:rPr sz="2800" dirty="0">
                <a:latin typeface="Microsoft Sans Serif"/>
                <a:cs typeface="Microsoft Sans Serif"/>
              </a:rPr>
              <a:t>виртуальная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функция</a:t>
            </a:r>
            <a:r>
              <a:rPr sz="2800" spc="-10" dirty="0">
                <a:latin typeface="Microsoft Sans Serif"/>
                <a:cs typeface="Microsoft Sans Serif"/>
              </a:rPr>
              <a:t>)</a:t>
            </a:r>
            <a:endParaRPr lang="ru-RU" sz="28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585"/>
              </a:spcBef>
              <a:buFontTx/>
              <a:buChar char="•"/>
              <a:tabLst>
                <a:tab pos="241300" algn="l"/>
              </a:tabLst>
            </a:pPr>
            <a:r>
              <a:rPr lang="ru-RU" sz="2800" spc="-20" dirty="0">
                <a:latin typeface="Microsoft Sans Serif"/>
                <a:cs typeface="Microsoft Sans Serif"/>
              </a:rPr>
              <a:t>Каст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вниз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по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иерархии</a:t>
            </a:r>
            <a:r>
              <a:rPr lang="ru-RU" sz="2800" spc="-85" dirty="0"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latin typeface="Microsoft Sans Serif"/>
                <a:cs typeface="Microsoft Sans Serif"/>
              </a:rPr>
              <a:t>наследования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09"/>
              </a:spcBef>
              <a:buChar char="•"/>
              <a:tabLst>
                <a:tab pos="241300" algn="l"/>
              </a:tabLst>
            </a:pPr>
            <a:r>
              <a:rPr sz="2800" spc="-35" dirty="0">
                <a:latin typeface="Microsoft Sans Serif"/>
                <a:cs typeface="Microsoft Sans Serif"/>
              </a:rPr>
              <a:t>Для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указателей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ссылок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300" lvl="2" indent="-228600">
              <a:spcBef>
                <a:spcPts val="509"/>
              </a:spcBef>
              <a:buFontTx/>
              <a:buChar char="•"/>
              <a:tabLst>
                <a:tab pos="241300" algn="l"/>
              </a:tabLst>
            </a:pPr>
            <a:r>
              <a:rPr lang="ru-RU" sz="2800" dirty="0">
                <a:latin typeface="Microsoft Sans Serif"/>
                <a:cs typeface="Microsoft Sans Serif"/>
              </a:rPr>
              <a:t>Если ошиблись, то либо </a:t>
            </a:r>
            <a:r>
              <a:rPr lang="en-US" sz="2800" dirty="0" err="1">
                <a:latin typeface="Microsoft Sans Serif"/>
                <a:cs typeface="Microsoft Sans Serif"/>
              </a:rPr>
              <a:t>nullptr</a:t>
            </a:r>
            <a:r>
              <a:rPr lang="en-US" sz="2800" dirty="0">
                <a:latin typeface="Microsoft Sans Serif"/>
                <a:cs typeface="Microsoft Sans Serif"/>
              </a:rPr>
              <a:t> </a:t>
            </a:r>
            <a:r>
              <a:rPr lang="ru-RU" sz="2800" dirty="0">
                <a:latin typeface="Microsoft Sans Serif"/>
                <a:cs typeface="Microsoft Sans Serif"/>
              </a:rPr>
              <a:t>(для указателей) или исключение </a:t>
            </a:r>
            <a:r>
              <a:rPr lang="en-US" sz="2800" spc="-10" dirty="0">
                <a:latin typeface="Microsoft Sans Serif"/>
                <a:cs typeface="Microsoft Sans Serif"/>
              </a:rPr>
              <a:t>std::</a:t>
            </a:r>
            <a:r>
              <a:rPr lang="en-US" sz="2800" spc="-10" dirty="0" err="1">
                <a:latin typeface="Microsoft Sans Serif"/>
                <a:cs typeface="Microsoft Sans Serif"/>
              </a:rPr>
              <a:t>bad_cast</a:t>
            </a:r>
            <a:r>
              <a:rPr lang="ru-RU" sz="2800" dirty="0">
                <a:latin typeface="Microsoft Sans Serif"/>
                <a:cs typeface="Microsoft Sans Serif"/>
              </a:rPr>
              <a:t> (для ссылок)</a:t>
            </a:r>
            <a:endParaRPr sz="280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55" dirty="0" err="1">
                <a:latin typeface="Microsoft Sans Serif"/>
                <a:cs typeface="Microsoft Sans Serif"/>
              </a:rPr>
              <a:t>Делает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все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проверки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рантайме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515B-F0F3-4E46-A2CB-773F31C8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RTTI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707A1-C685-49BC-A2D1-45524E546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9663430" cy="8617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dirty="0"/>
              <a:t>Хранится служебная информация про тип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9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Виртуальные</a:t>
            </a:r>
            <a:r>
              <a:rPr spc="-90" dirty="0"/>
              <a:t> </a:t>
            </a:r>
            <a:r>
              <a:rPr spc="-40" dirty="0"/>
              <a:t>функции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0004" y="1622651"/>
            <a:ext cx="4053793" cy="42159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0009" y="5916738"/>
            <a:ext cx="2273785" cy="7680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9616" y="5916738"/>
            <a:ext cx="2300998" cy="7806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1357" y="1622651"/>
            <a:ext cx="4117519" cy="4215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Посмотрим</a:t>
            </a:r>
            <a:r>
              <a:rPr spc="-114" dirty="0"/>
              <a:t> </a:t>
            </a:r>
            <a:r>
              <a:rPr dirty="0"/>
              <a:t>в</a:t>
            </a:r>
            <a:r>
              <a:rPr spc="-110" dirty="0"/>
              <a:t> </a:t>
            </a:r>
            <a:r>
              <a:rPr spc="-25" dirty="0"/>
              <a:t>gdb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998" y="1864457"/>
            <a:ext cx="10317763" cy="23409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7998" y="4640035"/>
            <a:ext cx="10317763" cy="2047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Пояснение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37988"/>
            <a:ext cx="4479290" cy="3716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300" spc="-10" dirty="0">
                <a:latin typeface="Microsoft Sans Serif"/>
                <a:cs typeface="Microsoft Sans Serif"/>
              </a:rPr>
              <a:t>Derived: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top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offset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Derived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typeinfo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Derived::foo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Base::foo_not_override</a:t>
            </a:r>
            <a:endParaRPr sz="23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Char char="•"/>
              <a:tabLst>
                <a:tab pos="241300" algn="l"/>
              </a:tabLst>
            </a:pPr>
            <a:r>
              <a:rPr sz="2300" spc="-10" dirty="0">
                <a:latin typeface="Microsoft Sans Serif"/>
                <a:cs typeface="Microsoft Sans Serif"/>
              </a:rPr>
              <a:t>Base: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top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offset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Base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typeinfo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Base::foo</a:t>
            </a:r>
            <a:endParaRPr sz="23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10"/>
              </a:spcBef>
              <a:buChar char="•"/>
              <a:tabLst>
                <a:tab pos="698500" algn="l"/>
              </a:tabLst>
            </a:pPr>
            <a:r>
              <a:rPr sz="2300" dirty="0">
                <a:latin typeface="Microsoft Sans Serif"/>
                <a:cs typeface="Microsoft Sans Serif"/>
              </a:rPr>
              <a:t>ptr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to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Base::foo_not_override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6141" y="802820"/>
            <a:ext cx="8475858" cy="17021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2BD522-AB46-41B3-B7D3-E3D641F0F23B}"/>
              </a:ext>
            </a:extLst>
          </p:cNvPr>
          <p:cNvSpPr txBox="1"/>
          <p:nvPr/>
        </p:nvSpPr>
        <p:spPr>
          <a:xfrm>
            <a:off x="7239000" y="4352990"/>
            <a:ext cx="480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print </a:t>
            </a:r>
            <a:r>
              <a:rPr lang="en-US" sz="2400" dirty="0" err="1"/>
              <a:t>asm-demangle</a:t>
            </a:r>
            <a:r>
              <a:rPr lang="en-US" sz="2400" dirty="0"/>
              <a:t>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set print </a:t>
            </a:r>
            <a:r>
              <a:rPr lang="en-US" sz="2400" dirty="0" err="1"/>
              <a:t>demangle</a:t>
            </a:r>
            <a:r>
              <a:rPr lang="en-US" sz="2400" dirty="0"/>
              <a:t>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info symbol 0x…</a:t>
            </a:r>
            <a:endParaRPr lang="ru-RU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C544-71A6-43CB-BA65-A7855C61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2209439" cy="695961"/>
          </a:xfrm>
        </p:spPr>
        <p:txBody>
          <a:bodyPr/>
          <a:lstStyle/>
          <a:p>
            <a:r>
              <a:rPr lang="en-US" dirty="0"/>
              <a:t>Example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BC2A8-2C0E-4540-8EAF-D623A5710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0200" y="1524000"/>
            <a:ext cx="9663430" cy="5170646"/>
          </a:xfrm>
        </p:spPr>
        <p:txBody>
          <a:bodyPr/>
          <a:lstStyle/>
          <a:p>
            <a:r>
              <a:rPr lang="en-US" sz="2400" dirty="0"/>
              <a:t>class Base {       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public: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    virtual void foo();</a:t>
            </a:r>
          </a:p>
          <a:p>
            <a:r>
              <a:rPr lang="en-US" sz="2400" dirty="0"/>
              <a:t>    void </a:t>
            </a:r>
            <a:r>
              <a:rPr lang="en-US" sz="2400" dirty="0" err="1"/>
              <a:t>base_foo_not_virtual</a:t>
            </a:r>
            <a:r>
              <a:rPr lang="en-US" sz="2400" dirty="0"/>
              <a:t>();</a:t>
            </a:r>
          </a:p>
          <a:p>
            <a:r>
              <a:rPr lang="en-US" sz="2400" dirty="0"/>
              <a:t>    virtual void </a:t>
            </a:r>
            <a:r>
              <a:rPr lang="en-US" sz="2400" dirty="0" err="1"/>
              <a:t>base_not_overriden</a:t>
            </a:r>
            <a:r>
              <a:rPr lang="en-US" sz="2400" dirty="0"/>
              <a:t>();</a:t>
            </a:r>
          </a:p>
          <a:p>
            <a:r>
              <a:rPr lang="en-US" sz="2400" dirty="0"/>
              <a:t>    int </a:t>
            </a:r>
            <a:r>
              <a:rPr lang="en-US" sz="2400" dirty="0" err="1"/>
              <a:t>base_field</a:t>
            </a:r>
            <a:r>
              <a:rPr lang="en-US" sz="2400" dirty="0"/>
              <a:t>;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};       </a:t>
            </a:r>
          </a:p>
          <a:p>
            <a:r>
              <a:rPr lang="en-US" sz="24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class Derived : public Base {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public: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    void foo() override;</a:t>
            </a:r>
          </a:p>
          <a:p>
            <a:r>
              <a:rPr lang="en-US" sz="2400" dirty="0"/>
              <a:t>    void </a:t>
            </a:r>
            <a:r>
              <a:rPr lang="en-US" sz="2400" dirty="0" err="1"/>
              <a:t>derived_foo_not_virtual</a:t>
            </a:r>
            <a:r>
              <a:rPr lang="en-US" sz="2400" dirty="0"/>
              <a:t>(); </a:t>
            </a:r>
          </a:p>
          <a:p>
            <a:r>
              <a:rPr lang="en-US" sz="2400" dirty="0"/>
              <a:t>    int </a:t>
            </a:r>
            <a:r>
              <a:rPr lang="en-US" sz="2400" dirty="0" err="1"/>
              <a:t>derived_field</a:t>
            </a:r>
            <a:r>
              <a:rPr lang="en-US" sz="2400" dirty="0"/>
              <a:t>;                                                                                                                                                    </a:t>
            </a:r>
          </a:p>
          <a:p>
            <a:r>
              <a:rPr lang="en-US" sz="2400" dirty="0"/>
              <a:t>};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7703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D147-AA79-449C-A8C4-BD4A55B27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61" y="642444"/>
            <a:ext cx="1904639" cy="695961"/>
          </a:xfrm>
        </p:spPr>
        <p:txBody>
          <a:bodyPr/>
          <a:lstStyle/>
          <a:p>
            <a:r>
              <a:rPr lang="en-US" dirty="0"/>
              <a:t>Layout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46E07-1120-4F88-B2EB-824D22638002}"/>
              </a:ext>
            </a:extLst>
          </p:cNvPr>
          <p:cNvSpPr txBox="1"/>
          <p:nvPr/>
        </p:nvSpPr>
        <p:spPr>
          <a:xfrm>
            <a:off x="1370092" y="318209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433BB9-9527-4AA7-BC37-B31D45BDCFE0}"/>
              </a:ext>
            </a:extLst>
          </p:cNvPr>
          <p:cNvSpPr txBox="1"/>
          <p:nvPr/>
        </p:nvSpPr>
        <p:spPr>
          <a:xfrm>
            <a:off x="1269676" y="5190252"/>
            <a:ext cx="99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Derived</a:t>
            </a:r>
            <a:endParaRPr lang="ru-RU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8FCF93-D5E9-44B2-885A-2F00B4858D02}"/>
              </a:ext>
            </a:extLst>
          </p:cNvPr>
          <p:cNvGrpSpPr/>
          <p:nvPr/>
        </p:nvGrpSpPr>
        <p:grpSpPr>
          <a:xfrm>
            <a:off x="64868" y="2066542"/>
            <a:ext cx="3032746" cy="1039037"/>
            <a:chOff x="921488" y="2281094"/>
            <a:chExt cx="1539695" cy="69596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62ED7CE-8667-4682-A823-492C3A313C02}"/>
                </a:ext>
              </a:extLst>
            </p:cNvPr>
            <p:cNvSpPr/>
            <p:nvPr/>
          </p:nvSpPr>
          <p:spPr>
            <a:xfrm>
              <a:off x="921488" y="2281094"/>
              <a:ext cx="1539695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5E0EE0-4600-45B0-A586-AE46FB094793}"/>
                </a:ext>
              </a:extLst>
            </p:cNvPr>
            <p:cNvSpPr/>
            <p:nvPr/>
          </p:nvSpPr>
          <p:spPr>
            <a:xfrm>
              <a:off x="921488" y="2281095"/>
              <a:ext cx="762000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VPTR Base</a:t>
              </a:r>
              <a:endParaRPr lang="ru-RU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FBDFAB-E12B-4512-A9FF-571A8CCFFA90}"/>
                </a:ext>
              </a:extLst>
            </p:cNvPr>
            <p:cNvSpPr/>
            <p:nvPr/>
          </p:nvSpPr>
          <p:spPr>
            <a:xfrm>
              <a:off x="1991832" y="2283739"/>
              <a:ext cx="469351" cy="6933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Base field</a:t>
              </a:r>
              <a:endParaRPr lang="ru-RU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74AE2C7-03CC-422A-85FA-C3DA8E7F4FAE}"/>
              </a:ext>
            </a:extLst>
          </p:cNvPr>
          <p:cNvGrpSpPr/>
          <p:nvPr/>
        </p:nvGrpSpPr>
        <p:grpSpPr>
          <a:xfrm>
            <a:off x="152400" y="4151618"/>
            <a:ext cx="3032746" cy="1039036"/>
            <a:chOff x="921488" y="4381675"/>
            <a:chExt cx="1547542" cy="6959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B19215-5A54-4FE7-8B40-1943DEF33C68}"/>
                </a:ext>
              </a:extLst>
            </p:cNvPr>
            <p:cNvSpPr/>
            <p:nvPr/>
          </p:nvSpPr>
          <p:spPr>
            <a:xfrm>
              <a:off x="921488" y="4381675"/>
              <a:ext cx="1539695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F2F891-5DB9-4CD0-9228-34EB1D31D87D}"/>
                </a:ext>
              </a:extLst>
            </p:cNvPr>
            <p:cNvSpPr/>
            <p:nvPr/>
          </p:nvSpPr>
          <p:spPr>
            <a:xfrm>
              <a:off x="921488" y="4381675"/>
              <a:ext cx="762000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VPTR Derived</a:t>
              </a:r>
              <a:endParaRPr lang="ru-RU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BB217C-25A1-47E9-BB60-16DB3CF57C15}"/>
                </a:ext>
              </a:extLst>
            </p:cNvPr>
            <p:cNvSpPr/>
            <p:nvPr/>
          </p:nvSpPr>
          <p:spPr>
            <a:xfrm>
              <a:off x="1683488" y="4381675"/>
              <a:ext cx="365841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Base field</a:t>
              </a:r>
              <a:endParaRPr lang="ru-RU" sz="14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ECE45F8-AD69-424E-A7F4-988B9A872150}"/>
                </a:ext>
              </a:extLst>
            </p:cNvPr>
            <p:cNvSpPr/>
            <p:nvPr/>
          </p:nvSpPr>
          <p:spPr>
            <a:xfrm>
              <a:off x="2049328" y="4381675"/>
              <a:ext cx="419702" cy="6959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Derived field</a:t>
              </a:r>
              <a:endParaRPr lang="ru-RU" sz="14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AF773E1-2EC0-4A80-87DF-EB189968E29F}"/>
              </a:ext>
            </a:extLst>
          </p:cNvPr>
          <p:cNvSpPr txBox="1"/>
          <p:nvPr/>
        </p:nvSpPr>
        <p:spPr>
          <a:xfrm>
            <a:off x="4493752" y="3015590"/>
            <a:ext cx="175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vtable</a:t>
            </a:r>
            <a:r>
              <a:rPr lang="en-US" dirty="0"/>
              <a:t> for Base</a:t>
            </a:r>
            <a:endParaRPr lang="ru-RU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C96B093-A7F3-4E2E-83B1-A372058826C7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27139" y="3123533"/>
            <a:ext cx="1146982" cy="3203153"/>
          </a:xfrm>
          <a:prstGeom prst="bentConnector4">
            <a:avLst>
              <a:gd name="adj1" fmla="val -19931"/>
              <a:gd name="adj2" fmla="val 8389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C47AC1E-D55C-4712-8852-1B10322B40E2}"/>
              </a:ext>
            </a:extLst>
          </p:cNvPr>
          <p:cNvCxnSpPr>
            <a:stCxn id="11" idx="0"/>
            <a:endCxn id="26" idx="1"/>
          </p:cNvCxnSpPr>
          <p:nvPr/>
        </p:nvCxnSpPr>
        <p:spPr>
          <a:xfrm rot="16200000" flipH="1">
            <a:off x="2355956" y="525913"/>
            <a:ext cx="205620" cy="3286880"/>
          </a:xfrm>
          <a:prstGeom prst="bentConnector4">
            <a:avLst>
              <a:gd name="adj1" fmla="val -111176"/>
              <a:gd name="adj2" fmla="val 7467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BFC3C06-7DA3-4F06-9DBA-8487D32D2180}"/>
              </a:ext>
            </a:extLst>
          </p:cNvPr>
          <p:cNvGrpSpPr/>
          <p:nvPr/>
        </p:nvGrpSpPr>
        <p:grpSpPr>
          <a:xfrm>
            <a:off x="4102206" y="4151618"/>
            <a:ext cx="2558132" cy="2457512"/>
            <a:chOff x="8753875" y="990599"/>
            <a:chExt cx="2558132" cy="245751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5C0467-4C71-421D-8474-6D7CD68A832B}"/>
                </a:ext>
              </a:extLst>
            </p:cNvPr>
            <p:cNvSpPr txBox="1"/>
            <p:nvPr/>
          </p:nvSpPr>
          <p:spPr>
            <a:xfrm>
              <a:off x="8995735" y="3078779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vtable</a:t>
              </a:r>
              <a:r>
                <a:rPr lang="en-US" dirty="0"/>
                <a:t> for Derived</a:t>
              </a:r>
              <a:endParaRPr lang="ru-RU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AE47198-4761-4FE4-8FBA-5F5CA65D7E04}"/>
                </a:ext>
              </a:extLst>
            </p:cNvPr>
            <p:cNvSpPr/>
            <p:nvPr/>
          </p:nvSpPr>
          <p:spPr>
            <a:xfrm>
              <a:off x="8753875" y="1895177"/>
              <a:ext cx="2558131" cy="4848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Derived::foo()</a:t>
              </a:r>
              <a:endParaRPr lang="ru-RU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D5BE6D9-1662-471F-99D0-647992FC0732}"/>
                </a:ext>
              </a:extLst>
            </p:cNvPr>
            <p:cNvSpPr/>
            <p:nvPr/>
          </p:nvSpPr>
          <p:spPr>
            <a:xfrm>
              <a:off x="8753876" y="1447800"/>
              <a:ext cx="2558131" cy="4572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typeinfo</a:t>
              </a:r>
              <a:r>
                <a:rPr lang="en-US" dirty="0"/>
                <a:t> Derived</a:t>
              </a:r>
              <a:endParaRPr lang="ru-RU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D84BAFC-38BA-410C-9604-15C63DF79EEB}"/>
                </a:ext>
              </a:extLst>
            </p:cNvPr>
            <p:cNvSpPr/>
            <p:nvPr/>
          </p:nvSpPr>
          <p:spPr>
            <a:xfrm>
              <a:off x="8753875" y="990599"/>
              <a:ext cx="2558132" cy="45720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nullptr</a:t>
              </a:r>
              <a:endParaRPr lang="ru-RU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DD77174-45ED-4514-8AEB-56EFEE44E4EB}"/>
              </a:ext>
            </a:extLst>
          </p:cNvPr>
          <p:cNvGrpSpPr/>
          <p:nvPr/>
        </p:nvGrpSpPr>
        <p:grpSpPr>
          <a:xfrm>
            <a:off x="4102206" y="1127170"/>
            <a:ext cx="2558133" cy="1860389"/>
            <a:chOff x="5071728" y="987878"/>
            <a:chExt cx="2558133" cy="186038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AFD1D26-A597-421C-8801-24DF950D1FC5}"/>
                </a:ext>
              </a:extLst>
            </p:cNvPr>
            <p:cNvGrpSpPr/>
            <p:nvPr/>
          </p:nvGrpSpPr>
          <p:grpSpPr>
            <a:xfrm>
              <a:off x="5071728" y="987878"/>
              <a:ext cx="2558133" cy="1387396"/>
              <a:chOff x="5867397" y="3747189"/>
              <a:chExt cx="2558133" cy="1387396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2831714-7ACA-4A52-82FA-C4AAA3834C8E}"/>
                  </a:ext>
                </a:extLst>
              </p:cNvPr>
              <p:cNvSpPr/>
              <p:nvPr/>
            </p:nvSpPr>
            <p:spPr>
              <a:xfrm>
                <a:off x="5867397" y="4649778"/>
                <a:ext cx="2558131" cy="48480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Base::foo()</a:t>
                </a:r>
                <a:endParaRPr lang="ru-RU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EFF8550-191C-4CFB-ABD3-F225C8578B59}"/>
                  </a:ext>
                </a:extLst>
              </p:cNvPr>
              <p:cNvSpPr/>
              <p:nvPr/>
            </p:nvSpPr>
            <p:spPr>
              <a:xfrm>
                <a:off x="5867399" y="4204390"/>
                <a:ext cx="2558131" cy="4572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typeinfo</a:t>
                </a:r>
                <a:r>
                  <a:rPr lang="en-US" dirty="0"/>
                  <a:t> Base</a:t>
                </a:r>
                <a:endParaRPr lang="ru-RU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64D4A04-2A50-4DC2-B918-B048834EF3B3}"/>
                  </a:ext>
                </a:extLst>
              </p:cNvPr>
              <p:cNvSpPr/>
              <p:nvPr/>
            </p:nvSpPr>
            <p:spPr>
              <a:xfrm>
                <a:off x="5867398" y="3747189"/>
                <a:ext cx="2558132" cy="45720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nullptr</a:t>
                </a:r>
                <a:endParaRPr lang="ru-RU" dirty="0"/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35B59C4-C99C-4820-ADE3-CD8819A7FB7F}"/>
                </a:ext>
              </a:extLst>
            </p:cNvPr>
            <p:cNvSpPr/>
            <p:nvPr/>
          </p:nvSpPr>
          <p:spPr>
            <a:xfrm>
              <a:off x="5071728" y="2363460"/>
              <a:ext cx="2558131" cy="48480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Base::</a:t>
              </a:r>
              <a:r>
                <a:rPr lang="en-US" sz="1600" dirty="0" err="1"/>
                <a:t>base_not_overriden</a:t>
              </a:r>
              <a:r>
                <a:rPr lang="en-US" sz="1600" dirty="0"/>
                <a:t>()</a:t>
              </a:r>
              <a:endParaRPr lang="ru-RU" sz="1600" dirty="0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D2B69777-5776-4C5C-B3DA-13014A37AE50}"/>
              </a:ext>
            </a:extLst>
          </p:cNvPr>
          <p:cNvSpPr/>
          <p:nvPr/>
        </p:nvSpPr>
        <p:spPr>
          <a:xfrm>
            <a:off x="7391400" y="987878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Helper class</a:t>
            </a:r>
            <a:endParaRPr lang="ru-RU" sz="1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8A2E12A-50A1-4719-B55F-1FA1A563B76B}"/>
              </a:ext>
            </a:extLst>
          </p:cNvPr>
          <p:cNvSpPr/>
          <p:nvPr/>
        </p:nvSpPr>
        <p:spPr>
          <a:xfrm>
            <a:off x="7391400" y="1472685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string name </a:t>
            </a:r>
            <a:r>
              <a:rPr lang="en-US" sz="1600" dirty="0" err="1"/>
              <a:t>ptr</a:t>
            </a:r>
            <a:endParaRPr lang="ru-RU" sz="1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03AD9F-B897-44DE-96F2-EC26658C0641}"/>
              </a:ext>
            </a:extLst>
          </p:cNvPr>
          <p:cNvSpPr txBox="1"/>
          <p:nvPr/>
        </p:nvSpPr>
        <p:spPr>
          <a:xfrm>
            <a:off x="10261492" y="1536599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4Base</a:t>
            </a:r>
            <a:endParaRPr lang="ru-RU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764BD7-3A10-4CF3-B8CE-E01E3CD0170D}"/>
              </a:ext>
            </a:extLst>
          </p:cNvPr>
          <p:cNvCxnSpPr>
            <a:stCxn id="54" idx="3"/>
            <a:endCxn id="67" idx="1"/>
          </p:cNvCxnSpPr>
          <p:nvPr/>
        </p:nvCxnSpPr>
        <p:spPr>
          <a:xfrm>
            <a:off x="9949531" y="1715089"/>
            <a:ext cx="311961" cy="61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94E18B23-A45D-4349-BB9C-5665E330C01C}"/>
              </a:ext>
            </a:extLst>
          </p:cNvPr>
          <p:cNvCxnSpPr>
            <a:stCxn id="30" idx="3"/>
            <a:endCxn id="52" idx="0"/>
          </p:cNvCxnSpPr>
          <p:nvPr/>
        </p:nvCxnSpPr>
        <p:spPr>
          <a:xfrm flipV="1">
            <a:off x="6660339" y="987878"/>
            <a:ext cx="2010127" cy="825094"/>
          </a:xfrm>
          <a:prstGeom prst="bentConnector4">
            <a:avLst>
              <a:gd name="adj1" fmla="val 18184"/>
              <a:gd name="adj2" fmla="val 12770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21ED35BD-465D-4237-BE74-AF6582AB1D47}"/>
              </a:ext>
            </a:extLst>
          </p:cNvPr>
          <p:cNvSpPr/>
          <p:nvPr/>
        </p:nvSpPr>
        <p:spPr>
          <a:xfrm>
            <a:off x="7086600" y="4151618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Helper class</a:t>
            </a:r>
            <a:endParaRPr lang="ru-RU" sz="1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E103C51-6B8C-444A-814C-215A38ED6075}"/>
              </a:ext>
            </a:extLst>
          </p:cNvPr>
          <p:cNvSpPr/>
          <p:nvPr/>
        </p:nvSpPr>
        <p:spPr>
          <a:xfrm>
            <a:off x="7086600" y="4636425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string name </a:t>
            </a:r>
            <a:r>
              <a:rPr lang="en-US" sz="1600" dirty="0" err="1"/>
              <a:t>ptr</a:t>
            </a:r>
            <a:endParaRPr lang="ru-RU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A81A745-9EC0-44F3-9F47-7880B610A5C3}"/>
              </a:ext>
            </a:extLst>
          </p:cNvPr>
          <p:cNvSpPr txBox="1"/>
          <p:nvPr/>
        </p:nvSpPr>
        <p:spPr>
          <a:xfrm>
            <a:off x="9956692" y="470033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7Derived</a:t>
            </a:r>
            <a:endParaRPr lang="ru-RU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7D5D832-F44B-4AC8-A065-C4623F76D764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>
            <a:off x="9644731" y="4878829"/>
            <a:ext cx="311961" cy="61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B832C8CA-1550-4411-8932-FEE76E2B933A}"/>
              </a:ext>
            </a:extLst>
          </p:cNvPr>
          <p:cNvCxnSpPr>
            <a:cxnSpLocks/>
            <a:stCxn id="38" idx="3"/>
            <a:endCxn id="79" idx="0"/>
          </p:cNvCxnSpPr>
          <p:nvPr/>
        </p:nvCxnSpPr>
        <p:spPr>
          <a:xfrm flipV="1">
            <a:off x="6660338" y="4151618"/>
            <a:ext cx="1705328" cy="685802"/>
          </a:xfrm>
          <a:prstGeom prst="bentConnector4">
            <a:avLst>
              <a:gd name="adj1" fmla="val 12498"/>
              <a:gd name="adj2" fmla="val 133333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11740C06-6EE5-4BFD-9869-44F4B75DB551}"/>
              </a:ext>
            </a:extLst>
          </p:cNvPr>
          <p:cNvSpPr/>
          <p:nvPr/>
        </p:nvSpPr>
        <p:spPr>
          <a:xfrm>
            <a:off x="7086600" y="5127409"/>
            <a:ext cx="2558131" cy="465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typeinfo</a:t>
            </a:r>
            <a:r>
              <a:rPr lang="en-US" sz="1600" dirty="0"/>
              <a:t> Base</a:t>
            </a:r>
            <a:endParaRPr lang="ru-RU" sz="1600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684A02E6-6024-4A55-B979-3A9B7E538EBD}"/>
              </a:ext>
            </a:extLst>
          </p:cNvPr>
          <p:cNvCxnSpPr>
            <a:stCxn id="88" idx="3"/>
            <a:endCxn id="52" idx="0"/>
          </p:cNvCxnSpPr>
          <p:nvPr/>
        </p:nvCxnSpPr>
        <p:spPr>
          <a:xfrm flipH="1" flipV="1">
            <a:off x="8670466" y="987878"/>
            <a:ext cx="974265" cy="4372190"/>
          </a:xfrm>
          <a:prstGeom prst="bentConnector4">
            <a:avLst>
              <a:gd name="adj1" fmla="val -197714"/>
              <a:gd name="adj2" fmla="val 10522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27BD018-60CB-47CE-AC84-B215B1FFF3A8}"/>
              </a:ext>
            </a:extLst>
          </p:cNvPr>
          <p:cNvSpPr txBox="1"/>
          <p:nvPr/>
        </p:nvSpPr>
        <p:spPr>
          <a:xfrm>
            <a:off x="7935501" y="1991462"/>
            <a:ext cx="170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typeinfo</a:t>
            </a:r>
            <a:r>
              <a:rPr lang="en-US" dirty="0"/>
              <a:t> Base</a:t>
            </a:r>
            <a:endParaRPr lang="ru-RU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2C8813-915F-4310-AF75-DADF03B97163}"/>
              </a:ext>
            </a:extLst>
          </p:cNvPr>
          <p:cNvSpPr txBox="1"/>
          <p:nvPr/>
        </p:nvSpPr>
        <p:spPr>
          <a:xfrm flipH="1">
            <a:off x="7416278" y="5651615"/>
            <a:ext cx="208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typeinfo</a:t>
            </a:r>
            <a:r>
              <a:rPr lang="en-US" dirty="0"/>
              <a:t> Derived</a:t>
            </a:r>
            <a:endParaRPr lang="ru-RU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8A09411-3C8E-45EE-BE40-96696A1541F9}"/>
              </a:ext>
            </a:extLst>
          </p:cNvPr>
          <p:cNvSpPr/>
          <p:nvPr/>
        </p:nvSpPr>
        <p:spPr>
          <a:xfrm>
            <a:off x="4102206" y="5515240"/>
            <a:ext cx="2558131" cy="484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Base::</a:t>
            </a:r>
            <a:r>
              <a:rPr lang="en-US" sz="1600" dirty="0" err="1"/>
              <a:t>base_not_overriden</a:t>
            </a:r>
            <a:r>
              <a:rPr lang="en-US" sz="1600" dirty="0"/>
              <a:t>()</a:t>
            </a:r>
            <a:endParaRPr lang="ru-RU" sz="1600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8374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720598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/>
              <a:t>Вызов методов напрямую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7037070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0">
              <a:lnSpc>
                <a:spcPct val="1157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Мы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полезем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VTable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только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случае, так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как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компилятор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всё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знает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про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объекты </a:t>
            </a:r>
            <a:r>
              <a:rPr sz="2800" dirty="0">
                <a:latin typeface="Microsoft Sans Serif"/>
                <a:cs typeface="Microsoft Sans Serif"/>
              </a:rPr>
              <a:t>уже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во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время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компиляции.</a:t>
            </a:r>
            <a:endParaRPr sz="2800">
              <a:latin typeface="Microsoft Sans Serif"/>
              <a:cs typeface="Microsoft Sans Serif"/>
            </a:endParaRPr>
          </a:p>
          <a:p>
            <a:pPr marL="12700" marR="980440" indent="228600">
              <a:lnSpc>
                <a:spcPct val="115700"/>
              </a:lnSpc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(Проверить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это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можно,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например, </a:t>
            </a:r>
            <a:r>
              <a:rPr sz="2800" dirty="0">
                <a:latin typeface="Microsoft Sans Serif"/>
                <a:cs typeface="Microsoft Sans Serif"/>
              </a:rPr>
              <a:t>посмотрев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ассемблерный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код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gdb)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8392" y="1825623"/>
            <a:ext cx="3682133" cy="24334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2284" y="4381499"/>
            <a:ext cx="6927428" cy="23172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284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Дальнейшее</a:t>
            </a:r>
            <a:r>
              <a:rPr spc="-235" dirty="0"/>
              <a:t> </a:t>
            </a:r>
            <a:r>
              <a:rPr spc="-10" dirty="0"/>
              <a:t>чтение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822455"/>
            <a:ext cx="10396855" cy="12676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marR="5080" indent="-228600">
              <a:lnSpc>
                <a:spcPts val="289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Microsoft Sans Serif"/>
                <a:cs typeface="Microsoft Sans Serif"/>
              </a:rPr>
              <a:t>Если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вас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заинтересовало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происходящее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и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вы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latin typeface="Microsoft Sans Serif"/>
                <a:cs typeface="Microsoft Sans Serif"/>
              </a:rPr>
              <a:t>хотите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узнать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больше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про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виртуальные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функции,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 err="1">
                <a:latin typeface="Microsoft Sans Serif"/>
                <a:cs typeface="Microsoft Sans Serif"/>
              </a:rPr>
              <a:t>прочитайте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 err="1">
                <a:solidFill>
                  <a:schemeClr val="tx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цикл</a:t>
            </a:r>
            <a:r>
              <a:rPr sz="2800" spc="-85" dirty="0">
                <a:solidFill>
                  <a:schemeClr val="tx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 </a:t>
            </a:r>
            <a:r>
              <a:rPr sz="2800" spc="-10" dirty="0" err="1">
                <a:solidFill>
                  <a:schemeClr val="tx1"/>
                </a:solidFill>
                <a:uFill>
                  <a:solidFill>
                    <a:srgbClr val="0563C1"/>
                  </a:solidFill>
                </a:uFill>
                <a:latin typeface="Microsoft Sans Serif"/>
                <a:cs typeface="Microsoft Sans Serif"/>
                <a:hlinkClick r:id="rId2"/>
              </a:rPr>
              <a:t>статьей</a:t>
            </a:r>
            <a:r>
              <a:rPr sz="2800" spc="-10" dirty="0">
                <a:latin typeface="Microsoft Sans Serif"/>
                <a:cs typeface="Microsoft Sans Serif"/>
              </a:rPr>
              <a:t>.</a:t>
            </a:r>
            <a:endParaRPr lang="en-US" sz="2800" spc="-10" dirty="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ts val="2890"/>
              </a:lnSpc>
              <a:spcBef>
                <a:spcPts val="585"/>
              </a:spcBef>
              <a:buChar char="•"/>
              <a:tabLst>
                <a:tab pos="241300" algn="l"/>
              </a:tabLst>
            </a:pPr>
            <a:r>
              <a:rPr lang="ru-RU" sz="2800" spc="-10" dirty="0">
                <a:latin typeface="Microsoft Sans Serif"/>
                <a:cs typeface="Microsoft Sans Serif"/>
              </a:rPr>
              <a:t>Про </a:t>
            </a:r>
            <a:r>
              <a:rPr lang="en-US" sz="2800" spc="-10" dirty="0">
                <a:latin typeface="Microsoft Sans Serif"/>
                <a:cs typeface="Microsoft Sans Serif"/>
              </a:rPr>
              <a:t>helper class </a:t>
            </a:r>
            <a:r>
              <a:rPr lang="ru-RU" sz="2800" spc="-10" dirty="0">
                <a:latin typeface="Microsoft Sans Serif"/>
                <a:cs typeface="Microsoft Sans Serif"/>
              </a:rPr>
              <a:t>для </a:t>
            </a:r>
            <a:r>
              <a:rPr lang="en-US" sz="2800" spc="-10" dirty="0" err="1">
                <a:latin typeface="Microsoft Sans Serif"/>
                <a:cs typeface="Microsoft Sans Serif"/>
              </a:rPr>
              <a:t>typeinfo</a:t>
            </a:r>
            <a:r>
              <a:rPr lang="en-US" sz="2800" spc="-10" dirty="0">
                <a:latin typeface="Microsoft Sans Serif"/>
                <a:cs typeface="Microsoft Sans Serif"/>
              </a:rPr>
              <a:t> </a:t>
            </a:r>
            <a:r>
              <a:rPr lang="ru-RU" sz="2800" spc="-10" dirty="0">
                <a:latin typeface="Microsoft Sans Serif"/>
                <a:cs typeface="Microsoft Sans Serif"/>
                <a:hlinkClick r:id="rId3"/>
              </a:rPr>
              <a:t>тут</a:t>
            </a:r>
            <a:r>
              <a:rPr lang="ru-RU" sz="2800" spc="-10" dirty="0">
                <a:latin typeface="Microsoft Sans Serif"/>
                <a:cs typeface="Microsoft Sans Serif"/>
              </a:rPr>
              <a:t> и </a:t>
            </a:r>
            <a:r>
              <a:rPr lang="ru-RU" sz="2800" spc="-10" dirty="0">
                <a:latin typeface="Microsoft Sans Serif"/>
                <a:cs typeface="Microsoft Sans Serif"/>
                <a:hlinkClick r:id="rId4"/>
              </a:rPr>
              <a:t>там</a:t>
            </a:r>
            <a:endParaRPr sz="28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387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Microsoft Sans Serif</vt:lpstr>
      <vt:lpstr>Office Theme</vt:lpstr>
      <vt:lpstr>Семинар по C++ №13</vt:lpstr>
      <vt:lpstr>Виртуальная функция</vt:lpstr>
      <vt:lpstr>dynamic cast</vt:lpstr>
      <vt:lpstr>RTTI</vt:lpstr>
      <vt:lpstr>Виртуальные функции</vt:lpstr>
      <vt:lpstr>Посмотрим в gdb</vt:lpstr>
      <vt:lpstr>Пояснение</vt:lpstr>
      <vt:lpstr>Example</vt:lpstr>
      <vt:lpstr>Layout</vt:lpstr>
      <vt:lpstr>Вызов методов напрямую</vt:lpstr>
      <vt:lpstr>Дальнейшее чтение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Семинар_11</dc:title>
  <cp:lastModifiedBy>Konstantin Dragun</cp:lastModifiedBy>
  <cp:revision>21</cp:revision>
  <dcterms:created xsi:type="dcterms:W3CDTF">2024-11-21T10:18:23Z</dcterms:created>
  <dcterms:modified xsi:type="dcterms:W3CDTF">2024-11-28T19:40:45Z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2023-12-17T00:00:00Z</vt:filetime>
  </property>
  <property fmtid="{D5CDD505-2E9C-101B-9397-08002B2CF9AE}" pid="3" name="Creator">
    <vt:lpwstr>Keynote</vt:lpwstr>
  </property>
  <property fmtid="{D5CDD505-2E9C-101B-9397-08002B2CF9AE}" pid="4" name="LastSaved">
    <vt:filetime>2024-11-21T00:00:00Z</vt:filetime>
  </property>
  <property fmtid="{D5CDD505-2E9C-101B-9397-08002B2CF9AE}" pid="5" name="Producer">
    <vt:lpwstr>macOS Version 13.6.2 (Build 22G320) Quartz PDFContext</vt:lpwstr>
  </property>
</Properties>
</file>