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28796" y="2146503"/>
            <a:ext cx="5534406" cy="71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915" y="628599"/>
            <a:ext cx="50203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0915" y="1750847"/>
            <a:ext cx="10138410" cy="432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container/vecto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st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/>
              <a:t>Семинар</a:t>
            </a:r>
            <a:r>
              <a:rPr sz="4500" spc="-75" dirty="0"/>
              <a:t> </a:t>
            </a:r>
            <a:r>
              <a:rPr sz="4500" dirty="0"/>
              <a:t>по</a:t>
            </a:r>
            <a:r>
              <a:rPr sz="4500" spc="-45" dirty="0"/>
              <a:t> </a:t>
            </a:r>
            <a:r>
              <a:rPr sz="4500" dirty="0"/>
              <a:t>С++</a:t>
            </a:r>
            <a:r>
              <a:rPr sz="4500" spc="-55" dirty="0"/>
              <a:t> </a:t>
            </a:r>
            <a:r>
              <a:rPr sz="4500" spc="100" dirty="0"/>
              <a:t>№</a:t>
            </a:r>
            <a:r>
              <a:rPr lang="en-US" sz="4500" spc="100" dirty="0"/>
              <a:t>1</a:t>
            </a:r>
            <a:endParaRPr sz="4500" dirty="0"/>
          </a:p>
        </p:txBody>
      </p:sp>
      <p:sp>
        <p:nvSpPr>
          <p:cNvPr id="3" name="object 3"/>
          <p:cNvSpPr txBox="1"/>
          <p:nvPr/>
        </p:nvSpPr>
        <p:spPr>
          <a:xfrm>
            <a:off x="3386454" y="3579114"/>
            <a:ext cx="5420360" cy="535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dirty="0">
                <a:latin typeface="Microsoft Sans Serif"/>
                <a:cs typeface="Microsoft Sans Serif"/>
              </a:rPr>
              <a:t>Базовые</a:t>
            </a:r>
            <a:r>
              <a:rPr sz="3350" spc="-185" dirty="0">
                <a:latin typeface="Microsoft Sans Serif"/>
                <a:cs typeface="Microsoft Sans Serif"/>
              </a:rPr>
              <a:t> </a:t>
            </a:r>
            <a:r>
              <a:rPr sz="3350" spc="-20" dirty="0">
                <a:latin typeface="Microsoft Sans Serif"/>
                <a:cs typeface="Microsoft Sans Serif"/>
              </a:rPr>
              <a:t>структуры</a:t>
            </a:r>
            <a:r>
              <a:rPr sz="3350" spc="-195" dirty="0">
                <a:latin typeface="Microsoft Sans Serif"/>
                <a:cs typeface="Microsoft Sans Serif"/>
              </a:rPr>
              <a:t> </a:t>
            </a:r>
            <a:r>
              <a:rPr sz="3350" spc="-10" dirty="0">
                <a:latin typeface="Microsoft Sans Serif"/>
                <a:cs typeface="Microsoft Sans Serif"/>
              </a:rPr>
              <a:t>данных</a:t>
            </a:r>
            <a:endParaRPr sz="3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3A38-450B-4D57-BAFD-CE388E20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C++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A1C0C-5992-4EEB-85D0-9E30F8041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915" y="1750847"/>
            <a:ext cx="10138410" cy="430887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#include &lt;iostream&gt; </a:t>
            </a:r>
            <a:r>
              <a:rPr lang="ru-RU" dirty="0"/>
              <a:t>- подключить библиотеку для работы с вводом </a:t>
            </a:r>
            <a:r>
              <a:rPr lang="en-US" dirty="0"/>
              <a:t>/ </a:t>
            </a:r>
            <a:r>
              <a:rPr lang="ru-RU" dirty="0"/>
              <a:t>выводом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 main() {…} </a:t>
            </a:r>
            <a:r>
              <a:rPr lang="en-US" dirty="0"/>
              <a:t>– </a:t>
            </a:r>
            <a:r>
              <a:rPr lang="ru-RU" dirty="0"/>
              <a:t>определение функции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std::</a:t>
            </a:r>
            <a:r>
              <a:rPr lang="en-US" b="1" dirty="0" err="1"/>
              <a:t>cout</a:t>
            </a:r>
            <a:r>
              <a:rPr lang="en-US" b="1" dirty="0"/>
              <a:t> &lt;&lt; … </a:t>
            </a:r>
            <a:r>
              <a:rPr lang="en-US" dirty="0"/>
              <a:t>-</a:t>
            </a:r>
            <a:r>
              <a:rPr lang="ru-RU" dirty="0"/>
              <a:t> печать на экран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return 0 </a:t>
            </a:r>
            <a:r>
              <a:rPr lang="en-US" dirty="0"/>
              <a:t>– </a:t>
            </a:r>
            <a:r>
              <a:rPr lang="ru-RU" dirty="0"/>
              <a:t>передача возвращаемого значения (для </a:t>
            </a:r>
            <a:r>
              <a:rPr lang="en-US" dirty="0"/>
              <a:t>main </a:t>
            </a:r>
            <a:r>
              <a:rPr lang="ru-RU" dirty="0"/>
              <a:t>можно не писать, по умолчанию и так стоит </a:t>
            </a:r>
            <a:r>
              <a:rPr lang="en-US" dirty="0"/>
              <a:t>return 0</a:t>
            </a:r>
            <a:r>
              <a:rPr lang="ru-RU" dirty="0"/>
              <a:t>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using namespace std </a:t>
            </a:r>
            <a:r>
              <a:rPr lang="en-US" dirty="0"/>
              <a:t>– </a:t>
            </a:r>
            <a:r>
              <a:rPr lang="ru-RU" dirty="0"/>
              <a:t>позволяет видеть определения в </a:t>
            </a:r>
            <a:r>
              <a:rPr lang="en-US" dirty="0"/>
              <a:t>std (</a:t>
            </a:r>
            <a:r>
              <a:rPr lang="ru-RU" dirty="0"/>
              <a:t>не нужно явно писать </a:t>
            </a:r>
            <a:r>
              <a:rPr lang="en-US" dirty="0"/>
              <a:t>std::…)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21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111C-2F53-4D1E-BA9F-F1C95F85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14" y="628599"/>
            <a:ext cx="5987085" cy="1354217"/>
          </a:xfrm>
        </p:spPr>
        <p:txBody>
          <a:bodyPr/>
          <a:lstStyle/>
          <a:p>
            <a:r>
              <a:rPr lang="ru-RU" dirty="0"/>
              <a:t>Компиляция и запуск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B4C4E-4AE1-4BBD-9624-2AF0CBF4C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915" y="1750847"/>
            <a:ext cx="10138410" cy="3447098"/>
          </a:xfrm>
        </p:spPr>
        <p:txBody>
          <a:bodyPr/>
          <a:lstStyle/>
          <a:p>
            <a:pPr>
              <a:defRPr/>
            </a:pPr>
            <a:r>
              <a:rPr lang="ru-RU" sz="2800" dirty="0"/>
              <a:t>$ g++ main.cpp – компиляция программы</a:t>
            </a:r>
          </a:p>
          <a:p>
            <a:pPr>
              <a:defRPr/>
            </a:pPr>
            <a:r>
              <a:rPr lang="ru-RU" sz="2800" dirty="0"/>
              <a:t>$ g++ main.cpp -o </a:t>
            </a:r>
            <a:r>
              <a:rPr lang="ru-RU" sz="2800" dirty="0" err="1"/>
              <a:t>program</a:t>
            </a:r>
            <a:r>
              <a:rPr lang="ru-RU" sz="2800" dirty="0"/>
              <a:t> – скомпилировать программу и назвать исполняемый файл (по умолчанию </a:t>
            </a:r>
            <a:r>
              <a:rPr lang="ru-RU" sz="2800" dirty="0" err="1"/>
              <a:t>a.out</a:t>
            </a:r>
            <a:r>
              <a:rPr lang="ru-RU" sz="2800" dirty="0"/>
              <a:t>)</a:t>
            </a:r>
          </a:p>
          <a:p>
            <a:pPr>
              <a:defRPr/>
            </a:pPr>
            <a:r>
              <a:rPr lang="ru-RU" sz="2800" dirty="0"/>
              <a:t>$ ./</a:t>
            </a:r>
            <a:r>
              <a:rPr lang="ru-RU" sz="2800" dirty="0" err="1"/>
              <a:t>program</a:t>
            </a:r>
            <a:r>
              <a:rPr lang="ru-RU" sz="2800" dirty="0"/>
              <a:t> – запустить программу</a:t>
            </a:r>
          </a:p>
          <a:p>
            <a:pPr marL="0" indent="0">
              <a:buFont typeface="Arial"/>
              <a:buNone/>
              <a:defRPr/>
            </a:pPr>
            <a:endParaRPr lang="ru-RU" dirty="0"/>
          </a:p>
          <a:p>
            <a:pPr marL="0" indent="0">
              <a:buFont typeface="Arial"/>
              <a:buNone/>
              <a:defRPr/>
            </a:pPr>
            <a:r>
              <a:rPr lang="ru-RU" dirty="0"/>
              <a:t>$ python3 – запустить интерпретатор питона в интерактивном режиме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55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Ветвления</a:t>
            </a:r>
            <a:r>
              <a:rPr spc="-165" dirty="0"/>
              <a:t> </a:t>
            </a:r>
            <a:r>
              <a:rPr dirty="0"/>
              <a:t>и</a:t>
            </a:r>
            <a:r>
              <a:rPr spc="-165" dirty="0"/>
              <a:t> </a:t>
            </a:r>
            <a:r>
              <a:rPr spc="-10" dirty="0"/>
              <a:t>циклы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915" y="1749468"/>
            <a:ext cx="3281045" cy="43465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695"/>
              </a:spcBef>
              <a:buChar char="•"/>
              <a:tabLst>
                <a:tab pos="231140" algn="l"/>
              </a:tabLst>
            </a:pPr>
            <a:r>
              <a:rPr sz="2650" spc="-10" dirty="0">
                <a:latin typeface="Microsoft Sans Serif"/>
                <a:cs typeface="Microsoft Sans Serif"/>
              </a:rPr>
              <a:t>Ветвления:</a:t>
            </a:r>
            <a:endParaRPr sz="2650">
              <a:latin typeface="Microsoft Sans Serif"/>
              <a:cs typeface="Microsoft Sans Serif"/>
            </a:endParaRPr>
          </a:p>
          <a:p>
            <a:pPr marL="687705" lvl="1" indent="-217804">
              <a:lnSpc>
                <a:spcPct val="100000"/>
              </a:lnSpc>
              <a:spcBef>
                <a:spcPts val="600"/>
              </a:spcBef>
              <a:buChar char="•"/>
              <a:tabLst>
                <a:tab pos="687705" algn="l"/>
              </a:tabLst>
            </a:pPr>
            <a:r>
              <a:rPr sz="2650" dirty="0">
                <a:latin typeface="Microsoft Sans Serif"/>
                <a:cs typeface="Microsoft Sans Serif"/>
              </a:rPr>
              <a:t>if,</a:t>
            </a:r>
            <a:r>
              <a:rPr sz="2650" spc="10" dirty="0">
                <a:latin typeface="Microsoft Sans Serif"/>
                <a:cs typeface="Microsoft Sans Serif"/>
              </a:rPr>
              <a:t> </a:t>
            </a:r>
            <a:r>
              <a:rPr sz="2650" spc="-20" dirty="0">
                <a:latin typeface="Microsoft Sans Serif"/>
                <a:cs typeface="Microsoft Sans Serif"/>
              </a:rPr>
              <a:t>else</a:t>
            </a:r>
            <a:endParaRPr sz="2650">
              <a:latin typeface="Microsoft Sans Serif"/>
              <a:cs typeface="Microsoft Sans Serif"/>
            </a:endParaRPr>
          </a:p>
          <a:p>
            <a:pPr marL="688340" lvl="1" indent="-218440">
              <a:lnSpc>
                <a:spcPct val="100000"/>
              </a:lnSpc>
              <a:spcBef>
                <a:spcPts val="600"/>
              </a:spcBef>
              <a:buChar char="•"/>
              <a:tabLst>
                <a:tab pos="688340" algn="l"/>
              </a:tabLst>
            </a:pPr>
            <a:r>
              <a:rPr sz="2650" spc="-10" dirty="0">
                <a:latin typeface="Microsoft Sans Serif"/>
                <a:cs typeface="Microsoft Sans Serif"/>
              </a:rPr>
              <a:t>switch</a:t>
            </a:r>
            <a:endParaRPr sz="2650">
              <a:latin typeface="Microsoft Sans Serif"/>
              <a:cs typeface="Microsoft Sans Serif"/>
            </a:endParaRPr>
          </a:p>
          <a:p>
            <a:pPr marL="688340" lvl="1" indent="-218440">
              <a:lnSpc>
                <a:spcPct val="100000"/>
              </a:lnSpc>
              <a:spcBef>
                <a:spcPts val="600"/>
              </a:spcBef>
              <a:buChar char="•"/>
              <a:tabLst>
                <a:tab pos="688340" algn="l"/>
              </a:tabLst>
            </a:pPr>
            <a:r>
              <a:rPr sz="2650" spc="-20" dirty="0">
                <a:latin typeface="Microsoft Sans Serif"/>
                <a:cs typeface="Microsoft Sans Serif"/>
              </a:rPr>
              <a:t>goto</a:t>
            </a:r>
            <a:endParaRPr sz="2650">
              <a:latin typeface="Microsoft Sans Serif"/>
              <a:cs typeface="Microsoft Sans Serif"/>
            </a:endParaRPr>
          </a:p>
          <a:p>
            <a:pPr marL="217804" marR="1911985" indent="-217804" algn="r">
              <a:lnSpc>
                <a:spcPct val="100000"/>
              </a:lnSpc>
              <a:spcBef>
                <a:spcPts val="600"/>
              </a:spcBef>
              <a:buChar char="•"/>
              <a:tabLst>
                <a:tab pos="217804" algn="l"/>
              </a:tabLst>
            </a:pPr>
            <a:r>
              <a:rPr sz="2650" spc="-10" dirty="0">
                <a:latin typeface="Microsoft Sans Serif"/>
                <a:cs typeface="Microsoft Sans Serif"/>
              </a:rPr>
              <a:t>Циклы:</a:t>
            </a:r>
            <a:endParaRPr sz="2650">
              <a:latin typeface="Microsoft Sans Serif"/>
              <a:cs typeface="Microsoft Sans Serif"/>
            </a:endParaRPr>
          </a:p>
          <a:p>
            <a:pPr marL="218440" marR="1818005" lvl="1" indent="-218440" algn="r">
              <a:lnSpc>
                <a:spcPct val="100000"/>
              </a:lnSpc>
              <a:spcBef>
                <a:spcPts val="605"/>
              </a:spcBef>
              <a:buChar char="•"/>
              <a:tabLst>
                <a:tab pos="218440" algn="l"/>
              </a:tabLst>
            </a:pPr>
            <a:r>
              <a:rPr sz="2650" spc="-10" dirty="0">
                <a:latin typeface="Microsoft Sans Serif"/>
                <a:cs typeface="Microsoft Sans Serif"/>
              </a:rPr>
              <a:t>while</a:t>
            </a:r>
            <a:endParaRPr sz="2650">
              <a:latin typeface="Microsoft Sans Serif"/>
              <a:cs typeface="Microsoft Sans Serif"/>
            </a:endParaRPr>
          </a:p>
          <a:p>
            <a:pPr marL="688340" lvl="1" indent="-218440">
              <a:lnSpc>
                <a:spcPct val="100000"/>
              </a:lnSpc>
              <a:spcBef>
                <a:spcPts val="600"/>
              </a:spcBef>
              <a:buChar char="•"/>
              <a:tabLst>
                <a:tab pos="688340" algn="l"/>
                <a:tab pos="1595755" algn="l"/>
              </a:tabLst>
            </a:pPr>
            <a:r>
              <a:rPr sz="2650" dirty="0">
                <a:latin typeface="Microsoft Sans Serif"/>
                <a:cs typeface="Microsoft Sans Serif"/>
              </a:rPr>
              <a:t>do</a:t>
            </a:r>
            <a:r>
              <a:rPr sz="2650" spc="40" dirty="0">
                <a:latin typeface="Microsoft Sans Serif"/>
                <a:cs typeface="Microsoft Sans Serif"/>
              </a:rPr>
              <a:t> </a:t>
            </a:r>
            <a:r>
              <a:rPr sz="2650" spc="-50" dirty="0">
                <a:latin typeface="Microsoft Sans Serif"/>
                <a:cs typeface="Microsoft Sans Serif"/>
              </a:rPr>
              <a:t>…</a:t>
            </a:r>
            <a:r>
              <a:rPr sz="2650" dirty="0">
                <a:latin typeface="Microsoft Sans Serif"/>
                <a:cs typeface="Microsoft Sans Serif"/>
              </a:rPr>
              <a:t>	</a:t>
            </a:r>
            <a:r>
              <a:rPr sz="2650" spc="-10" dirty="0">
                <a:latin typeface="Microsoft Sans Serif"/>
                <a:cs typeface="Microsoft Sans Serif"/>
              </a:rPr>
              <a:t>while</a:t>
            </a:r>
            <a:endParaRPr sz="2650">
              <a:latin typeface="Microsoft Sans Serif"/>
              <a:cs typeface="Microsoft Sans Serif"/>
            </a:endParaRPr>
          </a:p>
          <a:p>
            <a:pPr marL="687705" lvl="1" indent="-217804">
              <a:lnSpc>
                <a:spcPct val="100000"/>
              </a:lnSpc>
              <a:spcBef>
                <a:spcPts val="600"/>
              </a:spcBef>
              <a:buChar char="•"/>
              <a:tabLst>
                <a:tab pos="687705" algn="l"/>
              </a:tabLst>
            </a:pPr>
            <a:r>
              <a:rPr sz="2650" spc="-25" dirty="0">
                <a:latin typeface="Microsoft Sans Serif"/>
                <a:cs typeface="Microsoft Sans Serif"/>
              </a:rPr>
              <a:t>for</a:t>
            </a:r>
            <a:endParaRPr sz="2650">
              <a:latin typeface="Microsoft Sans Serif"/>
              <a:cs typeface="Microsoft Sans Serif"/>
            </a:endParaRPr>
          </a:p>
          <a:p>
            <a:pPr marL="688340" lvl="1" indent="-218440">
              <a:lnSpc>
                <a:spcPct val="100000"/>
              </a:lnSpc>
              <a:spcBef>
                <a:spcPts val="600"/>
              </a:spcBef>
              <a:buChar char="•"/>
              <a:tabLst>
                <a:tab pos="688340" algn="l"/>
              </a:tabLst>
            </a:pPr>
            <a:r>
              <a:rPr sz="2650" spc="-20" dirty="0">
                <a:latin typeface="Microsoft Sans Serif"/>
                <a:cs typeface="Microsoft Sans Serif"/>
              </a:rPr>
              <a:t>ranged-</a:t>
            </a:r>
            <a:r>
              <a:rPr sz="2650" dirty="0">
                <a:latin typeface="Microsoft Sans Serif"/>
                <a:cs typeface="Microsoft Sans Serif"/>
              </a:rPr>
              <a:t>based</a:t>
            </a:r>
            <a:r>
              <a:rPr sz="2650" spc="165" dirty="0">
                <a:latin typeface="Microsoft Sans Serif"/>
                <a:cs typeface="Microsoft Sans Serif"/>
              </a:rPr>
              <a:t> </a:t>
            </a:r>
            <a:r>
              <a:rPr sz="2650" spc="-25" dirty="0">
                <a:latin typeface="Microsoft Sans Serif"/>
                <a:cs typeface="Microsoft Sans Serif"/>
              </a:rPr>
              <a:t>for</a:t>
            </a:r>
            <a:endParaRPr sz="2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std::vector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605"/>
              </a:spcBef>
              <a:buChar char="•"/>
              <a:tabLst>
                <a:tab pos="242570" algn="l"/>
              </a:tabLst>
            </a:pPr>
            <a:r>
              <a:rPr spc="-55" dirty="0"/>
              <a:t>Динамический</a:t>
            </a:r>
            <a:r>
              <a:rPr spc="-110" dirty="0"/>
              <a:t> </a:t>
            </a:r>
            <a:r>
              <a:rPr spc="-10" dirty="0"/>
              <a:t>массив</a:t>
            </a:r>
          </a:p>
          <a:p>
            <a:pPr marL="242570" indent="-229870">
              <a:lnSpc>
                <a:spcPct val="100000"/>
              </a:lnSpc>
              <a:spcBef>
                <a:spcPts val="500"/>
              </a:spcBef>
              <a:buChar char="•"/>
              <a:tabLst>
                <a:tab pos="242570" algn="l"/>
              </a:tabLst>
            </a:pPr>
            <a:r>
              <a:rPr dirty="0"/>
              <a:t>size()</a:t>
            </a:r>
            <a:r>
              <a:rPr spc="-110" dirty="0"/>
              <a:t> </a:t>
            </a:r>
            <a:r>
              <a:rPr dirty="0"/>
              <a:t>-</a:t>
            </a:r>
            <a:r>
              <a:rPr spc="-95" dirty="0"/>
              <a:t> </a:t>
            </a:r>
            <a:r>
              <a:rPr spc="-20" dirty="0"/>
              <a:t>размер</a:t>
            </a:r>
            <a:r>
              <a:rPr spc="-90" dirty="0"/>
              <a:t> </a:t>
            </a:r>
            <a:r>
              <a:rPr spc="-10" dirty="0"/>
              <a:t>массива</a:t>
            </a:r>
          </a:p>
          <a:p>
            <a:pPr marL="242570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242570" algn="l"/>
              </a:tabLst>
            </a:pPr>
            <a:r>
              <a:rPr dirty="0"/>
              <a:t>capacity()</a:t>
            </a:r>
            <a:r>
              <a:rPr spc="-125" dirty="0"/>
              <a:t> </a:t>
            </a:r>
            <a:r>
              <a:rPr dirty="0"/>
              <a:t>-</a:t>
            </a:r>
            <a:r>
              <a:rPr spc="-125" dirty="0"/>
              <a:t> </a:t>
            </a:r>
            <a:r>
              <a:rPr spc="-20" dirty="0"/>
              <a:t>вместимость</a:t>
            </a:r>
            <a:r>
              <a:rPr spc="-110" dirty="0"/>
              <a:t> </a:t>
            </a:r>
            <a:r>
              <a:rPr spc="-10" dirty="0"/>
              <a:t>массива</a:t>
            </a:r>
          </a:p>
          <a:p>
            <a:pPr marL="242570" indent="-229870">
              <a:lnSpc>
                <a:spcPct val="100000"/>
              </a:lnSpc>
              <a:spcBef>
                <a:spcPts val="505"/>
              </a:spcBef>
              <a:buChar char="•"/>
              <a:tabLst>
                <a:tab pos="242570" algn="l"/>
              </a:tabLst>
            </a:pPr>
            <a:r>
              <a:rPr dirty="0"/>
              <a:t>push_back()</a:t>
            </a:r>
            <a:r>
              <a:rPr spc="-150" dirty="0"/>
              <a:t> </a:t>
            </a:r>
            <a:r>
              <a:rPr dirty="0"/>
              <a:t>-</a:t>
            </a:r>
            <a:r>
              <a:rPr spc="-135" dirty="0"/>
              <a:t> </a:t>
            </a:r>
            <a:r>
              <a:rPr dirty="0"/>
              <a:t>добавить</a:t>
            </a:r>
            <a:r>
              <a:rPr spc="-145" dirty="0"/>
              <a:t> </a:t>
            </a:r>
            <a:r>
              <a:rPr dirty="0"/>
              <a:t>элемент</a:t>
            </a:r>
            <a:r>
              <a:rPr spc="-120" dirty="0"/>
              <a:t> </a:t>
            </a:r>
            <a:r>
              <a:rPr dirty="0"/>
              <a:t>в</a:t>
            </a:r>
            <a:r>
              <a:rPr spc="-145" dirty="0"/>
              <a:t> </a:t>
            </a:r>
            <a:r>
              <a:rPr dirty="0"/>
              <a:t>конец</a:t>
            </a:r>
            <a:r>
              <a:rPr spc="-150" dirty="0"/>
              <a:t> </a:t>
            </a:r>
            <a:r>
              <a:rPr spc="-10" dirty="0"/>
              <a:t>массива</a:t>
            </a:r>
          </a:p>
          <a:p>
            <a:pPr marL="242570" indent="-229870">
              <a:lnSpc>
                <a:spcPct val="100000"/>
              </a:lnSpc>
              <a:spcBef>
                <a:spcPts val="505"/>
              </a:spcBef>
              <a:buChar char="•"/>
              <a:tabLst>
                <a:tab pos="242570" algn="l"/>
              </a:tabLst>
            </a:pPr>
            <a:r>
              <a:rPr dirty="0"/>
              <a:t>pop_back()</a:t>
            </a:r>
            <a:r>
              <a:rPr spc="-125" dirty="0"/>
              <a:t> </a:t>
            </a:r>
            <a:r>
              <a:rPr dirty="0"/>
              <a:t>-</a:t>
            </a:r>
            <a:r>
              <a:rPr spc="-140" dirty="0"/>
              <a:t> </a:t>
            </a:r>
            <a:r>
              <a:rPr spc="-25" dirty="0"/>
              <a:t>извлечь</a:t>
            </a:r>
            <a:r>
              <a:rPr spc="-160" dirty="0"/>
              <a:t> </a:t>
            </a:r>
            <a:r>
              <a:rPr dirty="0" err="1"/>
              <a:t>элемент</a:t>
            </a:r>
            <a:r>
              <a:rPr spc="-114" dirty="0"/>
              <a:t> </a:t>
            </a:r>
            <a:r>
              <a:rPr lang="ru-RU" spc="-114" dirty="0"/>
              <a:t>из</a:t>
            </a:r>
            <a:r>
              <a:rPr spc="-140" dirty="0"/>
              <a:t> </a:t>
            </a:r>
            <a:r>
              <a:rPr dirty="0"/>
              <a:t>конца</a:t>
            </a:r>
            <a:r>
              <a:rPr spc="-125" dirty="0"/>
              <a:t> </a:t>
            </a:r>
            <a:r>
              <a:rPr spc="-10" dirty="0"/>
              <a:t>массива</a:t>
            </a:r>
          </a:p>
          <a:p>
            <a:pPr marL="241300" marR="5080" indent="-228600">
              <a:lnSpc>
                <a:spcPts val="2890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dirty="0"/>
              <a:t>front()</a:t>
            </a:r>
            <a:r>
              <a:rPr spc="-10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dirty="0"/>
              <a:t>back()</a:t>
            </a:r>
            <a:r>
              <a:rPr spc="-90" dirty="0"/>
              <a:t> </a:t>
            </a:r>
            <a:r>
              <a:rPr dirty="0"/>
              <a:t>-</a:t>
            </a:r>
            <a:r>
              <a:rPr spc="-110" dirty="0"/>
              <a:t> </a:t>
            </a:r>
            <a:r>
              <a:rPr dirty="0"/>
              <a:t>обращение</a:t>
            </a:r>
            <a:r>
              <a:rPr spc="-70" dirty="0"/>
              <a:t> </a:t>
            </a:r>
            <a:r>
              <a:rPr dirty="0"/>
              <a:t>к</a:t>
            </a:r>
            <a:r>
              <a:rPr spc="-110" dirty="0"/>
              <a:t> </a:t>
            </a:r>
            <a:r>
              <a:rPr spc="-30" dirty="0"/>
              <a:t>первому/последнему</a:t>
            </a:r>
            <a:r>
              <a:rPr spc="-65" dirty="0"/>
              <a:t> </a:t>
            </a:r>
            <a:r>
              <a:rPr spc="-10" dirty="0"/>
              <a:t>элементу массива</a:t>
            </a:r>
          </a:p>
          <a:p>
            <a:pPr marL="242570" indent="-229870">
              <a:lnSpc>
                <a:spcPct val="100000"/>
              </a:lnSpc>
              <a:spcBef>
                <a:spcPts val="489"/>
              </a:spcBef>
              <a:buChar char="•"/>
              <a:tabLst>
                <a:tab pos="242570" algn="l"/>
              </a:tabLst>
            </a:pPr>
            <a:r>
              <a:rPr dirty="0"/>
              <a:t>data()</a:t>
            </a:r>
            <a:r>
              <a:rPr spc="-10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указатель</a:t>
            </a:r>
            <a:r>
              <a:rPr spc="-135" dirty="0"/>
              <a:t> </a:t>
            </a:r>
            <a:r>
              <a:rPr dirty="0"/>
              <a:t>на</a:t>
            </a:r>
            <a:r>
              <a:rPr spc="-100" dirty="0"/>
              <a:t> </a:t>
            </a:r>
            <a:r>
              <a:rPr dirty="0"/>
              <a:t>элементы</a:t>
            </a:r>
            <a:r>
              <a:rPr spc="-80" dirty="0"/>
              <a:t> </a:t>
            </a:r>
            <a:r>
              <a:rPr spc="-10" dirty="0"/>
              <a:t>массива</a:t>
            </a:r>
          </a:p>
          <a:p>
            <a:pPr marL="242570" indent="-22987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•"/>
              <a:tabLst>
                <a:tab pos="242570" algn="l"/>
              </a:tabLst>
            </a:pPr>
            <a:r>
              <a:rPr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hlinkClick r:id="rId2"/>
              </a:rPr>
              <a:t>cppreference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std::string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915" y="1750847"/>
            <a:ext cx="9279890" cy="43224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605"/>
              </a:spcBef>
              <a:buChar char="•"/>
              <a:tabLst>
                <a:tab pos="24257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Похоже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std::vector&lt;char&gt;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800" dirty="0">
                <a:latin typeface="Microsoft Sans Serif"/>
                <a:cs typeface="Microsoft Sans Serif"/>
              </a:rPr>
              <a:t>•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(+=)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сложить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строки</a:t>
            </a:r>
            <a:endParaRPr sz="2800" dirty="0">
              <a:latin typeface="Microsoft Sans Serif"/>
              <a:cs typeface="Microsoft Sans Serif"/>
            </a:endParaRPr>
          </a:p>
          <a:p>
            <a:pPr marL="242570" indent="-229870">
              <a:lnSpc>
                <a:spcPct val="100000"/>
              </a:lnSpc>
              <a:spcBef>
                <a:spcPts val="495"/>
              </a:spcBef>
              <a:buChar char="•"/>
              <a:tabLst>
                <a:tab pos="24257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substr(start,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count)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вернуть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подстроку</a:t>
            </a:r>
            <a:endParaRPr sz="2800" dirty="0">
              <a:latin typeface="Microsoft Sans Serif"/>
              <a:cs typeface="Microsoft Sans Serif"/>
            </a:endParaRPr>
          </a:p>
          <a:p>
            <a:pPr marL="242570" indent="-229870">
              <a:lnSpc>
                <a:spcPct val="100000"/>
              </a:lnSpc>
              <a:spcBef>
                <a:spcPts val="505"/>
              </a:spcBef>
              <a:buChar char="•"/>
              <a:tabLst>
                <a:tab pos="24257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find(std::string)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найти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индекс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вхождения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подстроки</a:t>
            </a:r>
            <a:endParaRPr sz="2800" dirty="0">
              <a:latin typeface="Microsoft Sans Serif"/>
              <a:cs typeface="Microsoft Sans Serif"/>
            </a:endParaRPr>
          </a:p>
          <a:p>
            <a:pPr marL="242570" indent="-229870">
              <a:lnSpc>
                <a:spcPct val="100000"/>
              </a:lnSpc>
              <a:spcBef>
                <a:spcPts val="505"/>
              </a:spcBef>
              <a:buChar char="•"/>
              <a:tabLst>
                <a:tab pos="242570" algn="l"/>
              </a:tabLst>
            </a:pPr>
            <a:r>
              <a:rPr sz="2800" dirty="0">
                <a:latin typeface="Microsoft Sans Serif"/>
                <a:cs typeface="Microsoft Sans Serif"/>
              </a:rPr>
              <a:t>insert(pos,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string)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вставить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строку</a:t>
            </a:r>
            <a:r>
              <a:rPr sz="2800" spc="-1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на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нужную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позицию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19050" indent="-228600">
              <a:lnSpc>
                <a:spcPts val="2890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replace(start,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count,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string)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заменить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подстроку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другой строкой</a:t>
            </a:r>
            <a:endParaRPr sz="2800" dirty="0">
              <a:latin typeface="Microsoft Sans Serif"/>
              <a:cs typeface="Microsoft Sans Serif"/>
            </a:endParaRPr>
          </a:p>
          <a:p>
            <a:pPr marL="242570" indent="-229870">
              <a:lnSpc>
                <a:spcPct val="100000"/>
              </a:lnSpc>
              <a:spcBef>
                <a:spcPts val="489"/>
              </a:spcBef>
              <a:buChar char="•"/>
              <a:tabLst>
                <a:tab pos="242570" algn="l"/>
              </a:tabLst>
            </a:pPr>
            <a:r>
              <a:rPr sz="2800" dirty="0">
                <a:latin typeface="Microsoft Sans Serif"/>
                <a:cs typeface="Microsoft Sans Serif"/>
              </a:rPr>
              <a:t>erase(start,</a:t>
            </a:r>
            <a:r>
              <a:rPr sz="2800" spc="-1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count)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удалить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подстроку</a:t>
            </a:r>
            <a:endParaRPr sz="2800" dirty="0">
              <a:latin typeface="Microsoft Sans Serif"/>
              <a:cs typeface="Microsoft Sans Serif"/>
            </a:endParaRPr>
          </a:p>
          <a:p>
            <a:pPr marL="242570" indent="-22987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•"/>
              <a:tabLst>
                <a:tab pos="242570" algn="l"/>
              </a:tabLst>
            </a:pPr>
            <a:r>
              <a:rPr sz="2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2"/>
              </a:rPr>
              <a:t>cppreference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279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Microsoft Sans Serif</vt:lpstr>
      <vt:lpstr>Office Theme</vt:lpstr>
      <vt:lpstr>Семинар по С++ №1</vt:lpstr>
      <vt:lpstr>Hello world in C++</vt:lpstr>
      <vt:lpstr>Компиляция и запуск</vt:lpstr>
      <vt:lpstr>Ветвления и циклы</vt:lpstr>
      <vt:lpstr>std::vector</vt:lpstr>
      <vt:lpstr>std::string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Семинар_2</dc:title>
  <dc:creator>Konstantin Dragun</dc:creator>
  <cp:lastModifiedBy>Konstantin Dragun</cp:lastModifiedBy>
  <cp:revision>5</cp:revision>
  <dcterms:created xsi:type="dcterms:W3CDTF">2025-08-31T13:34:09Z</dcterms:created>
  <dcterms:modified xsi:type="dcterms:W3CDTF">2025-08-31T15:06:48Z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2024-09-12T00:00:00Z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2025-08-31T00:00:00Z</vt:filetime>
  </property>
  <property fmtid="{D5CDD505-2E9C-101B-9397-08002B2CF9AE}" pid="5" name="Producer">
    <vt:lpwstr>Microsoft® PowerPoint® LTSC</vt:lpwstr>
  </property>
</Properties>
</file>