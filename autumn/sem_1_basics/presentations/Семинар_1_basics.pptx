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328796" y="2146503"/>
            <a:ext cx="5534406" cy="71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70915" y="628599"/>
            <a:ext cx="5020310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0915" y="1750847"/>
            <a:ext cx="10138410" cy="43224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n.cppreference.com/w/cpp/container/vector" TargetMode="Externa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n.cppreference.com/w/cpp/string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0"/>
              <a:t>Семинар</a:t>
            </a:r>
            <a:r>
              <a:rPr dirty="0" sz="4500" spc="-75"/>
              <a:t> </a:t>
            </a:r>
            <a:r>
              <a:rPr dirty="0" sz="4500"/>
              <a:t>по</a:t>
            </a:r>
            <a:r>
              <a:rPr dirty="0" sz="4500" spc="-45"/>
              <a:t> </a:t>
            </a:r>
            <a:r>
              <a:rPr dirty="0" sz="4500"/>
              <a:t>С++</a:t>
            </a:r>
            <a:r>
              <a:rPr dirty="0" sz="4500" spc="-55"/>
              <a:t> </a:t>
            </a:r>
            <a:r>
              <a:rPr dirty="0" sz="4500" spc="100"/>
              <a:t>№2</a:t>
            </a:r>
            <a:endParaRPr sz="4500"/>
          </a:p>
        </p:txBody>
      </p:sp>
      <p:sp>
        <p:nvSpPr>
          <p:cNvPr id="3" name="object 3" descr=""/>
          <p:cNvSpPr txBox="1"/>
          <p:nvPr/>
        </p:nvSpPr>
        <p:spPr>
          <a:xfrm>
            <a:off x="3386454" y="3579114"/>
            <a:ext cx="5420360" cy="53594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3350">
                <a:latin typeface="Microsoft Sans Serif"/>
                <a:cs typeface="Microsoft Sans Serif"/>
              </a:rPr>
              <a:t>Базовые</a:t>
            </a:r>
            <a:r>
              <a:rPr dirty="0" sz="3350" spc="-185">
                <a:latin typeface="Microsoft Sans Serif"/>
                <a:cs typeface="Microsoft Sans Serif"/>
              </a:rPr>
              <a:t> </a:t>
            </a:r>
            <a:r>
              <a:rPr dirty="0" sz="3350" spc="-20">
                <a:latin typeface="Microsoft Sans Serif"/>
                <a:cs typeface="Microsoft Sans Serif"/>
              </a:rPr>
              <a:t>структуры</a:t>
            </a:r>
            <a:r>
              <a:rPr dirty="0" sz="3350" spc="-195">
                <a:latin typeface="Microsoft Sans Serif"/>
                <a:cs typeface="Microsoft Sans Serif"/>
              </a:rPr>
              <a:t> </a:t>
            </a:r>
            <a:r>
              <a:rPr dirty="0" sz="3350" spc="-10">
                <a:latin typeface="Microsoft Sans Serif"/>
                <a:cs typeface="Microsoft Sans Serif"/>
              </a:rPr>
              <a:t>данных</a:t>
            </a:r>
            <a:endParaRPr sz="335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Ветвления</a:t>
            </a:r>
            <a:r>
              <a:rPr dirty="0" spc="-165"/>
              <a:t> </a:t>
            </a:r>
            <a:r>
              <a:rPr dirty="0"/>
              <a:t>и</a:t>
            </a:r>
            <a:r>
              <a:rPr dirty="0" spc="-165"/>
              <a:t> </a:t>
            </a:r>
            <a:r>
              <a:rPr dirty="0" spc="-10"/>
              <a:t>циклы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70915" y="1749468"/>
            <a:ext cx="3281045" cy="4346575"/>
          </a:xfrm>
          <a:prstGeom prst="rect">
            <a:avLst/>
          </a:prstGeom>
        </p:spPr>
        <p:txBody>
          <a:bodyPr wrap="square" lIns="0" tIns="88265" rIns="0" bIns="0" rtlCol="0" vert="horz">
            <a:spAutoFit/>
          </a:bodyPr>
          <a:lstStyle/>
          <a:p>
            <a:pPr marL="231140" indent="-218440">
              <a:lnSpc>
                <a:spcPct val="100000"/>
              </a:lnSpc>
              <a:spcBef>
                <a:spcPts val="695"/>
              </a:spcBef>
              <a:buChar char="•"/>
              <a:tabLst>
                <a:tab pos="231140" algn="l"/>
              </a:tabLst>
            </a:pPr>
            <a:r>
              <a:rPr dirty="0" sz="2650" spc="-10">
                <a:latin typeface="Microsoft Sans Serif"/>
                <a:cs typeface="Microsoft Sans Serif"/>
              </a:rPr>
              <a:t>Ветвления:</a:t>
            </a:r>
            <a:endParaRPr sz="2650">
              <a:latin typeface="Microsoft Sans Serif"/>
              <a:cs typeface="Microsoft Sans Serif"/>
            </a:endParaRPr>
          </a:p>
          <a:p>
            <a:pPr lvl="1" marL="687705" indent="-217804">
              <a:lnSpc>
                <a:spcPct val="100000"/>
              </a:lnSpc>
              <a:spcBef>
                <a:spcPts val="600"/>
              </a:spcBef>
              <a:buChar char="•"/>
              <a:tabLst>
                <a:tab pos="687705" algn="l"/>
              </a:tabLst>
            </a:pPr>
            <a:r>
              <a:rPr dirty="0" sz="2650">
                <a:latin typeface="Microsoft Sans Serif"/>
                <a:cs typeface="Microsoft Sans Serif"/>
              </a:rPr>
              <a:t>if,</a:t>
            </a:r>
            <a:r>
              <a:rPr dirty="0" sz="2650" spc="10">
                <a:latin typeface="Microsoft Sans Serif"/>
                <a:cs typeface="Microsoft Sans Serif"/>
              </a:rPr>
              <a:t> </a:t>
            </a:r>
            <a:r>
              <a:rPr dirty="0" sz="2650" spc="-20">
                <a:latin typeface="Microsoft Sans Serif"/>
                <a:cs typeface="Microsoft Sans Serif"/>
              </a:rPr>
              <a:t>else</a:t>
            </a:r>
            <a:endParaRPr sz="2650">
              <a:latin typeface="Microsoft Sans Serif"/>
              <a:cs typeface="Microsoft Sans Serif"/>
            </a:endParaRPr>
          </a:p>
          <a:p>
            <a:pPr lvl="1" marL="688340" indent="-218440">
              <a:lnSpc>
                <a:spcPct val="100000"/>
              </a:lnSpc>
              <a:spcBef>
                <a:spcPts val="600"/>
              </a:spcBef>
              <a:buChar char="•"/>
              <a:tabLst>
                <a:tab pos="688340" algn="l"/>
              </a:tabLst>
            </a:pPr>
            <a:r>
              <a:rPr dirty="0" sz="2650" spc="-10">
                <a:latin typeface="Microsoft Sans Serif"/>
                <a:cs typeface="Microsoft Sans Serif"/>
              </a:rPr>
              <a:t>switch</a:t>
            </a:r>
            <a:endParaRPr sz="2650">
              <a:latin typeface="Microsoft Sans Serif"/>
              <a:cs typeface="Microsoft Sans Serif"/>
            </a:endParaRPr>
          </a:p>
          <a:p>
            <a:pPr lvl="1" marL="688340" indent="-218440">
              <a:lnSpc>
                <a:spcPct val="100000"/>
              </a:lnSpc>
              <a:spcBef>
                <a:spcPts val="600"/>
              </a:spcBef>
              <a:buChar char="•"/>
              <a:tabLst>
                <a:tab pos="688340" algn="l"/>
              </a:tabLst>
            </a:pPr>
            <a:r>
              <a:rPr dirty="0" sz="2650" spc="-20">
                <a:latin typeface="Microsoft Sans Serif"/>
                <a:cs typeface="Microsoft Sans Serif"/>
              </a:rPr>
              <a:t>goto</a:t>
            </a:r>
            <a:endParaRPr sz="2650">
              <a:latin typeface="Microsoft Sans Serif"/>
              <a:cs typeface="Microsoft Sans Serif"/>
            </a:endParaRPr>
          </a:p>
          <a:p>
            <a:pPr algn="r" marL="217804" marR="1911985" indent="-217804">
              <a:lnSpc>
                <a:spcPct val="100000"/>
              </a:lnSpc>
              <a:spcBef>
                <a:spcPts val="600"/>
              </a:spcBef>
              <a:buChar char="•"/>
              <a:tabLst>
                <a:tab pos="217804" algn="l"/>
              </a:tabLst>
            </a:pPr>
            <a:r>
              <a:rPr dirty="0" sz="2650" spc="-10">
                <a:latin typeface="Microsoft Sans Serif"/>
                <a:cs typeface="Microsoft Sans Serif"/>
              </a:rPr>
              <a:t>Циклы:</a:t>
            </a:r>
            <a:endParaRPr sz="2650">
              <a:latin typeface="Microsoft Sans Serif"/>
              <a:cs typeface="Microsoft Sans Serif"/>
            </a:endParaRPr>
          </a:p>
          <a:p>
            <a:pPr algn="r" lvl="1" marL="218440" marR="1818005" indent="-218440">
              <a:lnSpc>
                <a:spcPct val="100000"/>
              </a:lnSpc>
              <a:spcBef>
                <a:spcPts val="605"/>
              </a:spcBef>
              <a:buChar char="•"/>
              <a:tabLst>
                <a:tab pos="218440" algn="l"/>
              </a:tabLst>
            </a:pPr>
            <a:r>
              <a:rPr dirty="0" sz="2650" spc="-10">
                <a:latin typeface="Microsoft Sans Serif"/>
                <a:cs typeface="Microsoft Sans Serif"/>
              </a:rPr>
              <a:t>while</a:t>
            </a:r>
            <a:endParaRPr sz="2650">
              <a:latin typeface="Microsoft Sans Serif"/>
              <a:cs typeface="Microsoft Sans Serif"/>
            </a:endParaRPr>
          </a:p>
          <a:p>
            <a:pPr lvl="1" marL="688340" indent="-218440">
              <a:lnSpc>
                <a:spcPct val="100000"/>
              </a:lnSpc>
              <a:spcBef>
                <a:spcPts val="600"/>
              </a:spcBef>
              <a:buChar char="•"/>
              <a:tabLst>
                <a:tab pos="688340" algn="l"/>
                <a:tab pos="1595755" algn="l"/>
              </a:tabLst>
            </a:pPr>
            <a:r>
              <a:rPr dirty="0" sz="2650">
                <a:latin typeface="Microsoft Sans Serif"/>
                <a:cs typeface="Microsoft Sans Serif"/>
              </a:rPr>
              <a:t>do</a:t>
            </a:r>
            <a:r>
              <a:rPr dirty="0" sz="2650" spc="40">
                <a:latin typeface="Microsoft Sans Serif"/>
                <a:cs typeface="Microsoft Sans Serif"/>
              </a:rPr>
              <a:t> </a:t>
            </a:r>
            <a:r>
              <a:rPr dirty="0" sz="2650" spc="-50">
                <a:latin typeface="Microsoft Sans Serif"/>
                <a:cs typeface="Microsoft Sans Serif"/>
              </a:rPr>
              <a:t>…</a:t>
            </a:r>
            <a:r>
              <a:rPr dirty="0" sz="2650">
                <a:latin typeface="Microsoft Sans Serif"/>
                <a:cs typeface="Microsoft Sans Serif"/>
              </a:rPr>
              <a:t>	</a:t>
            </a:r>
            <a:r>
              <a:rPr dirty="0" sz="2650" spc="-10">
                <a:latin typeface="Microsoft Sans Serif"/>
                <a:cs typeface="Microsoft Sans Serif"/>
              </a:rPr>
              <a:t>while</a:t>
            </a:r>
            <a:endParaRPr sz="2650">
              <a:latin typeface="Microsoft Sans Serif"/>
              <a:cs typeface="Microsoft Sans Serif"/>
            </a:endParaRPr>
          </a:p>
          <a:p>
            <a:pPr lvl="1" marL="687705" indent="-217804">
              <a:lnSpc>
                <a:spcPct val="100000"/>
              </a:lnSpc>
              <a:spcBef>
                <a:spcPts val="600"/>
              </a:spcBef>
              <a:buChar char="•"/>
              <a:tabLst>
                <a:tab pos="687705" algn="l"/>
              </a:tabLst>
            </a:pPr>
            <a:r>
              <a:rPr dirty="0" sz="2650" spc="-25">
                <a:latin typeface="Microsoft Sans Serif"/>
                <a:cs typeface="Microsoft Sans Serif"/>
              </a:rPr>
              <a:t>for</a:t>
            </a:r>
            <a:endParaRPr sz="2650">
              <a:latin typeface="Microsoft Sans Serif"/>
              <a:cs typeface="Microsoft Sans Serif"/>
            </a:endParaRPr>
          </a:p>
          <a:p>
            <a:pPr lvl="1" marL="688340" indent="-218440">
              <a:lnSpc>
                <a:spcPct val="100000"/>
              </a:lnSpc>
              <a:spcBef>
                <a:spcPts val="600"/>
              </a:spcBef>
              <a:buChar char="•"/>
              <a:tabLst>
                <a:tab pos="688340" algn="l"/>
              </a:tabLst>
            </a:pPr>
            <a:r>
              <a:rPr dirty="0" sz="2650" spc="-20">
                <a:latin typeface="Microsoft Sans Serif"/>
                <a:cs typeface="Microsoft Sans Serif"/>
              </a:rPr>
              <a:t>ranged-</a:t>
            </a:r>
            <a:r>
              <a:rPr dirty="0" sz="2650">
                <a:latin typeface="Microsoft Sans Serif"/>
                <a:cs typeface="Microsoft Sans Serif"/>
              </a:rPr>
              <a:t>based</a:t>
            </a:r>
            <a:r>
              <a:rPr dirty="0" sz="2650" spc="165">
                <a:latin typeface="Microsoft Sans Serif"/>
                <a:cs typeface="Microsoft Sans Serif"/>
              </a:rPr>
              <a:t> </a:t>
            </a:r>
            <a:r>
              <a:rPr dirty="0" sz="2650" spc="-25">
                <a:latin typeface="Microsoft Sans Serif"/>
                <a:cs typeface="Microsoft Sans Serif"/>
              </a:rPr>
              <a:t>for</a:t>
            </a:r>
            <a:endParaRPr sz="265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0"/>
              <a:t>std::vector</a:t>
            </a:r>
          </a:p>
        </p:txBody>
      </p:sp>
      <p:sp>
        <p:nvSpPr>
          <p:cNvPr id="3" name="object 3" descr="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76835" rIns="0" bIns="0" rtlCol="0" vert="horz">
            <a:spAutoFit/>
          </a:bodyPr>
          <a:lstStyle/>
          <a:p>
            <a:pPr marL="242570" indent="-229870">
              <a:lnSpc>
                <a:spcPct val="100000"/>
              </a:lnSpc>
              <a:spcBef>
                <a:spcPts val="605"/>
              </a:spcBef>
              <a:buChar char="•"/>
              <a:tabLst>
                <a:tab pos="242570" algn="l"/>
              </a:tabLst>
            </a:pPr>
            <a:r>
              <a:rPr dirty="0" spc="-55"/>
              <a:t>Динамический</a:t>
            </a:r>
            <a:r>
              <a:rPr dirty="0" spc="-110"/>
              <a:t> </a:t>
            </a:r>
            <a:r>
              <a:rPr dirty="0" spc="-10"/>
              <a:t>массив</a:t>
            </a:r>
          </a:p>
          <a:p>
            <a:pPr marL="242570" indent="-229870">
              <a:lnSpc>
                <a:spcPct val="100000"/>
              </a:lnSpc>
              <a:spcBef>
                <a:spcPts val="500"/>
              </a:spcBef>
              <a:buChar char="•"/>
              <a:tabLst>
                <a:tab pos="242570" algn="l"/>
              </a:tabLst>
            </a:pPr>
            <a:r>
              <a:rPr dirty="0"/>
              <a:t>size()</a:t>
            </a:r>
            <a:r>
              <a:rPr dirty="0" spc="-110"/>
              <a:t> </a:t>
            </a:r>
            <a:r>
              <a:rPr dirty="0"/>
              <a:t>-</a:t>
            </a:r>
            <a:r>
              <a:rPr dirty="0" spc="-95"/>
              <a:t> </a:t>
            </a:r>
            <a:r>
              <a:rPr dirty="0" spc="-20"/>
              <a:t>размер</a:t>
            </a:r>
            <a:r>
              <a:rPr dirty="0" spc="-90"/>
              <a:t> </a:t>
            </a:r>
            <a:r>
              <a:rPr dirty="0" spc="-10"/>
              <a:t>массива</a:t>
            </a:r>
          </a:p>
          <a:p>
            <a:pPr marL="242570" indent="-229870">
              <a:lnSpc>
                <a:spcPct val="100000"/>
              </a:lnSpc>
              <a:spcBef>
                <a:spcPts val="495"/>
              </a:spcBef>
              <a:buChar char="•"/>
              <a:tabLst>
                <a:tab pos="242570" algn="l"/>
              </a:tabLst>
            </a:pPr>
            <a:r>
              <a:rPr dirty="0"/>
              <a:t>capacity()</a:t>
            </a:r>
            <a:r>
              <a:rPr dirty="0" spc="-125"/>
              <a:t> </a:t>
            </a:r>
            <a:r>
              <a:rPr dirty="0"/>
              <a:t>-</a:t>
            </a:r>
            <a:r>
              <a:rPr dirty="0" spc="-125"/>
              <a:t> </a:t>
            </a:r>
            <a:r>
              <a:rPr dirty="0" spc="-20"/>
              <a:t>вместимость</a:t>
            </a:r>
            <a:r>
              <a:rPr dirty="0" spc="-110"/>
              <a:t> </a:t>
            </a:r>
            <a:r>
              <a:rPr dirty="0" spc="-10"/>
              <a:t>массива</a:t>
            </a:r>
          </a:p>
          <a:p>
            <a:pPr marL="242570" indent="-229870">
              <a:lnSpc>
                <a:spcPct val="100000"/>
              </a:lnSpc>
              <a:spcBef>
                <a:spcPts val="505"/>
              </a:spcBef>
              <a:buChar char="•"/>
              <a:tabLst>
                <a:tab pos="242570" algn="l"/>
              </a:tabLst>
            </a:pPr>
            <a:r>
              <a:rPr dirty="0"/>
              <a:t>push_back()</a:t>
            </a:r>
            <a:r>
              <a:rPr dirty="0" spc="-150"/>
              <a:t> </a:t>
            </a:r>
            <a:r>
              <a:rPr dirty="0"/>
              <a:t>-</a:t>
            </a:r>
            <a:r>
              <a:rPr dirty="0" spc="-135"/>
              <a:t> </a:t>
            </a:r>
            <a:r>
              <a:rPr dirty="0"/>
              <a:t>добавить</a:t>
            </a:r>
            <a:r>
              <a:rPr dirty="0" spc="-145"/>
              <a:t> </a:t>
            </a:r>
            <a:r>
              <a:rPr dirty="0"/>
              <a:t>элемент</a:t>
            </a:r>
            <a:r>
              <a:rPr dirty="0" spc="-120"/>
              <a:t> </a:t>
            </a:r>
            <a:r>
              <a:rPr dirty="0"/>
              <a:t>в</a:t>
            </a:r>
            <a:r>
              <a:rPr dirty="0" spc="-145"/>
              <a:t> </a:t>
            </a:r>
            <a:r>
              <a:rPr dirty="0"/>
              <a:t>конец</a:t>
            </a:r>
            <a:r>
              <a:rPr dirty="0" spc="-150"/>
              <a:t> </a:t>
            </a:r>
            <a:r>
              <a:rPr dirty="0" spc="-10"/>
              <a:t>массива</a:t>
            </a:r>
          </a:p>
          <a:p>
            <a:pPr marL="242570" indent="-229870">
              <a:lnSpc>
                <a:spcPct val="100000"/>
              </a:lnSpc>
              <a:spcBef>
                <a:spcPts val="505"/>
              </a:spcBef>
              <a:buChar char="•"/>
              <a:tabLst>
                <a:tab pos="242570" algn="l"/>
              </a:tabLst>
            </a:pPr>
            <a:r>
              <a:rPr dirty="0"/>
              <a:t>pop_back()</a:t>
            </a:r>
            <a:r>
              <a:rPr dirty="0" spc="-125"/>
              <a:t> </a:t>
            </a:r>
            <a:r>
              <a:rPr dirty="0"/>
              <a:t>-</a:t>
            </a:r>
            <a:r>
              <a:rPr dirty="0" spc="-140"/>
              <a:t> </a:t>
            </a:r>
            <a:r>
              <a:rPr dirty="0" spc="-25"/>
              <a:t>извлечь</a:t>
            </a:r>
            <a:r>
              <a:rPr dirty="0" spc="-160"/>
              <a:t> </a:t>
            </a:r>
            <a:r>
              <a:rPr dirty="0"/>
              <a:t>элемент</a:t>
            </a:r>
            <a:r>
              <a:rPr dirty="0" spc="-114"/>
              <a:t> </a:t>
            </a:r>
            <a:r>
              <a:rPr dirty="0"/>
              <a:t>с</a:t>
            </a:r>
            <a:r>
              <a:rPr dirty="0" spc="-140"/>
              <a:t> </a:t>
            </a:r>
            <a:r>
              <a:rPr dirty="0"/>
              <a:t>конца</a:t>
            </a:r>
            <a:r>
              <a:rPr dirty="0" spc="-125"/>
              <a:t> </a:t>
            </a:r>
            <a:r>
              <a:rPr dirty="0" spc="-10"/>
              <a:t>массива</a:t>
            </a:r>
          </a:p>
          <a:p>
            <a:pPr marL="241300" marR="5080" indent="-228600">
              <a:lnSpc>
                <a:spcPts val="2890"/>
              </a:lnSpc>
              <a:spcBef>
                <a:spcPts val="1030"/>
              </a:spcBef>
              <a:buChar char="•"/>
              <a:tabLst>
                <a:tab pos="241300" algn="l"/>
              </a:tabLst>
            </a:pPr>
            <a:r>
              <a:rPr dirty="0"/>
              <a:t>front()</a:t>
            </a:r>
            <a:r>
              <a:rPr dirty="0" spc="-105"/>
              <a:t> </a:t>
            </a:r>
            <a:r>
              <a:rPr dirty="0"/>
              <a:t>/</a:t>
            </a:r>
            <a:r>
              <a:rPr dirty="0" spc="-110"/>
              <a:t> </a:t>
            </a:r>
            <a:r>
              <a:rPr dirty="0"/>
              <a:t>back()</a:t>
            </a:r>
            <a:r>
              <a:rPr dirty="0" spc="-90"/>
              <a:t> </a:t>
            </a:r>
            <a:r>
              <a:rPr dirty="0"/>
              <a:t>-</a:t>
            </a:r>
            <a:r>
              <a:rPr dirty="0" spc="-110"/>
              <a:t> </a:t>
            </a:r>
            <a:r>
              <a:rPr dirty="0"/>
              <a:t>обращение</a:t>
            </a:r>
            <a:r>
              <a:rPr dirty="0" spc="-70"/>
              <a:t> </a:t>
            </a:r>
            <a:r>
              <a:rPr dirty="0"/>
              <a:t>к</a:t>
            </a:r>
            <a:r>
              <a:rPr dirty="0" spc="-110"/>
              <a:t> </a:t>
            </a:r>
            <a:r>
              <a:rPr dirty="0" spc="-30"/>
              <a:t>первому/последнему</a:t>
            </a:r>
            <a:r>
              <a:rPr dirty="0" spc="-65"/>
              <a:t> </a:t>
            </a:r>
            <a:r>
              <a:rPr dirty="0" spc="-10"/>
              <a:t>элементу массива</a:t>
            </a:r>
          </a:p>
          <a:p>
            <a:pPr marL="242570" indent="-229870">
              <a:lnSpc>
                <a:spcPct val="100000"/>
              </a:lnSpc>
              <a:spcBef>
                <a:spcPts val="489"/>
              </a:spcBef>
              <a:buChar char="•"/>
              <a:tabLst>
                <a:tab pos="242570" algn="l"/>
              </a:tabLst>
            </a:pPr>
            <a:r>
              <a:rPr dirty="0"/>
              <a:t>data()</a:t>
            </a:r>
            <a:r>
              <a:rPr dirty="0" spc="-100"/>
              <a:t> </a:t>
            </a:r>
            <a:r>
              <a:rPr dirty="0"/>
              <a:t>-</a:t>
            </a:r>
            <a:r>
              <a:rPr dirty="0" spc="-100"/>
              <a:t> </a:t>
            </a:r>
            <a:r>
              <a:rPr dirty="0" spc="-50"/>
              <a:t>указатель</a:t>
            </a:r>
            <a:r>
              <a:rPr dirty="0" spc="-135"/>
              <a:t> </a:t>
            </a:r>
            <a:r>
              <a:rPr dirty="0"/>
              <a:t>на</a:t>
            </a:r>
            <a:r>
              <a:rPr dirty="0" spc="-100"/>
              <a:t> </a:t>
            </a:r>
            <a:r>
              <a:rPr dirty="0"/>
              <a:t>элементы</a:t>
            </a:r>
            <a:r>
              <a:rPr dirty="0" spc="-80"/>
              <a:t> </a:t>
            </a:r>
            <a:r>
              <a:rPr dirty="0" spc="-10"/>
              <a:t>массива</a:t>
            </a:r>
          </a:p>
          <a:p>
            <a:pPr marL="242570" indent="-229870">
              <a:lnSpc>
                <a:spcPct val="100000"/>
              </a:lnSpc>
              <a:spcBef>
                <a:spcPts val="500"/>
              </a:spcBef>
              <a:buClr>
                <a:srgbClr val="000000"/>
              </a:buClr>
              <a:buChar char="•"/>
              <a:tabLst>
                <a:tab pos="242570" algn="l"/>
              </a:tabLst>
            </a:pPr>
            <a:r>
              <a:rPr dirty="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hlinkClick r:id="rId2"/>
              </a:rPr>
              <a:t>cppreference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0"/>
              <a:t>std::string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70915" y="1750847"/>
            <a:ext cx="9279890" cy="4322445"/>
          </a:xfrm>
          <a:prstGeom prst="rect">
            <a:avLst/>
          </a:prstGeom>
        </p:spPr>
        <p:txBody>
          <a:bodyPr wrap="square" lIns="0" tIns="76835" rIns="0" bIns="0" rtlCol="0" vert="horz">
            <a:spAutoFit/>
          </a:bodyPr>
          <a:lstStyle/>
          <a:p>
            <a:pPr marL="242570" indent="-229870">
              <a:lnSpc>
                <a:spcPct val="100000"/>
              </a:lnSpc>
              <a:spcBef>
                <a:spcPts val="605"/>
              </a:spcBef>
              <a:buChar char="•"/>
              <a:tabLst>
                <a:tab pos="242570" algn="l"/>
              </a:tabLst>
            </a:pPr>
            <a:r>
              <a:rPr dirty="0" sz="2800" spc="-20">
                <a:latin typeface="Microsoft Sans Serif"/>
                <a:cs typeface="Microsoft Sans Serif"/>
              </a:rPr>
              <a:t>Похоже</a:t>
            </a:r>
            <a:r>
              <a:rPr dirty="0" sz="2800" spc="-12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на</a:t>
            </a:r>
            <a:r>
              <a:rPr dirty="0" sz="2800" spc="-130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std::vector&lt;char&gt;</a:t>
            </a:r>
            <a:endParaRPr sz="28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500"/>
              </a:spcBef>
            </a:pPr>
            <a:r>
              <a:rPr dirty="0" sz="2800">
                <a:latin typeface="Microsoft Sans Serif"/>
                <a:cs typeface="Microsoft Sans Serif"/>
              </a:rPr>
              <a:t>•</a:t>
            </a:r>
            <a:r>
              <a:rPr dirty="0" sz="2800" spc="-15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+</a:t>
            </a:r>
            <a:r>
              <a:rPr dirty="0" sz="2800" spc="-45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(+=)</a:t>
            </a:r>
            <a:r>
              <a:rPr dirty="0" sz="2800" spc="-3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-</a:t>
            </a:r>
            <a:r>
              <a:rPr dirty="0" sz="2800" spc="-5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сложить</a:t>
            </a:r>
            <a:r>
              <a:rPr dirty="0" sz="2800" spc="-20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строки</a:t>
            </a:r>
            <a:endParaRPr sz="2800">
              <a:latin typeface="Microsoft Sans Serif"/>
              <a:cs typeface="Microsoft Sans Serif"/>
            </a:endParaRPr>
          </a:p>
          <a:p>
            <a:pPr marL="242570" indent="-229870">
              <a:lnSpc>
                <a:spcPct val="100000"/>
              </a:lnSpc>
              <a:spcBef>
                <a:spcPts val="495"/>
              </a:spcBef>
              <a:buChar char="•"/>
              <a:tabLst>
                <a:tab pos="242570" algn="l"/>
              </a:tabLst>
            </a:pPr>
            <a:r>
              <a:rPr dirty="0" sz="2800" spc="-10">
                <a:latin typeface="Microsoft Sans Serif"/>
                <a:cs typeface="Microsoft Sans Serif"/>
              </a:rPr>
              <a:t>substr(start,</a:t>
            </a:r>
            <a:r>
              <a:rPr dirty="0" sz="2800" spc="-114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count)</a:t>
            </a:r>
            <a:r>
              <a:rPr dirty="0" sz="2800" spc="-9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-</a:t>
            </a:r>
            <a:r>
              <a:rPr dirty="0" sz="2800" spc="-11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вернуть</a:t>
            </a:r>
            <a:r>
              <a:rPr dirty="0" sz="2800" spc="-90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подстроку</a:t>
            </a:r>
            <a:endParaRPr sz="2800">
              <a:latin typeface="Microsoft Sans Serif"/>
              <a:cs typeface="Microsoft Sans Serif"/>
            </a:endParaRPr>
          </a:p>
          <a:p>
            <a:pPr marL="242570" indent="-229870">
              <a:lnSpc>
                <a:spcPct val="100000"/>
              </a:lnSpc>
              <a:spcBef>
                <a:spcPts val="505"/>
              </a:spcBef>
              <a:buChar char="•"/>
              <a:tabLst>
                <a:tab pos="242570" algn="l"/>
              </a:tabLst>
            </a:pPr>
            <a:r>
              <a:rPr dirty="0" sz="2800" spc="-10">
                <a:latin typeface="Microsoft Sans Serif"/>
                <a:cs typeface="Microsoft Sans Serif"/>
              </a:rPr>
              <a:t>find(std::string)</a:t>
            </a:r>
            <a:r>
              <a:rPr dirty="0" sz="2800" spc="-12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-</a:t>
            </a:r>
            <a:r>
              <a:rPr dirty="0" sz="2800" spc="-12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найти</a:t>
            </a:r>
            <a:r>
              <a:rPr dirty="0" sz="2800" spc="-120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индекс</a:t>
            </a:r>
            <a:r>
              <a:rPr dirty="0" sz="2800" spc="-135">
                <a:latin typeface="Microsoft Sans Serif"/>
                <a:cs typeface="Microsoft Sans Serif"/>
              </a:rPr>
              <a:t> </a:t>
            </a:r>
            <a:r>
              <a:rPr dirty="0" sz="2800" spc="-20">
                <a:latin typeface="Microsoft Sans Serif"/>
                <a:cs typeface="Microsoft Sans Serif"/>
              </a:rPr>
              <a:t>вхождения</a:t>
            </a:r>
            <a:r>
              <a:rPr dirty="0" sz="2800" spc="-114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подстроки</a:t>
            </a:r>
            <a:endParaRPr sz="2800">
              <a:latin typeface="Microsoft Sans Serif"/>
              <a:cs typeface="Microsoft Sans Serif"/>
            </a:endParaRPr>
          </a:p>
          <a:p>
            <a:pPr marL="242570" indent="-229870">
              <a:lnSpc>
                <a:spcPct val="100000"/>
              </a:lnSpc>
              <a:spcBef>
                <a:spcPts val="505"/>
              </a:spcBef>
              <a:buChar char="•"/>
              <a:tabLst>
                <a:tab pos="242570" algn="l"/>
              </a:tabLst>
            </a:pPr>
            <a:r>
              <a:rPr dirty="0" sz="2800">
                <a:latin typeface="Microsoft Sans Serif"/>
                <a:cs typeface="Microsoft Sans Serif"/>
              </a:rPr>
              <a:t>insert(pos,</a:t>
            </a:r>
            <a:r>
              <a:rPr dirty="0" sz="2800" spc="-13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string)</a:t>
            </a:r>
            <a:r>
              <a:rPr dirty="0" sz="2800" spc="-125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-</a:t>
            </a:r>
            <a:r>
              <a:rPr dirty="0" sz="2800" spc="-135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вставить</a:t>
            </a:r>
            <a:r>
              <a:rPr dirty="0" sz="2800" spc="-114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строку</a:t>
            </a:r>
            <a:r>
              <a:rPr dirty="0" sz="2800" spc="-145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на</a:t>
            </a:r>
            <a:r>
              <a:rPr dirty="0" sz="2800" spc="-125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нужную</a:t>
            </a:r>
            <a:r>
              <a:rPr dirty="0" sz="2800" spc="-125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позицию</a:t>
            </a:r>
            <a:endParaRPr sz="2800">
              <a:latin typeface="Microsoft Sans Serif"/>
              <a:cs typeface="Microsoft Sans Serif"/>
            </a:endParaRPr>
          </a:p>
          <a:p>
            <a:pPr marL="241300" marR="19050" indent="-228600">
              <a:lnSpc>
                <a:spcPts val="2890"/>
              </a:lnSpc>
              <a:spcBef>
                <a:spcPts val="1030"/>
              </a:spcBef>
              <a:buChar char="•"/>
              <a:tabLst>
                <a:tab pos="241300" algn="l"/>
              </a:tabLst>
            </a:pPr>
            <a:r>
              <a:rPr dirty="0" sz="2800" spc="-10">
                <a:latin typeface="Microsoft Sans Serif"/>
                <a:cs typeface="Microsoft Sans Serif"/>
              </a:rPr>
              <a:t>replace(start,</a:t>
            </a:r>
            <a:r>
              <a:rPr dirty="0" sz="2800" spc="-11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count,</a:t>
            </a:r>
            <a:r>
              <a:rPr dirty="0" sz="2800" spc="-114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string)</a:t>
            </a:r>
            <a:r>
              <a:rPr dirty="0" sz="2800" spc="-10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-</a:t>
            </a:r>
            <a:r>
              <a:rPr dirty="0" sz="2800" spc="-105">
                <a:latin typeface="Microsoft Sans Serif"/>
                <a:cs typeface="Microsoft Sans Serif"/>
              </a:rPr>
              <a:t> </a:t>
            </a:r>
            <a:r>
              <a:rPr dirty="0" sz="2800" spc="-25">
                <a:latin typeface="Microsoft Sans Serif"/>
                <a:cs typeface="Microsoft Sans Serif"/>
              </a:rPr>
              <a:t>заменить</a:t>
            </a:r>
            <a:r>
              <a:rPr dirty="0" sz="2800" spc="-90">
                <a:latin typeface="Microsoft Sans Serif"/>
                <a:cs typeface="Microsoft Sans Serif"/>
              </a:rPr>
              <a:t> </a:t>
            </a:r>
            <a:r>
              <a:rPr dirty="0" sz="2800" spc="-30">
                <a:latin typeface="Microsoft Sans Serif"/>
                <a:cs typeface="Microsoft Sans Serif"/>
              </a:rPr>
              <a:t>подстроку</a:t>
            </a:r>
            <a:r>
              <a:rPr dirty="0" sz="2800" spc="-135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другой строкой</a:t>
            </a:r>
            <a:endParaRPr sz="2800">
              <a:latin typeface="Microsoft Sans Serif"/>
              <a:cs typeface="Microsoft Sans Serif"/>
            </a:endParaRPr>
          </a:p>
          <a:p>
            <a:pPr marL="242570" indent="-229870">
              <a:lnSpc>
                <a:spcPct val="100000"/>
              </a:lnSpc>
              <a:spcBef>
                <a:spcPts val="489"/>
              </a:spcBef>
              <a:buChar char="•"/>
              <a:tabLst>
                <a:tab pos="242570" algn="l"/>
              </a:tabLst>
            </a:pPr>
            <a:r>
              <a:rPr dirty="0" sz="2800">
                <a:latin typeface="Microsoft Sans Serif"/>
                <a:cs typeface="Microsoft Sans Serif"/>
              </a:rPr>
              <a:t>erase(start,</a:t>
            </a:r>
            <a:r>
              <a:rPr dirty="0" sz="2800" spc="-150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count)</a:t>
            </a:r>
            <a:r>
              <a:rPr dirty="0" sz="2800" spc="-105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-</a:t>
            </a:r>
            <a:r>
              <a:rPr dirty="0" sz="2800" spc="-114">
                <a:latin typeface="Microsoft Sans Serif"/>
                <a:cs typeface="Microsoft Sans Serif"/>
              </a:rPr>
              <a:t> </a:t>
            </a:r>
            <a:r>
              <a:rPr dirty="0" sz="2800">
                <a:latin typeface="Microsoft Sans Serif"/>
                <a:cs typeface="Microsoft Sans Serif"/>
              </a:rPr>
              <a:t>удалить</a:t>
            </a:r>
            <a:r>
              <a:rPr dirty="0" sz="2800" spc="-114">
                <a:latin typeface="Microsoft Sans Serif"/>
                <a:cs typeface="Microsoft Sans Serif"/>
              </a:rPr>
              <a:t> </a:t>
            </a:r>
            <a:r>
              <a:rPr dirty="0" sz="2800" spc="-10">
                <a:latin typeface="Microsoft Sans Serif"/>
                <a:cs typeface="Microsoft Sans Serif"/>
              </a:rPr>
              <a:t>подстроку</a:t>
            </a:r>
            <a:endParaRPr sz="2800">
              <a:latin typeface="Microsoft Sans Serif"/>
              <a:cs typeface="Microsoft Sans Serif"/>
            </a:endParaRPr>
          </a:p>
          <a:p>
            <a:pPr marL="242570" indent="-229870">
              <a:lnSpc>
                <a:spcPct val="100000"/>
              </a:lnSpc>
              <a:spcBef>
                <a:spcPts val="500"/>
              </a:spcBef>
              <a:buClr>
                <a:srgbClr val="000000"/>
              </a:buClr>
              <a:buChar char="•"/>
              <a:tabLst>
                <a:tab pos="242570" algn="l"/>
              </a:tabLst>
            </a:pPr>
            <a:r>
              <a:rPr dirty="0" u="sng" sz="2800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Microsoft Sans Serif"/>
                <a:cs typeface="Microsoft Sans Serif"/>
                <a:hlinkClick r:id="rId2"/>
              </a:rPr>
              <a:t>cppreference</a:t>
            </a:r>
            <a:endParaRPr sz="28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Семинар_2</dc:title>
  <dcterms:created xsi:type="dcterms:W3CDTF">2025-08-31T13:34:09Z</dcterms:created>
  <dcterms:modified xsi:type="dcterms:W3CDTF">2025-08-31T13:34:09Z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2024-09-12T00:00:00Z</vt:filetime>
  </property>
  <property fmtid="{D5CDD505-2E9C-101B-9397-08002B2CF9AE}" pid="3" name="Creator">
    <vt:lpwstr>Microsoft® PowerPoint® LTSC</vt:lpwstr>
  </property>
  <property fmtid="{D5CDD505-2E9C-101B-9397-08002B2CF9AE}" pid="4" name="LastSaved">
    <vt:filetime>2025-08-31T00:00:00Z</vt:filetime>
  </property>
  <property fmtid="{D5CDD505-2E9C-101B-9397-08002B2CF9AE}" pid="5" name="Producer">
    <vt:lpwstr>Microsoft® PowerPoint® LTSC</vt:lpwstr>
  </property>
</Properties>
</file>