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64" r:id="rId7"/>
    <p:sldId id="259" r:id="rId8"/>
    <p:sldId id="260" r:id="rId9"/>
    <p:sldId id="261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3139" y="583405"/>
            <a:ext cx="5786727" cy="57953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1219" y="642446"/>
            <a:ext cx="372872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1219" y="1822455"/>
            <a:ext cx="10259060" cy="2174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3279543/what-is-the-copy-and-swap-idiom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pvs-studio/articles/465575/" TargetMode="External"/><Relationship Id="rId2" Type="http://schemas.openxmlformats.org/officeDocument/2006/relationships/hyperlink" Target="https://habr.com/ru/articles/791042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abr.com/ru/articles/766976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3360" y="1101605"/>
            <a:ext cx="7865745" cy="2361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5650" dirty="0"/>
              <a:t>Семинар</a:t>
            </a:r>
            <a:r>
              <a:rPr sz="5650" spc="-65" dirty="0"/>
              <a:t> </a:t>
            </a:r>
            <a:r>
              <a:rPr sz="5650" dirty="0"/>
              <a:t>по</a:t>
            </a:r>
            <a:r>
              <a:rPr sz="5650" spc="-65" dirty="0"/>
              <a:t> </a:t>
            </a:r>
            <a:r>
              <a:rPr sz="5650" dirty="0"/>
              <a:t>C</a:t>
            </a:r>
            <a:r>
              <a:rPr sz="5650"/>
              <a:t>++</a:t>
            </a:r>
            <a:r>
              <a:rPr sz="5650" spc="-65"/>
              <a:t> </a:t>
            </a:r>
            <a:r>
              <a:rPr sz="5650" spc="170"/>
              <a:t>№</a:t>
            </a:r>
            <a:r>
              <a:rPr lang="en-US" sz="5650" spc="170"/>
              <a:t>9</a:t>
            </a:r>
            <a:endParaRPr sz="5650" dirty="0"/>
          </a:p>
          <a:p>
            <a:pPr algn="ctr">
              <a:lnSpc>
                <a:spcPct val="100000"/>
              </a:lnSpc>
              <a:spcBef>
                <a:spcPts val="4845"/>
              </a:spcBef>
            </a:pPr>
            <a:r>
              <a:rPr sz="5650" spc="-40" dirty="0"/>
              <a:t>Перегрузка</a:t>
            </a:r>
            <a:r>
              <a:rPr sz="5650" spc="-290" dirty="0"/>
              <a:t> </a:t>
            </a:r>
            <a:r>
              <a:rPr sz="5650" spc="-10" dirty="0"/>
              <a:t>операторов</a:t>
            </a:r>
            <a:endParaRPr sz="5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A6788-F686-4CF3-8D5B-64EDA6362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1640" y="533400"/>
            <a:ext cx="3728720" cy="695960"/>
          </a:xfrm>
        </p:spPr>
        <p:txBody>
          <a:bodyPr/>
          <a:lstStyle/>
          <a:p>
            <a:r>
              <a:rPr lang="ru-RU" dirty="0"/>
              <a:t>Конструктор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3122EB-F6ED-4C3B-9F70-F775F3B51BD5}"/>
              </a:ext>
            </a:extLst>
          </p:cNvPr>
          <p:cNvSpPr txBox="1"/>
          <p:nvPr/>
        </p:nvSpPr>
        <p:spPr>
          <a:xfrm>
            <a:off x="685800" y="1752600"/>
            <a:ext cx="11277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ComplexNumber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= default;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- принудительное создание конструктора по умолчанию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Поля инициализируется в порядке объявления в самом классе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Rule of Three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– copy constructor, destructor, copy assignment operator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315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4AC4D-BD93-4E19-B556-7868D3782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809" y="457200"/>
            <a:ext cx="6596381" cy="1354217"/>
          </a:xfrm>
        </p:spPr>
        <p:txBody>
          <a:bodyPr/>
          <a:lstStyle/>
          <a:p>
            <a:r>
              <a:rPr lang="ru-RU" dirty="0"/>
              <a:t>Оператор присваивания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8103F5-364D-45DC-9EE4-591502156C75}"/>
              </a:ext>
            </a:extLst>
          </p:cNvPr>
          <p:cNvSpPr txBox="1"/>
          <p:nvPr/>
        </p:nvSpPr>
        <p:spPr>
          <a:xfrm>
            <a:off x="2971800" y="259080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CCB56-4018-4CDD-A9E9-7E03C12B3FEF}"/>
              </a:ext>
            </a:extLst>
          </p:cNvPr>
          <p:cNvSpPr txBox="1"/>
          <p:nvPr/>
        </p:nvSpPr>
        <p:spPr>
          <a:xfrm>
            <a:off x="2247899" y="1811417"/>
            <a:ext cx="7696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Присваивание самому себе</a:t>
            </a:r>
            <a:r>
              <a:rPr lang="en-US" sz="2800" dirty="0"/>
              <a:t>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*this == other </a:t>
            </a:r>
            <a:r>
              <a:rPr lang="en-US" sz="2800" dirty="0">
                <a:solidFill>
                  <a:schemeClr val="tx1"/>
                </a:solidFill>
              </a:rPr>
              <a:t>– </a:t>
            </a:r>
            <a:r>
              <a:rPr lang="ru-RU" sz="2800" dirty="0">
                <a:solidFill>
                  <a:schemeClr val="tx1"/>
                </a:solidFill>
              </a:rPr>
              <a:t>сравнение объектов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>
                <a:solidFill>
                  <a:srgbClr val="00B050"/>
                </a:solidFill>
              </a:rPr>
              <a:t>this == &amp;other</a:t>
            </a:r>
            <a:r>
              <a:rPr lang="ru-RU" sz="2800" dirty="0">
                <a:solidFill>
                  <a:schemeClr val="tx1"/>
                </a:solidFill>
              </a:rPr>
              <a:t> – сравнение указателей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ru-RU" sz="2800" dirty="0">
                <a:solidFill>
                  <a:schemeClr val="tx1"/>
                </a:solidFill>
              </a:rPr>
              <a:t>Идиома </a:t>
            </a:r>
            <a:r>
              <a:rPr lang="en-US" sz="2800" dirty="0">
                <a:solidFill>
                  <a:schemeClr val="tx1"/>
                </a:solidFill>
                <a:hlinkClick r:id="rId2"/>
              </a:rPr>
              <a:t>copy-and-swap</a:t>
            </a:r>
            <a:r>
              <a:rPr lang="en-US" sz="2800" dirty="0">
                <a:solidFill>
                  <a:schemeClr val="tx1"/>
                </a:solidFill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800" dirty="0">
                <a:solidFill>
                  <a:schemeClr val="tx1"/>
                </a:solidFill>
              </a:rPr>
              <a:t>Принимаем по значению (конструктор копированием)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800" dirty="0">
                <a:solidFill>
                  <a:schemeClr val="tx1"/>
                </a:solidFill>
              </a:rPr>
              <a:t>Делаем </a:t>
            </a:r>
            <a:r>
              <a:rPr lang="en-US" sz="2800" dirty="0">
                <a:solidFill>
                  <a:schemeClr val="tx1"/>
                </a:solidFill>
              </a:rPr>
              <a:t>swap </a:t>
            </a:r>
            <a:r>
              <a:rPr lang="ru-RU" sz="2800" dirty="0">
                <a:solidFill>
                  <a:schemeClr val="tx1"/>
                </a:solidFill>
              </a:rPr>
              <a:t>полей</a:t>
            </a:r>
          </a:p>
        </p:txBody>
      </p:sp>
    </p:spTree>
    <p:extLst>
      <p:ext uri="{BB962C8B-B14F-4D97-AF65-F5344CB8AC3E}">
        <p14:creationId xmlns:p14="http://schemas.microsoft.com/office/powerpoint/2010/main" val="146127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44005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Операторы</a:t>
            </a:r>
            <a:r>
              <a:rPr spc="-120" dirty="0"/>
              <a:t> </a:t>
            </a:r>
            <a:r>
              <a:rPr dirty="0"/>
              <a:t>+,</a:t>
            </a:r>
            <a:r>
              <a:rPr spc="-114" dirty="0"/>
              <a:t> </a:t>
            </a:r>
            <a:r>
              <a:rPr spc="-25" dirty="0"/>
              <a:t>+=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10190480" cy="3150863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630"/>
              </a:spcBef>
              <a:buChar char="•"/>
              <a:tabLst>
                <a:tab pos="241935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Выражаем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+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через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+=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lang="ru-RU" sz="2800" spc="725" dirty="0">
                <a:latin typeface="Microsoft Sans Serif"/>
                <a:cs typeface="Microsoft Sans Serif"/>
              </a:rPr>
              <a:t> - </a:t>
            </a:r>
            <a:r>
              <a:rPr sz="2800" spc="-25" dirty="0" err="1">
                <a:latin typeface="Microsoft Sans Serif"/>
                <a:cs typeface="Microsoft Sans Serif"/>
              </a:rPr>
              <a:t>экономим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на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копировании</a:t>
            </a:r>
            <a:endParaRPr sz="2800" dirty="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ts val="2890"/>
              </a:lnSpc>
              <a:spcBef>
                <a:spcPts val="1015"/>
              </a:spcBef>
            </a:pPr>
            <a:r>
              <a:rPr sz="2800" dirty="0">
                <a:latin typeface="Microsoft Sans Serif"/>
                <a:cs typeface="Microsoft Sans Serif"/>
              </a:rPr>
              <a:t>•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+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не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надо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делать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членом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класса,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ибо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левый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операнд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может </a:t>
            </a:r>
            <a:r>
              <a:rPr sz="2800" dirty="0">
                <a:latin typeface="Microsoft Sans Serif"/>
                <a:cs typeface="Microsoft Sans Serif"/>
              </a:rPr>
              <a:t>не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быть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объектом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класса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09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Нужно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писать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+=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b;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return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a;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вместо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return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a+=b;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(RVO)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Что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делать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с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+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25" dirty="0">
                <a:latin typeface="Microsoft Sans Serif"/>
                <a:cs typeface="Microsoft Sans Serif"/>
              </a:rPr>
              <a:t> 5?</a:t>
            </a:r>
            <a:endParaRPr sz="28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25"/>
              </a:spcBef>
              <a:buChar char="•"/>
              <a:tabLst>
                <a:tab pos="697865" algn="l"/>
              </a:tabLst>
            </a:pPr>
            <a:r>
              <a:rPr sz="2400" spc="-20" dirty="0">
                <a:latin typeface="Microsoft Sans Serif"/>
                <a:cs typeface="Microsoft Sans Serif"/>
              </a:rPr>
              <a:t>Возвращать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const</a:t>
            </a:r>
            <a:endParaRPr sz="24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50"/>
              </a:spcBef>
              <a:buChar char="•"/>
              <a:tabLst>
                <a:tab pos="697865" algn="l"/>
              </a:tabLst>
            </a:pPr>
            <a:r>
              <a:rPr sz="2400" spc="-40" dirty="0">
                <a:latin typeface="Microsoft Sans Serif"/>
                <a:cs typeface="Microsoft Sans Serif"/>
              </a:rPr>
              <a:t>Докинуть </a:t>
            </a:r>
            <a:r>
              <a:rPr sz="2400" dirty="0">
                <a:latin typeface="Microsoft Sans Serif"/>
                <a:cs typeface="Microsoft Sans Serif"/>
              </a:rPr>
              <a:t>&amp;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в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" dirty="0" err="1">
                <a:latin typeface="Microsoft Sans Serif"/>
                <a:cs typeface="Microsoft Sans Serif"/>
              </a:rPr>
              <a:t>оператор</a:t>
            </a:r>
            <a:r>
              <a:rPr lang="en-US" sz="2400" spc="-10" dirty="0">
                <a:latin typeface="Microsoft Sans Serif"/>
                <a:cs typeface="Microsoft Sans Serif"/>
              </a:rPr>
              <a:t> </a:t>
            </a:r>
            <a:r>
              <a:rPr lang="ru-RU" sz="2400" spc="-10" dirty="0">
                <a:latin typeface="Microsoft Sans Serif"/>
                <a:cs typeface="Microsoft Sans Serif"/>
              </a:rPr>
              <a:t>присваивания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" dirty="0" err="1">
                <a:latin typeface="Microsoft Sans Serif"/>
                <a:cs typeface="Microsoft Sans Serif"/>
              </a:rPr>
              <a:t>справа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Сравнения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6598284" cy="249555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6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Обычно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реализуют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оператор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&lt;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2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Остальные</a:t>
            </a:r>
            <a:r>
              <a:rPr sz="2800" spc="-13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выражаются</a:t>
            </a:r>
            <a:r>
              <a:rPr sz="2800" spc="-13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через</a:t>
            </a:r>
            <a:r>
              <a:rPr sz="2800" spc="-130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&lt;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Не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пишите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&gt;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-60" dirty="0">
                <a:latin typeface="Microsoft Sans Serif"/>
                <a:cs typeface="Microsoft Sans Serif"/>
              </a:rPr>
              <a:t>как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(a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!=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b)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&amp;&amp;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!(a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&lt;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b)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Лучше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пишите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&lt;</a:t>
            </a:r>
            <a:r>
              <a:rPr sz="2800" spc="-60" dirty="0">
                <a:latin typeface="Microsoft Sans Serif"/>
                <a:cs typeface="Microsoft Sans Serif"/>
              </a:rPr>
              <a:t> a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Старайтесь</a:t>
            </a:r>
            <a:r>
              <a:rPr sz="2800" spc="-170" dirty="0">
                <a:latin typeface="Microsoft Sans Serif"/>
                <a:cs typeface="Microsoft Sans Serif"/>
              </a:rPr>
              <a:t> </a:t>
            </a:r>
            <a:r>
              <a:rPr sz="2800" spc="-35" dirty="0">
                <a:latin typeface="Microsoft Sans Serif"/>
                <a:cs typeface="Microsoft Sans Serif"/>
              </a:rPr>
              <a:t>избегать</a:t>
            </a:r>
            <a:r>
              <a:rPr sz="2800" spc="-15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друзей</a:t>
            </a:r>
            <a:r>
              <a:rPr sz="2800" spc="-16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(friend)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C7596-4879-4B45-A82A-AF3E889B6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218" y="642446"/>
            <a:ext cx="7815582" cy="677108"/>
          </a:xfrm>
        </p:spPr>
        <p:txBody>
          <a:bodyPr/>
          <a:lstStyle/>
          <a:p>
            <a:r>
              <a:rPr lang="en-US" dirty="0"/>
              <a:t>Spaceship operator (</a:t>
            </a:r>
            <a:r>
              <a:rPr lang="en-US" dirty="0">
                <a:sym typeface="Wingdings" panose="05000000000000000000" pitchFamily="2" charset="2"/>
              </a:rPr>
              <a:t>&lt;=&gt;)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E3F46-0617-4E52-B3C6-44FBB76CE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1219" y="1822455"/>
            <a:ext cx="10259060" cy="2154436"/>
          </a:xfrm>
        </p:spPr>
        <p:txBody>
          <a:bodyPr/>
          <a:lstStyle/>
          <a:p>
            <a:endParaRPr lang="ru-RU" dirty="0">
              <a:hlinkClick r:id="rId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hlinkClick r:id="rId3"/>
              </a:rPr>
              <a:t>Подробная статья</a:t>
            </a:r>
            <a:endParaRPr lang="ru-RU" dirty="0">
              <a:hlinkClick r:id="rId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std::</a:t>
            </a:r>
            <a:r>
              <a:rPr lang="en-US" dirty="0" err="1">
                <a:hlinkClick r:id="rId2"/>
              </a:rPr>
              <a:t>strong_ordering</a:t>
            </a:r>
            <a:r>
              <a:rPr lang="en-US" dirty="0">
                <a:hlinkClick r:id="rId2"/>
              </a:rPr>
              <a:t>, std::</a:t>
            </a:r>
            <a:r>
              <a:rPr lang="en-US" dirty="0" err="1">
                <a:hlinkClick r:id="rId2"/>
              </a:rPr>
              <a:t>weak_ordering</a:t>
            </a:r>
            <a:r>
              <a:rPr lang="en-US" dirty="0">
                <a:hlinkClick r:id="rId2"/>
              </a:rPr>
              <a:t> </a:t>
            </a:r>
            <a:r>
              <a:rPr lang="ru-RU" dirty="0">
                <a:hlinkClick r:id="rId2"/>
              </a:rPr>
              <a:t>или </a:t>
            </a:r>
            <a:r>
              <a:rPr lang="en-US" dirty="0">
                <a:hlinkClick r:id="rId2"/>
              </a:rPr>
              <a:t>std::</a:t>
            </a:r>
            <a:r>
              <a:rPr lang="en-US" dirty="0" err="1">
                <a:hlinkClick r:id="rId2"/>
              </a:rPr>
              <a:t>partial_ordering</a:t>
            </a:r>
            <a:r>
              <a:rPr lang="en-US" dirty="0">
                <a:hlinkClick r:id="rId2"/>
              </a:rPr>
              <a:t>?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hlinkClick r:id="rId4"/>
              </a:rPr>
              <a:t>Насколько полезно?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485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Вывод</a:t>
            </a:r>
            <a:r>
              <a:rPr spc="-40" dirty="0"/>
              <a:t> </a:t>
            </a:r>
            <a:r>
              <a:rPr dirty="0"/>
              <a:t>в</a:t>
            </a:r>
            <a:r>
              <a:rPr spc="-40" dirty="0"/>
              <a:t> </a:t>
            </a:r>
            <a:r>
              <a:rPr spc="-85" dirty="0"/>
              <a:t>поток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9998710" cy="249555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6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классе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объявляем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friend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2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Снаружи</a:t>
            </a:r>
            <a:r>
              <a:rPr sz="2800" spc="-18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пишем: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std::ostream&amp;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operator&lt;&lt;(std::ostream&amp;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os,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const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String&amp;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s)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{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30"/>
              </a:spcBef>
              <a:buChar char="•"/>
              <a:tabLst>
                <a:tab pos="241935" algn="l"/>
              </a:tabLst>
            </a:pPr>
            <a:r>
              <a:rPr sz="2800" spc="-25" dirty="0">
                <a:latin typeface="Microsoft Sans Serif"/>
                <a:cs typeface="Microsoft Sans Serif"/>
              </a:rPr>
              <a:t>...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return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os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&lt;&lt;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...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;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8042" y="5212600"/>
            <a:ext cx="118173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CONST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098496" y="5307219"/>
            <a:ext cx="1149350" cy="260985"/>
            <a:chOff x="7098496" y="5307219"/>
            <a:chExt cx="1149350" cy="260985"/>
          </a:xfrm>
        </p:grpSpPr>
        <p:sp>
          <p:nvSpPr>
            <p:cNvPr id="4" name="object 4"/>
            <p:cNvSpPr/>
            <p:nvPr/>
          </p:nvSpPr>
          <p:spPr>
            <a:xfrm>
              <a:off x="7106382" y="5315105"/>
              <a:ext cx="466725" cy="244475"/>
            </a:xfrm>
            <a:custGeom>
              <a:avLst/>
              <a:gdLst/>
              <a:ahLst/>
              <a:cxnLst/>
              <a:rect l="l" t="t" r="r" b="b"/>
              <a:pathLst>
                <a:path w="466725" h="244475">
                  <a:moveTo>
                    <a:pt x="159618" y="153491"/>
                  </a:moveTo>
                  <a:lnTo>
                    <a:pt x="205891" y="168163"/>
                  </a:lnTo>
                  <a:lnTo>
                    <a:pt x="181993" y="215005"/>
                  </a:lnTo>
                  <a:lnTo>
                    <a:pt x="142426" y="239729"/>
                  </a:lnTo>
                  <a:lnTo>
                    <a:pt x="107701" y="244425"/>
                  </a:lnTo>
                  <a:lnTo>
                    <a:pt x="85210" y="242415"/>
                  </a:lnTo>
                  <a:lnTo>
                    <a:pt x="46514" y="226332"/>
                  </a:lnTo>
                  <a:lnTo>
                    <a:pt x="17050" y="194700"/>
                  </a:lnTo>
                  <a:lnTo>
                    <a:pt x="1894" y="150725"/>
                  </a:lnTo>
                  <a:lnTo>
                    <a:pt x="0" y="124308"/>
                  </a:lnTo>
                  <a:lnTo>
                    <a:pt x="1904" y="96451"/>
                  </a:lnTo>
                  <a:lnTo>
                    <a:pt x="17140" y="50621"/>
                  </a:lnTo>
                  <a:lnTo>
                    <a:pt x="46907" y="18365"/>
                  </a:lnTo>
                  <a:lnTo>
                    <a:pt x="86973" y="2040"/>
                  </a:lnTo>
                  <a:lnTo>
                    <a:pt x="110604" y="0"/>
                  </a:lnTo>
                  <a:lnTo>
                    <a:pt x="131271" y="1602"/>
                  </a:lnTo>
                  <a:lnTo>
                    <a:pt x="181061" y="25635"/>
                  </a:lnTo>
                  <a:lnTo>
                    <a:pt x="205246" y="69167"/>
                  </a:lnTo>
                  <a:lnTo>
                    <a:pt x="158005" y="80454"/>
                  </a:lnTo>
                  <a:lnTo>
                    <a:pt x="155340" y="71747"/>
                  </a:lnTo>
                  <a:lnTo>
                    <a:pt x="151536" y="64008"/>
                  </a:lnTo>
                  <a:lnTo>
                    <a:pt x="117340" y="41456"/>
                  </a:lnTo>
                  <a:lnTo>
                    <a:pt x="108185" y="40791"/>
                  </a:lnTo>
                  <a:lnTo>
                    <a:pt x="95665" y="41970"/>
                  </a:lnTo>
                  <a:lnTo>
                    <a:pt x="58380" y="70548"/>
                  </a:lnTo>
                  <a:lnTo>
                    <a:pt x="49175" y="120761"/>
                  </a:lnTo>
                  <a:lnTo>
                    <a:pt x="50182" y="141560"/>
                  </a:lnTo>
                  <a:lnTo>
                    <a:pt x="65298" y="184608"/>
                  </a:lnTo>
                  <a:lnTo>
                    <a:pt x="107218" y="203634"/>
                  </a:lnTo>
                  <a:lnTo>
                    <a:pt x="116398" y="202878"/>
                  </a:lnTo>
                  <a:lnTo>
                    <a:pt x="151717" y="175983"/>
                  </a:lnTo>
                  <a:lnTo>
                    <a:pt x="156151" y="165603"/>
                  </a:lnTo>
                  <a:lnTo>
                    <a:pt x="159618" y="153491"/>
                  </a:lnTo>
                  <a:close/>
                </a:path>
                <a:path w="466725" h="244475">
                  <a:moveTo>
                    <a:pt x="237169" y="123663"/>
                  </a:moveTo>
                  <a:lnTo>
                    <a:pt x="243246" y="76020"/>
                  </a:lnTo>
                  <a:lnTo>
                    <a:pt x="263374" y="38040"/>
                  </a:lnTo>
                  <a:lnTo>
                    <a:pt x="292396" y="13281"/>
                  </a:lnTo>
                  <a:lnTo>
                    <a:pt x="337475" y="584"/>
                  </a:lnTo>
                  <a:lnTo>
                    <a:pt x="351482" y="0"/>
                  </a:lnTo>
                  <a:lnTo>
                    <a:pt x="376296" y="2025"/>
                  </a:lnTo>
                  <a:lnTo>
                    <a:pt x="418095" y="18229"/>
                  </a:lnTo>
                  <a:lnTo>
                    <a:pt x="448800" y="50193"/>
                  </a:lnTo>
                  <a:lnTo>
                    <a:pt x="464479" y="95256"/>
                  </a:lnTo>
                  <a:lnTo>
                    <a:pt x="466439" y="122535"/>
                  </a:lnTo>
                  <a:lnTo>
                    <a:pt x="464494" y="149596"/>
                  </a:lnTo>
                  <a:lnTo>
                    <a:pt x="448936" y="194378"/>
                  </a:lnTo>
                  <a:lnTo>
                    <a:pt x="418453" y="226241"/>
                  </a:lnTo>
                  <a:lnTo>
                    <a:pt x="376856" y="242404"/>
                  </a:lnTo>
                  <a:lnTo>
                    <a:pt x="352127" y="244425"/>
                  </a:lnTo>
                  <a:lnTo>
                    <a:pt x="327116" y="242415"/>
                  </a:lnTo>
                  <a:lnTo>
                    <a:pt x="285196" y="226332"/>
                  </a:lnTo>
                  <a:lnTo>
                    <a:pt x="254673" y="194660"/>
                  </a:lnTo>
                  <a:lnTo>
                    <a:pt x="239114" y="150362"/>
                  </a:lnTo>
                  <a:lnTo>
                    <a:pt x="237169" y="123663"/>
                  </a:lnTo>
                  <a:close/>
                </a:path>
              </a:pathLst>
            </a:custGeom>
            <a:ln w="15773">
              <a:solidFill>
                <a:srgbClr val="3856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4841" y="5348010"/>
              <a:ext cx="146530" cy="1786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2663" y="5311249"/>
              <a:ext cx="203284" cy="25213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836434" y="5315105"/>
              <a:ext cx="403860" cy="245110"/>
            </a:xfrm>
            <a:custGeom>
              <a:avLst/>
              <a:gdLst/>
              <a:ahLst/>
              <a:cxnLst/>
              <a:rect l="l" t="t" r="r" b="b"/>
              <a:pathLst>
                <a:path w="403859" h="245110">
                  <a:moveTo>
                    <a:pt x="0" y="163487"/>
                  </a:moveTo>
                  <a:lnTo>
                    <a:pt x="46434" y="158973"/>
                  </a:lnTo>
                  <a:lnTo>
                    <a:pt x="49069" y="169886"/>
                  </a:lnTo>
                  <a:lnTo>
                    <a:pt x="52782" y="179248"/>
                  </a:lnTo>
                  <a:lnTo>
                    <a:pt x="87704" y="203593"/>
                  </a:lnTo>
                  <a:lnTo>
                    <a:pt x="98028" y="204279"/>
                  </a:lnTo>
                  <a:lnTo>
                    <a:pt x="108845" y="203669"/>
                  </a:lnTo>
                  <a:lnTo>
                    <a:pt x="141540" y="183943"/>
                  </a:lnTo>
                  <a:lnTo>
                    <a:pt x="144462" y="171710"/>
                  </a:lnTo>
                  <a:lnTo>
                    <a:pt x="144462" y="166121"/>
                  </a:lnTo>
                  <a:lnTo>
                    <a:pt x="142823" y="161364"/>
                  </a:lnTo>
                  <a:lnTo>
                    <a:pt x="139544" y="157441"/>
                  </a:lnTo>
                  <a:lnTo>
                    <a:pt x="136266" y="153518"/>
                  </a:lnTo>
                  <a:lnTo>
                    <a:pt x="97735" y="140310"/>
                  </a:lnTo>
                  <a:lnTo>
                    <a:pt x="84162" y="136884"/>
                  </a:lnTo>
                  <a:lnTo>
                    <a:pt x="66406" y="131856"/>
                  </a:lnTo>
                  <a:lnTo>
                    <a:pt x="30311" y="113506"/>
                  </a:lnTo>
                  <a:lnTo>
                    <a:pt x="9905" y="79436"/>
                  </a:lnTo>
                  <a:lnTo>
                    <a:pt x="8545" y="65943"/>
                  </a:lnTo>
                  <a:lnTo>
                    <a:pt x="9185" y="57060"/>
                  </a:lnTo>
                  <a:lnTo>
                    <a:pt x="31278" y="18319"/>
                  </a:lnTo>
                  <a:lnTo>
                    <a:pt x="69550" y="2055"/>
                  </a:lnTo>
                  <a:lnTo>
                    <a:pt x="94803" y="0"/>
                  </a:lnTo>
                  <a:lnTo>
                    <a:pt x="115677" y="1219"/>
                  </a:lnTo>
                  <a:lnTo>
                    <a:pt x="161794" y="19508"/>
                  </a:lnTo>
                  <a:lnTo>
                    <a:pt x="183515" y="56118"/>
                  </a:lnTo>
                  <a:lnTo>
                    <a:pt x="185415" y="71586"/>
                  </a:lnTo>
                  <a:lnTo>
                    <a:pt x="137690" y="73682"/>
                  </a:lnTo>
                  <a:lnTo>
                    <a:pt x="135720" y="65212"/>
                  </a:lnTo>
                  <a:lnTo>
                    <a:pt x="132874" y="58022"/>
                  </a:lnTo>
                  <a:lnTo>
                    <a:pt x="94319" y="39501"/>
                  </a:lnTo>
                  <a:lnTo>
                    <a:pt x="84484" y="40035"/>
                  </a:lnTo>
                  <a:lnTo>
                    <a:pt x="54173" y="56591"/>
                  </a:lnTo>
                  <a:lnTo>
                    <a:pt x="54173" y="62718"/>
                  </a:lnTo>
                  <a:lnTo>
                    <a:pt x="54173" y="68308"/>
                  </a:lnTo>
                  <a:lnTo>
                    <a:pt x="89321" y="88797"/>
                  </a:lnTo>
                  <a:lnTo>
                    <a:pt x="121401" y="97015"/>
                  </a:lnTo>
                  <a:lnTo>
                    <a:pt x="135413" y="101232"/>
                  </a:lnTo>
                  <a:lnTo>
                    <a:pt x="171508" y="120277"/>
                  </a:lnTo>
                  <a:lnTo>
                    <a:pt x="191597" y="160792"/>
                  </a:lnTo>
                  <a:lnTo>
                    <a:pt x="192186" y="171549"/>
                  </a:lnTo>
                  <a:lnTo>
                    <a:pt x="191481" y="181545"/>
                  </a:lnTo>
                  <a:lnTo>
                    <a:pt x="174673" y="217897"/>
                  </a:lnTo>
                  <a:lnTo>
                    <a:pt x="138023" y="239734"/>
                  </a:lnTo>
                  <a:lnTo>
                    <a:pt x="97544" y="244586"/>
                  </a:lnTo>
                  <a:lnTo>
                    <a:pt x="76433" y="243291"/>
                  </a:lnTo>
                  <a:lnTo>
                    <a:pt x="28699" y="223868"/>
                  </a:lnTo>
                  <a:lnTo>
                    <a:pt x="3547" y="182135"/>
                  </a:lnTo>
                  <a:lnTo>
                    <a:pt x="0" y="163487"/>
                  </a:lnTo>
                  <a:close/>
                </a:path>
                <a:path w="403859" h="245110">
                  <a:moveTo>
                    <a:pt x="285539" y="240394"/>
                  </a:moveTo>
                  <a:lnTo>
                    <a:pt x="285539" y="44015"/>
                  </a:lnTo>
                  <a:lnTo>
                    <a:pt x="215403" y="44015"/>
                  </a:lnTo>
                  <a:lnTo>
                    <a:pt x="215403" y="4030"/>
                  </a:lnTo>
                  <a:lnTo>
                    <a:pt x="403237" y="4030"/>
                  </a:lnTo>
                  <a:lnTo>
                    <a:pt x="403237" y="44015"/>
                  </a:lnTo>
                  <a:lnTo>
                    <a:pt x="333263" y="44015"/>
                  </a:lnTo>
                  <a:lnTo>
                    <a:pt x="333263" y="240394"/>
                  </a:lnTo>
                  <a:lnTo>
                    <a:pt x="285539" y="240394"/>
                  </a:lnTo>
                  <a:close/>
                </a:path>
              </a:pathLst>
            </a:custGeom>
            <a:ln w="15773">
              <a:solidFill>
                <a:srgbClr val="3856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const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2890"/>
              </a:lnSpc>
              <a:spcBef>
                <a:spcPts val="585"/>
              </a:spcBef>
            </a:pPr>
            <a:r>
              <a:rPr spc="-20" dirty="0"/>
              <a:t>Для</a:t>
            </a:r>
            <a:r>
              <a:rPr spc="-130" dirty="0"/>
              <a:t> </a:t>
            </a:r>
            <a:r>
              <a:rPr dirty="0"/>
              <a:t>того,</a:t>
            </a:r>
            <a:r>
              <a:rPr spc="-130" dirty="0"/>
              <a:t> </a:t>
            </a:r>
            <a:r>
              <a:rPr dirty="0"/>
              <a:t>чтобы</a:t>
            </a:r>
            <a:r>
              <a:rPr spc="-130" dirty="0"/>
              <a:t> </a:t>
            </a:r>
            <a:r>
              <a:rPr spc="-35" dirty="0"/>
              <a:t>перегрузка</a:t>
            </a:r>
            <a:r>
              <a:rPr spc="-130" dirty="0"/>
              <a:t> </a:t>
            </a:r>
            <a:r>
              <a:rPr spc="-10" dirty="0"/>
              <a:t>операторов</a:t>
            </a:r>
            <a:r>
              <a:rPr spc="-130" dirty="0"/>
              <a:t> </a:t>
            </a:r>
            <a:r>
              <a:rPr spc="-30" dirty="0"/>
              <a:t>корректно</a:t>
            </a:r>
            <a:r>
              <a:rPr spc="-130" dirty="0"/>
              <a:t> </a:t>
            </a:r>
            <a:r>
              <a:rPr dirty="0"/>
              <a:t>работала</a:t>
            </a:r>
            <a:r>
              <a:rPr spc="-125" dirty="0"/>
              <a:t> </a:t>
            </a:r>
            <a:r>
              <a:rPr spc="-50" dirty="0"/>
              <a:t>с </a:t>
            </a:r>
            <a:r>
              <a:rPr spc="-25" dirty="0"/>
              <a:t>константными</a:t>
            </a:r>
            <a:r>
              <a:rPr spc="-145" dirty="0"/>
              <a:t> </a:t>
            </a:r>
            <a:r>
              <a:rPr spc="-25" dirty="0"/>
              <a:t>объектами,</a:t>
            </a:r>
            <a:r>
              <a:rPr spc="-140" dirty="0"/>
              <a:t> </a:t>
            </a:r>
            <a:r>
              <a:rPr dirty="0"/>
              <a:t>добавляйте</a:t>
            </a:r>
            <a:r>
              <a:rPr spc="-140" dirty="0"/>
              <a:t> </a:t>
            </a:r>
            <a:r>
              <a:rPr spc="-10" dirty="0"/>
              <a:t>const.</a:t>
            </a:r>
          </a:p>
          <a:p>
            <a:pPr marL="12700" marR="356235">
              <a:lnSpc>
                <a:spcPts val="2890"/>
              </a:lnSpc>
              <a:spcBef>
                <a:spcPts val="1000"/>
              </a:spcBef>
            </a:pPr>
            <a:r>
              <a:rPr dirty="0"/>
              <a:t>Если</a:t>
            </a:r>
            <a:r>
              <a:rPr spc="-65" dirty="0"/>
              <a:t> </a:t>
            </a:r>
            <a:r>
              <a:rPr dirty="0"/>
              <a:t>вы</a:t>
            </a:r>
            <a:r>
              <a:rPr spc="-60" dirty="0"/>
              <a:t> </a:t>
            </a:r>
            <a:r>
              <a:rPr dirty="0"/>
              <a:t>не</a:t>
            </a:r>
            <a:r>
              <a:rPr spc="-60" dirty="0"/>
              <a:t> </a:t>
            </a:r>
            <a:r>
              <a:rPr spc="-45" dirty="0"/>
              <a:t>можете</a:t>
            </a:r>
            <a:r>
              <a:rPr spc="-60" dirty="0"/>
              <a:t> </a:t>
            </a:r>
            <a:r>
              <a:rPr dirty="0"/>
              <a:t>добавить</a:t>
            </a:r>
            <a:r>
              <a:rPr spc="-60" dirty="0"/>
              <a:t> </a:t>
            </a:r>
            <a:r>
              <a:rPr dirty="0"/>
              <a:t>const,</a:t>
            </a:r>
            <a:r>
              <a:rPr spc="-60" dirty="0"/>
              <a:t> </a:t>
            </a:r>
            <a:r>
              <a:rPr spc="-25" dirty="0"/>
              <a:t>перегрузите</a:t>
            </a:r>
            <a:r>
              <a:rPr spc="-65" dirty="0"/>
              <a:t> </a:t>
            </a:r>
            <a:r>
              <a:rPr spc="-10" dirty="0"/>
              <a:t>оператор</a:t>
            </a:r>
            <a:r>
              <a:rPr spc="-60" dirty="0"/>
              <a:t> </a:t>
            </a:r>
            <a:r>
              <a:rPr spc="-50" dirty="0"/>
              <a:t>и </a:t>
            </a:r>
            <a:r>
              <a:rPr spc="-30" dirty="0"/>
              <a:t>добавьте</a:t>
            </a:r>
            <a:r>
              <a:rPr spc="-145" dirty="0"/>
              <a:t> </a:t>
            </a:r>
            <a:r>
              <a:rPr spc="-10" dirty="0"/>
              <a:t>const.</a:t>
            </a: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/>
              <a:t>сonst</a:t>
            </a:r>
            <a:r>
              <a:rPr spc="-40" dirty="0"/>
              <a:t> </a:t>
            </a:r>
            <a:r>
              <a:rPr dirty="0"/>
              <a:t>это</a:t>
            </a:r>
            <a:r>
              <a:rPr spc="-35" dirty="0"/>
              <a:t> </a:t>
            </a:r>
            <a:r>
              <a:rPr spc="-10" dirty="0"/>
              <a:t>важно.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1033</TotalTime>
  <Words>266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Microsoft Sans Serif</vt:lpstr>
      <vt:lpstr>Office Theme</vt:lpstr>
      <vt:lpstr>Семинар по C++ №9 Перегрузка операторов</vt:lpstr>
      <vt:lpstr>Конструктор</vt:lpstr>
      <vt:lpstr>Оператор присваивания</vt:lpstr>
      <vt:lpstr>Операторы +, +=</vt:lpstr>
      <vt:lpstr>Сравнения</vt:lpstr>
      <vt:lpstr>Spaceship operator (&lt;=&gt;)</vt:lpstr>
      <vt:lpstr>Вывод в поток</vt:lpstr>
      <vt:lpstr>PowerPoint Presentation</vt:lpstr>
      <vt:lpstr>const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Семинар_8 (1)</dc:title>
  <dc:creator>Konstantin Dragun</dc:creator>
  <cp:lastModifiedBy>Konstantin Dragun</cp:lastModifiedBy>
  <cp:revision>12</cp:revision>
  <dcterms:created xsi:type="dcterms:W3CDTF">2024-10-30T20:17:42Z</dcterms:created>
  <dcterms:modified xsi:type="dcterms:W3CDTF">2024-10-31T13:31:54Z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2023-12-17T00:00:00Z</vt:filetime>
  </property>
  <property fmtid="{D5CDD505-2E9C-101B-9397-08002B2CF9AE}" pid="3" name="Creator">
    <vt:lpwstr>Keynote</vt:lpwstr>
  </property>
  <property fmtid="{D5CDD505-2E9C-101B-9397-08002B2CF9AE}" pid="4" name="LastSaved">
    <vt:filetime>2024-10-30T00:00:00Z</vt:filetime>
  </property>
  <property fmtid="{D5CDD505-2E9C-101B-9397-08002B2CF9AE}" pid="5" name="Producer">
    <vt:lpwstr>macOS Version 13.6.2 (Build 22G320) Quartz PDFContext</vt:lpwstr>
  </property>
</Properties>
</file>