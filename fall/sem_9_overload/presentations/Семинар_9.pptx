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62" r:id="rId3"/>
    <p:sldId id="263" r:id="rId4"/>
    <p:sldId id="257" r:id="rId5"/>
    <p:sldId id="258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59" r:id="rId20"/>
    <p:sldId id="260" r:id="rId21"/>
    <p:sldId id="261" r:id="rId2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80" d="100"/>
          <a:sy n="80" d="100"/>
        </p:scale>
        <p:origin x="112" y="-2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192C6E-9E75-4843-94F2-CF6452F881E4}" type="datetimeFigureOut">
              <a:rPr lang="ru-RU" smtClean="0"/>
              <a:t>07.11.2024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C41038-2FBE-437D-B04A-F907DEB272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741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C41038-2FBE-437D-B04A-F907DEB27294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903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11/7/2024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11/7/2024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03139" y="583405"/>
            <a:ext cx="5786727" cy="579531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11/7/2024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71219" y="642446"/>
            <a:ext cx="3728720" cy="695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1219" y="1822455"/>
            <a:ext cx="10259060" cy="2174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3279543/what-is-the-copy-and-swap-idiom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habr.com/ru/companies/yandex/articles/342354/" TargetMode="External"/><Relationship Id="rId2" Type="http://schemas.openxmlformats.org/officeDocument/2006/relationships/hyperlink" Target="https://habr.com/ru/companies/pvs-studio/articles/465575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abr.com/ru/articles/766976/" TargetMode="External"/><Relationship Id="rId4" Type="http://schemas.openxmlformats.org/officeDocument/2006/relationships/hyperlink" Target="https://habr.com/ru/articles/791042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utility/compare/strong_ordering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ompiler-explorer.com/z/P8bYGo1zM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63360" y="1101605"/>
            <a:ext cx="7865745" cy="23615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5650" dirty="0"/>
              <a:t>Семинар</a:t>
            </a:r>
            <a:r>
              <a:rPr sz="5650" spc="-65" dirty="0"/>
              <a:t> </a:t>
            </a:r>
            <a:r>
              <a:rPr sz="5650" dirty="0"/>
              <a:t>по</a:t>
            </a:r>
            <a:r>
              <a:rPr sz="5650" spc="-65" dirty="0"/>
              <a:t> </a:t>
            </a:r>
            <a:r>
              <a:rPr sz="5650" dirty="0"/>
              <a:t>C++</a:t>
            </a:r>
            <a:r>
              <a:rPr sz="5650" spc="-65" dirty="0"/>
              <a:t> </a:t>
            </a:r>
            <a:r>
              <a:rPr sz="5650" spc="170" dirty="0"/>
              <a:t>№</a:t>
            </a:r>
            <a:r>
              <a:rPr lang="en-US" sz="5650" spc="170" dirty="0"/>
              <a:t>9</a:t>
            </a:r>
            <a:endParaRPr sz="5650" dirty="0"/>
          </a:p>
          <a:p>
            <a:pPr algn="ctr">
              <a:lnSpc>
                <a:spcPct val="100000"/>
              </a:lnSpc>
              <a:spcBef>
                <a:spcPts val="4845"/>
              </a:spcBef>
            </a:pPr>
            <a:r>
              <a:rPr sz="5650" spc="-40" dirty="0"/>
              <a:t>Перегрузка</a:t>
            </a:r>
            <a:r>
              <a:rPr sz="5650" spc="-290" dirty="0"/>
              <a:t> </a:t>
            </a:r>
            <a:r>
              <a:rPr sz="5650" spc="-10" dirty="0"/>
              <a:t>операторов</a:t>
            </a:r>
            <a:endParaRPr sz="5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A6788-F686-4CF3-8D5B-64EDA6362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1640" y="533400"/>
            <a:ext cx="3728720" cy="695960"/>
          </a:xfrm>
        </p:spPr>
        <p:txBody>
          <a:bodyPr/>
          <a:lstStyle/>
          <a:p>
            <a:r>
              <a:rPr lang="ru-RU" dirty="0"/>
              <a:t>Конструктор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122EB-F6ED-4C3B-9F70-F775F3B51BD5}"/>
              </a:ext>
            </a:extLst>
          </p:cNvPr>
          <p:cNvSpPr txBox="1"/>
          <p:nvPr/>
        </p:nvSpPr>
        <p:spPr>
          <a:xfrm>
            <a:off x="685800" y="1752600"/>
            <a:ext cx="112776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ComplexNumber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= default; 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- принудительное создание конструктора по умолчанию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Поля инициализируется в порядке объявления в самом классе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Rule of Three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– copy constructor, destructor, copy assignment operator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2315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4AC4D-BD93-4E19-B556-7868D3782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09" y="457200"/>
            <a:ext cx="6596381" cy="1354217"/>
          </a:xfrm>
        </p:spPr>
        <p:txBody>
          <a:bodyPr/>
          <a:lstStyle/>
          <a:p>
            <a:r>
              <a:rPr lang="ru-RU" dirty="0"/>
              <a:t>Оператор присваивания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8103F5-364D-45DC-9EE4-591502156C75}"/>
              </a:ext>
            </a:extLst>
          </p:cNvPr>
          <p:cNvSpPr txBox="1"/>
          <p:nvPr/>
        </p:nvSpPr>
        <p:spPr>
          <a:xfrm>
            <a:off x="2971800" y="2590800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5CCB56-4018-4CDD-A9E9-7E03C12B3FEF}"/>
              </a:ext>
            </a:extLst>
          </p:cNvPr>
          <p:cNvSpPr txBox="1"/>
          <p:nvPr/>
        </p:nvSpPr>
        <p:spPr>
          <a:xfrm>
            <a:off x="2247899" y="1811417"/>
            <a:ext cx="7696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Присваивание самому себе</a:t>
            </a:r>
            <a:r>
              <a:rPr lang="en-US" sz="2800" dirty="0"/>
              <a:t>:</a:t>
            </a:r>
          </a:p>
          <a:p>
            <a:r>
              <a:rPr lang="en-US" sz="2800" dirty="0">
                <a:solidFill>
                  <a:srgbClr val="FF0000"/>
                </a:solidFill>
              </a:rPr>
              <a:t>*this == other </a:t>
            </a:r>
            <a:r>
              <a:rPr lang="en-US" sz="2800" dirty="0">
                <a:solidFill>
                  <a:schemeClr val="tx1"/>
                </a:solidFill>
              </a:rPr>
              <a:t>– </a:t>
            </a:r>
            <a:r>
              <a:rPr lang="ru-RU" sz="2800" dirty="0">
                <a:solidFill>
                  <a:schemeClr val="tx1"/>
                </a:solidFill>
              </a:rPr>
              <a:t>сравнение объектов</a:t>
            </a:r>
            <a:endParaRPr lang="en-US" sz="2800" dirty="0">
              <a:solidFill>
                <a:srgbClr val="FF0000"/>
              </a:solidFill>
            </a:endParaRPr>
          </a:p>
          <a:p>
            <a:r>
              <a:rPr lang="en-US" sz="2800" dirty="0">
                <a:solidFill>
                  <a:srgbClr val="00B050"/>
                </a:solidFill>
              </a:rPr>
              <a:t>this == &amp;other</a:t>
            </a:r>
            <a:r>
              <a:rPr lang="ru-RU" sz="2800" dirty="0">
                <a:solidFill>
                  <a:schemeClr val="tx1"/>
                </a:solidFill>
              </a:rPr>
              <a:t> – сравнение указателей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ru-RU" sz="2800" dirty="0">
                <a:solidFill>
                  <a:schemeClr val="tx1"/>
                </a:solidFill>
              </a:rPr>
              <a:t>Идиома </a:t>
            </a:r>
            <a:r>
              <a:rPr lang="en-US" sz="2800" dirty="0">
                <a:solidFill>
                  <a:schemeClr val="tx1"/>
                </a:solidFill>
                <a:hlinkClick r:id="rId2"/>
              </a:rPr>
              <a:t>copy-and-swap</a:t>
            </a:r>
            <a:r>
              <a:rPr lang="en-US" sz="2800" dirty="0">
                <a:solidFill>
                  <a:schemeClr val="tx1"/>
                </a:solidFill>
              </a:rPr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800" dirty="0">
                <a:solidFill>
                  <a:schemeClr val="tx1"/>
                </a:solidFill>
              </a:rPr>
              <a:t>Принимаем по значению (конструктор копированием)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800" dirty="0">
                <a:solidFill>
                  <a:schemeClr val="tx1"/>
                </a:solidFill>
              </a:rPr>
              <a:t>Делаем </a:t>
            </a:r>
            <a:r>
              <a:rPr lang="en-US" sz="2800" dirty="0">
                <a:solidFill>
                  <a:schemeClr val="tx1"/>
                </a:solidFill>
              </a:rPr>
              <a:t>swap </a:t>
            </a:r>
            <a:r>
              <a:rPr lang="ru-RU" sz="2800" dirty="0">
                <a:solidFill>
                  <a:schemeClr val="tx1"/>
                </a:solidFill>
              </a:rPr>
              <a:t>полей</a:t>
            </a:r>
          </a:p>
        </p:txBody>
      </p:sp>
    </p:spTree>
    <p:extLst>
      <p:ext uri="{BB962C8B-B14F-4D97-AF65-F5344CB8AC3E}">
        <p14:creationId xmlns:p14="http://schemas.microsoft.com/office/powerpoint/2010/main" val="146127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1219" y="642446"/>
            <a:ext cx="440055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Операторы</a:t>
            </a:r>
            <a:r>
              <a:rPr spc="-120" dirty="0"/>
              <a:t> </a:t>
            </a:r>
            <a:r>
              <a:rPr dirty="0"/>
              <a:t>+,</a:t>
            </a:r>
            <a:r>
              <a:rPr spc="-114" dirty="0"/>
              <a:t> </a:t>
            </a:r>
            <a:r>
              <a:rPr spc="-25" dirty="0"/>
              <a:t>+=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1219" y="1755251"/>
            <a:ext cx="10190480" cy="3150863"/>
          </a:xfrm>
          <a:prstGeom prst="rect">
            <a:avLst/>
          </a:prstGeom>
        </p:spPr>
        <p:txBody>
          <a:bodyPr vert="horz" wrap="square" lIns="0" tIns="80010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630"/>
              </a:spcBef>
              <a:buChar char="•"/>
              <a:tabLst>
                <a:tab pos="241935" algn="l"/>
              </a:tabLst>
            </a:pPr>
            <a:r>
              <a:rPr sz="2800" spc="-10" dirty="0">
                <a:latin typeface="Microsoft Sans Serif"/>
                <a:cs typeface="Microsoft Sans Serif"/>
              </a:rPr>
              <a:t>Выражаем</a:t>
            </a:r>
            <a:r>
              <a:rPr sz="2800" spc="-6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+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через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+=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lang="ru-RU" sz="2800" spc="725" dirty="0">
                <a:latin typeface="Microsoft Sans Serif"/>
                <a:cs typeface="Microsoft Sans Serif"/>
              </a:rPr>
              <a:t> - </a:t>
            </a:r>
            <a:r>
              <a:rPr sz="2800" spc="-25" dirty="0" err="1">
                <a:latin typeface="Microsoft Sans Serif"/>
                <a:cs typeface="Microsoft Sans Serif"/>
              </a:rPr>
              <a:t>экономим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на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копировании</a:t>
            </a:r>
            <a:endParaRPr sz="2800" dirty="0">
              <a:latin typeface="Microsoft Sans Serif"/>
              <a:cs typeface="Microsoft Sans Serif"/>
            </a:endParaRPr>
          </a:p>
          <a:p>
            <a:pPr marL="241300" marR="5080" indent="-228600">
              <a:lnSpc>
                <a:spcPts val="2890"/>
              </a:lnSpc>
              <a:spcBef>
                <a:spcPts val="1015"/>
              </a:spcBef>
            </a:pPr>
            <a:r>
              <a:rPr sz="2800" dirty="0">
                <a:latin typeface="Microsoft Sans Serif"/>
                <a:cs typeface="Microsoft Sans Serif"/>
              </a:rPr>
              <a:t>•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+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не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надо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делать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членом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класса,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ибо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левый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операнд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может </a:t>
            </a:r>
            <a:r>
              <a:rPr sz="2800" dirty="0">
                <a:latin typeface="Microsoft Sans Serif"/>
                <a:cs typeface="Microsoft Sans Serif"/>
              </a:rPr>
              <a:t>не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быть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spc="-30" dirty="0">
                <a:latin typeface="Microsoft Sans Serif"/>
                <a:cs typeface="Microsoft Sans Serif"/>
              </a:rPr>
              <a:t>объектом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класса</a:t>
            </a:r>
            <a:endParaRPr sz="280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09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Нужно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писать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+=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b;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return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a;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вместо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return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a+=b;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(RVO)</a:t>
            </a:r>
            <a:endParaRPr sz="280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Что</a:t>
            </a:r>
            <a:r>
              <a:rPr sz="2800" spc="-3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делать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с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+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b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=</a:t>
            </a:r>
            <a:r>
              <a:rPr sz="2800" spc="-25" dirty="0">
                <a:latin typeface="Microsoft Sans Serif"/>
                <a:cs typeface="Microsoft Sans Serif"/>
              </a:rPr>
              <a:t> 5?</a:t>
            </a:r>
            <a:endParaRPr sz="2800" dirty="0">
              <a:latin typeface="Microsoft Sans Serif"/>
              <a:cs typeface="Microsoft Sans Serif"/>
            </a:endParaRPr>
          </a:p>
          <a:p>
            <a:pPr marL="697865" lvl="1" indent="-227965">
              <a:lnSpc>
                <a:spcPct val="100000"/>
              </a:lnSpc>
              <a:spcBef>
                <a:spcPts val="125"/>
              </a:spcBef>
              <a:buChar char="•"/>
              <a:tabLst>
                <a:tab pos="697865" algn="l"/>
              </a:tabLst>
            </a:pPr>
            <a:r>
              <a:rPr sz="2400" spc="-20" dirty="0">
                <a:latin typeface="Microsoft Sans Serif"/>
                <a:cs typeface="Microsoft Sans Serif"/>
              </a:rPr>
              <a:t>Возвращать</a:t>
            </a:r>
            <a:r>
              <a:rPr sz="2400" spc="-70" dirty="0">
                <a:latin typeface="Microsoft Sans Serif"/>
                <a:cs typeface="Microsoft Sans Serif"/>
              </a:rPr>
              <a:t> </a:t>
            </a:r>
            <a:r>
              <a:rPr sz="2400" spc="-20" dirty="0">
                <a:latin typeface="Microsoft Sans Serif"/>
                <a:cs typeface="Microsoft Sans Serif"/>
              </a:rPr>
              <a:t>const</a:t>
            </a:r>
            <a:endParaRPr sz="2400" dirty="0">
              <a:latin typeface="Microsoft Sans Serif"/>
              <a:cs typeface="Microsoft Sans Serif"/>
            </a:endParaRPr>
          </a:p>
          <a:p>
            <a:pPr marL="697865" lvl="1" indent="-227965">
              <a:lnSpc>
                <a:spcPct val="100000"/>
              </a:lnSpc>
              <a:spcBef>
                <a:spcPts val="150"/>
              </a:spcBef>
              <a:buChar char="•"/>
              <a:tabLst>
                <a:tab pos="697865" algn="l"/>
              </a:tabLst>
            </a:pPr>
            <a:r>
              <a:rPr sz="2400" spc="-40" dirty="0">
                <a:latin typeface="Microsoft Sans Serif"/>
                <a:cs typeface="Microsoft Sans Serif"/>
              </a:rPr>
              <a:t>Докинуть </a:t>
            </a:r>
            <a:r>
              <a:rPr sz="2400" dirty="0">
                <a:latin typeface="Microsoft Sans Serif"/>
                <a:cs typeface="Microsoft Sans Serif"/>
              </a:rPr>
              <a:t>&amp;</a:t>
            </a:r>
            <a:r>
              <a:rPr sz="2400" spc="-40" dirty="0">
                <a:latin typeface="Microsoft Sans Serif"/>
                <a:cs typeface="Microsoft Sans Serif"/>
              </a:rPr>
              <a:t> </a:t>
            </a:r>
            <a:r>
              <a:rPr sz="2400" dirty="0">
                <a:latin typeface="Microsoft Sans Serif"/>
                <a:cs typeface="Microsoft Sans Serif"/>
              </a:rPr>
              <a:t>в</a:t>
            </a:r>
            <a:r>
              <a:rPr sz="2400" spc="-40" dirty="0">
                <a:latin typeface="Microsoft Sans Serif"/>
                <a:cs typeface="Microsoft Sans Serif"/>
              </a:rPr>
              <a:t> </a:t>
            </a:r>
            <a:r>
              <a:rPr sz="2400" spc="-10" dirty="0" err="1">
                <a:latin typeface="Microsoft Sans Serif"/>
                <a:cs typeface="Microsoft Sans Serif"/>
              </a:rPr>
              <a:t>оператор</a:t>
            </a:r>
            <a:r>
              <a:rPr lang="en-US" sz="2400" spc="-10" dirty="0">
                <a:latin typeface="Microsoft Sans Serif"/>
                <a:cs typeface="Microsoft Sans Serif"/>
              </a:rPr>
              <a:t> </a:t>
            </a:r>
            <a:r>
              <a:rPr lang="ru-RU" sz="2400" spc="-10" dirty="0">
                <a:latin typeface="Microsoft Sans Serif"/>
                <a:cs typeface="Microsoft Sans Serif"/>
              </a:rPr>
              <a:t>присваивания</a:t>
            </a:r>
            <a:r>
              <a:rPr sz="2400" spc="-40" dirty="0">
                <a:latin typeface="Microsoft Sans Serif"/>
                <a:cs typeface="Microsoft Sans Serif"/>
              </a:rPr>
              <a:t> </a:t>
            </a:r>
            <a:r>
              <a:rPr sz="2400" spc="-10" dirty="0" err="1">
                <a:latin typeface="Microsoft Sans Serif"/>
                <a:cs typeface="Microsoft Sans Serif"/>
              </a:rPr>
              <a:t>справа</a:t>
            </a:r>
            <a:endParaRPr sz="240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Сравнения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1219" y="1755251"/>
            <a:ext cx="6598284" cy="2495550"/>
          </a:xfrm>
          <a:prstGeom prst="rect">
            <a:avLst/>
          </a:prstGeom>
        </p:spPr>
        <p:txBody>
          <a:bodyPr vert="horz" wrap="square" lIns="0" tIns="80010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6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Обычно</a:t>
            </a:r>
            <a:r>
              <a:rPr sz="2800" spc="-114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реализуют</a:t>
            </a:r>
            <a:r>
              <a:rPr sz="2800" spc="-114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оператор</a:t>
            </a:r>
            <a:r>
              <a:rPr sz="2800" spc="-114" dirty="0">
                <a:latin typeface="Microsoft Sans Serif"/>
                <a:cs typeface="Microsoft Sans Serif"/>
              </a:rPr>
              <a:t> </a:t>
            </a:r>
            <a:r>
              <a:rPr sz="2800" spc="-50" dirty="0">
                <a:latin typeface="Microsoft Sans Serif"/>
                <a:cs typeface="Microsoft Sans Serif"/>
              </a:rPr>
              <a:t>&lt;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2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Остальные</a:t>
            </a:r>
            <a:r>
              <a:rPr sz="2800" spc="-13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выражаются</a:t>
            </a:r>
            <a:r>
              <a:rPr sz="2800" spc="-13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через</a:t>
            </a:r>
            <a:r>
              <a:rPr sz="2800" spc="-130" dirty="0">
                <a:latin typeface="Microsoft Sans Serif"/>
                <a:cs typeface="Microsoft Sans Serif"/>
              </a:rPr>
              <a:t> </a:t>
            </a:r>
            <a:r>
              <a:rPr sz="2800" spc="-50" dirty="0">
                <a:latin typeface="Microsoft Sans Serif"/>
                <a:cs typeface="Microsoft Sans Serif"/>
              </a:rPr>
              <a:t>&lt;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Не</a:t>
            </a:r>
            <a:r>
              <a:rPr sz="2800" spc="-1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пишите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&gt;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b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spc="-60" dirty="0">
                <a:latin typeface="Microsoft Sans Serif"/>
                <a:cs typeface="Microsoft Sans Serif"/>
              </a:rPr>
              <a:t>как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(a</a:t>
            </a:r>
            <a:r>
              <a:rPr sz="2800" spc="-1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!=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b)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&amp;&amp;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!(a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&lt;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b)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Лучше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пишите</a:t>
            </a:r>
            <a:r>
              <a:rPr sz="2800" spc="-6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b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&lt;</a:t>
            </a:r>
            <a:r>
              <a:rPr sz="2800" spc="-60" dirty="0">
                <a:latin typeface="Microsoft Sans Serif"/>
                <a:cs typeface="Microsoft Sans Serif"/>
              </a:rPr>
              <a:t> a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Старайтесь</a:t>
            </a:r>
            <a:r>
              <a:rPr sz="2800" spc="-170" dirty="0">
                <a:latin typeface="Microsoft Sans Serif"/>
                <a:cs typeface="Microsoft Sans Serif"/>
              </a:rPr>
              <a:t> </a:t>
            </a:r>
            <a:r>
              <a:rPr sz="2800" spc="-35" dirty="0">
                <a:latin typeface="Microsoft Sans Serif"/>
                <a:cs typeface="Microsoft Sans Serif"/>
              </a:rPr>
              <a:t>избегать</a:t>
            </a:r>
            <a:r>
              <a:rPr sz="2800" spc="-15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друзей</a:t>
            </a:r>
            <a:r>
              <a:rPr sz="2800" spc="-16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(friend)</a:t>
            </a:r>
            <a:endParaRPr sz="28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C7596-4879-4B45-A82A-AF3E889B6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18" y="642446"/>
            <a:ext cx="7815582" cy="677108"/>
          </a:xfrm>
        </p:spPr>
        <p:txBody>
          <a:bodyPr/>
          <a:lstStyle/>
          <a:p>
            <a:r>
              <a:rPr lang="en-US" dirty="0"/>
              <a:t>Spaceship operator (</a:t>
            </a:r>
            <a:r>
              <a:rPr lang="en-US" dirty="0">
                <a:sym typeface="Wingdings" panose="05000000000000000000" pitchFamily="2" charset="2"/>
              </a:rPr>
              <a:t>&lt;=&gt;)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0E3F46-0617-4E52-B3C6-44FBB76CE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1219" y="1822455"/>
            <a:ext cx="10259060" cy="2585323"/>
          </a:xfrm>
        </p:spPr>
        <p:txBody>
          <a:bodyPr/>
          <a:lstStyle/>
          <a:p>
            <a:endParaRPr lang="ru-RU" dirty="0">
              <a:hlinkClick r:id="rId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>
                <a:hlinkClick r:id="rId3"/>
              </a:rPr>
              <a:t>Беглый взгляд</a:t>
            </a:r>
            <a:endParaRPr lang="ru-RU" dirty="0">
              <a:hlinkClick r:id="rId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>
                <a:hlinkClick r:id="rId2"/>
              </a:rPr>
              <a:t>Подробная статья</a:t>
            </a:r>
            <a:endParaRPr lang="ru-RU" dirty="0">
              <a:hlinkClick r:id="rId4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strong_ordering</a:t>
            </a:r>
            <a:r>
              <a:rPr lang="en-US" dirty="0">
                <a:hlinkClick r:id="rId4"/>
              </a:rPr>
              <a:t>, std::</a:t>
            </a:r>
            <a:r>
              <a:rPr lang="en-US" dirty="0" err="1">
                <a:hlinkClick r:id="rId4"/>
              </a:rPr>
              <a:t>weak_ordering</a:t>
            </a:r>
            <a:r>
              <a:rPr lang="en-US" dirty="0">
                <a:hlinkClick r:id="rId4"/>
              </a:rPr>
              <a:t> </a:t>
            </a:r>
            <a:r>
              <a:rPr lang="ru-RU" dirty="0">
                <a:hlinkClick r:id="rId4"/>
              </a:rPr>
              <a:t>или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partial_ordering</a:t>
            </a:r>
            <a:r>
              <a:rPr lang="en-US" dirty="0">
                <a:hlinkClick r:id="rId4"/>
              </a:rPr>
              <a:t>?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>
                <a:hlinkClick r:id="rId5"/>
              </a:rPr>
              <a:t>Насколько полезно?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485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7426E-3484-4C80-B5E7-BC694116F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18" y="642446"/>
            <a:ext cx="7815581" cy="695960"/>
          </a:xfrm>
        </p:spPr>
        <p:txBody>
          <a:bodyPr/>
          <a:lstStyle/>
          <a:p>
            <a:r>
              <a:rPr lang="en-US" dirty="0"/>
              <a:t>&lt;=&gt;: </a:t>
            </a:r>
            <a:r>
              <a:rPr lang="ru-RU" dirty="0"/>
              <a:t>идея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7789CB-4FD4-4C36-A5E0-C495E9D1B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46948"/>
            <a:ext cx="5924281" cy="65641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95E273-4C80-463B-87DF-8351E31A312D}"/>
              </a:ext>
            </a:extLst>
          </p:cNvPr>
          <p:cNvSpPr txBox="1"/>
          <p:nvPr/>
        </p:nvSpPr>
        <p:spPr>
          <a:xfrm flipH="1">
            <a:off x="871218" y="2438400"/>
            <a:ext cx="31216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Хотим упростить перегрузку операторов</a:t>
            </a:r>
          </a:p>
        </p:txBody>
      </p:sp>
    </p:spTree>
    <p:extLst>
      <p:ext uri="{BB962C8B-B14F-4D97-AF65-F5344CB8AC3E}">
        <p14:creationId xmlns:p14="http://schemas.microsoft.com/office/powerpoint/2010/main" val="658826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52F46-E1A7-4F92-A04D-99E87AAF9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&lt;=&gt;: orderings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57DDB4-C413-4040-8E05-1DB23FA97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1219" y="1822455"/>
            <a:ext cx="10259060" cy="3447098"/>
          </a:xfrm>
        </p:spPr>
        <p:txBody>
          <a:bodyPr/>
          <a:lstStyle/>
          <a:p>
            <a:r>
              <a:rPr lang="ru-RU" dirty="0"/>
              <a:t>Правда ли, что</a:t>
            </a:r>
            <a:r>
              <a:rPr lang="en-US" dirty="0"/>
              <a:t>:</a:t>
            </a:r>
          </a:p>
          <a:p>
            <a:endParaRPr lang="en-US" dirty="0"/>
          </a:p>
          <a:p>
            <a:pPr marL="514350" indent="-514350">
              <a:buAutoNum type="alphaLcParenR"/>
            </a:pPr>
            <a:r>
              <a:rPr lang="en-US" dirty="0"/>
              <a:t>x == y </a:t>
            </a:r>
            <a:r>
              <a:rPr lang="en-US" dirty="0">
                <a:sym typeface="Wingdings" panose="05000000000000000000" pitchFamily="2" charset="2"/>
              </a:rPr>
              <a:t> !(x &lt; y) &amp;&amp; !(y &lt; x)</a:t>
            </a:r>
          </a:p>
          <a:p>
            <a:pPr marL="514350" indent="-514350">
              <a:buAutoNum type="alphaLcParenR"/>
            </a:pPr>
            <a:r>
              <a:rPr lang="en-US" dirty="0">
                <a:sym typeface="Wingdings" panose="05000000000000000000" pitchFamily="2" charset="2"/>
              </a:rPr>
              <a:t>x == y  x </a:t>
            </a:r>
            <a:r>
              <a:rPr lang="ru-RU" dirty="0">
                <a:sym typeface="Wingdings" panose="05000000000000000000" pitchFamily="2" charset="2"/>
              </a:rPr>
              <a:t>неотличимо от </a:t>
            </a:r>
            <a:r>
              <a:rPr lang="en-US" dirty="0">
                <a:sym typeface="Wingdings" panose="05000000000000000000" pitchFamily="2" charset="2"/>
              </a:rPr>
              <a:t>y</a:t>
            </a:r>
            <a:endParaRPr lang="ru-RU" dirty="0">
              <a:sym typeface="Wingdings" panose="05000000000000000000" pitchFamily="2" charset="2"/>
            </a:endParaRPr>
          </a:p>
          <a:p>
            <a:pPr marL="514350" indent="-514350">
              <a:buAutoNum type="alphaLcParenR"/>
            </a:pPr>
            <a:endParaRPr lang="ru-RU" dirty="0">
              <a:sym typeface="Wingdings" panose="05000000000000000000" pitchFamily="2" charset="2"/>
            </a:endParaRPr>
          </a:p>
          <a:p>
            <a:pPr marL="514350" indent="-514350">
              <a:buAutoNum type="alphaLcParenR"/>
            </a:pPr>
            <a:endParaRPr lang="ru-RU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“</a:t>
            </a:r>
            <a:r>
              <a:rPr lang="ru-RU" dirty="0">
                <a:sym typeface="Wingdings" panose="05000000000000000000" pitchFamily="2" charset="2"/>
              </a:rPr>
              <a:t>Неотличимо</a:t>
            </a:r>
            <a:r>
              <a:rPr lang="en-US" dirty="0">
                <a:sym typeface="Wingdings" panose="05000000000000000000" pitchFamily="2" charset="2"/>
              </a:rPr>
              <a:t>”</a:t>
            </a:r>
            <a:r>
              <a:rPr lang="ru-RU" dirty="0">
                <a:sym typeface="Wingdings" panose="05000000000000000000" pitchFamily="2" charset="2"/>
              </a:rPr>
              <a:t> – с помощью </a:t>
            </a:r>
            <a:r>
              <a:rPr lang="en-US" dirty="0">
                <a:sym typeface="Wingdings" panose="05000000000000000000" pitchFamily="2" charset="2"/>
              </a:rPr>
              <a:t>const public </a:t>
            </a:r>
            <a:r>
              <a:rPr lang="ru-RU" dirty="0">
                <a:sym typeface="Wingdings" panose="05000000000000000000" pitchFamily="2" charset="2"/>
              </a:rPr>
              <a:t>полей и методов класса</a:t>
            </a:r>
          </a:p>
        </p:txBody>
      </p:sp>
    </p:spTree>
    <p:extLst>
      <p:ext uri="{BB962C8B-B14F-4D97-AF65-F5344CB8AC3E}">
        <p14:creationId xmlns:p14="http://schemas.microsoft.com/office/powerpoint/2010/main" val="749605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52F46-E1A7-4F92-A04D-99E87AAF9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&lt;=&gt;: orderings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57DDB4-C413-4040-8E05-1DB23FA97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1219" y="1822455"/>
            <a:ext cx="10259060" cy="4308872"/>
          </a:xfrm>
        </p:spPr>
        <p:txBody>
          <a:bodyPr/>
          <a:lstStyle/>
          <a:p>
            <a:r>
              <a:rPr lang="ru-RU" dirty="0"/>
              <a:t>Правда ли, что</a:t>
            </a:r>
            <a:r>
              <a:rPr lang="en-US" dirty="0"/>
              <a:t>:</a:t>
            </a:r>
          </a:p>
          <a:p>
            <a:endParaRPr lang="en-US" dirty="0"/>
          </a:p>
          <a:p>
            <a:pPr marL="514350" indent="-514350">
              <a:buAutoNum type="alphaLcParenR"/>
            </a:pPr>
            <a:r>
              <a:rPr lang="en-US" dirty="0"/>
              <a:t>x == y </a:t>
            </a:r>
            <a:r>
              <a:rPr lang="en-US" dirty="0">
                <a:sym typeface="Wingdings" panose="05000000000000000000" pitchFamily="2" charset="2"/>
              </a:rPr>
              <a:t> !(x &lt; y) &amp;&amp; !(y &lt; x) – </a:t>
            </a:r>
            <a:r>
              <a:rPr lang="ru-RU" dirty="0">
                <a:sym typeface="Wingdings" panose="05000000000000000000" pitchFamily="2" charset="2"/>
              </a:rPr>
              <a:t>только в ЛУМ. </a:t>
            </a:r>
          </a:p>
          <a:p>
            <a:r>
              <a:rPr lang="ru-RU" dirty="0">
                <a:sym typeface="Wingdings" panose="05000000000000000000" pitchFamily="2" charset="2"/>
              </a:rPr>
              <a:t>	Пример</a:t>
            </a:r>
            <a:r>
              <a:rPr lang="en-US" dirty="0">
                <a:sym typeface="Wingdings" panose="05000000000000000000" pitchFamily="2" charset="2"/>
              </a:rPr>
              <a:t>: float</a:t>
            </a:r>
          </a:p>
          <a:p>
            <a:pPr marL="514350" indent="-514350">
              <a:buAutoNum type="alphaLcParenR"/>
            </a:pPr>
            <a:r>
              <a:rPr lang="en-US" dirty="0">
                <a:sym typeface="Wingdings" panose="05000000000000000000" pitchFamily="2" charset="2"/>
              </a:rPr>
              <a:t>x == y  x </a:t>
            </a:r>
            <a:r>
              <a:rPr lang="ru-RU" dirty="0">
                <a:sym typeface="Wingdings" panose="05000000000000000000" pitchFamily="2" charset="2"/>
              </a:rPr>
              <a:t>неотличимо от </a:t>
            </a:r>
            <a:r>
              <a:rPr lang="en-US" dirty="0">
                <a:sym typeface="Wingdings" panose="05000000000000000000" pitchFamily="2" charset="2"/>
              </a:rPr>
              <a:t>y – </a:t>
            </a:r>
            <a:r>
              <a:rPr lang="ru-RU" dirty="0">
                <a:sym typeface="Wingdings" panose="05000000000000000000" pitchFamily="2" charset="2"/>
              </a:rPr>
              <a:t>не всегда. </a:t>
            </a:r>
          </a:p>
          <a:p>
            <a:r>
              <a:rPr lang="ru-RU" dirty="0">
                <a:sym typeface="Wingdings" panose="05000000000000000000" pitchFamily="2" charset="2"/>
              </a:rPr>
              <a:t>	Пример</a:t>
            </a:r>
            <a:r>
              <a:rPr lang="en-US" dirty="0">
                <a:sym typeface="Wingdings" panose="05000000000000000000" pitchFamily="2" charset="2"/>
              </a:rPr>
              <a:t>: </a:t>
            </a:r>
            <a:r>
              <a:rPr lang="ru-RU" dirty="0">
                <a:sym typeface="Wingdings" panose="05000000000000000000" pitchFamily="2" charset="2"/>
              </a:rPr>
              <a:t>точки на плоскости при сравнении только по одной координате</a:t>
            </a:r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“==” – </a:t>
            </a:r>
            <a:r>
              <a:rPr lang="en-US" dirty="0">
                <a:solidFill>
                  <a:srgbClr val="00B050"/>
                </a:solidFill>
                <a:sym typeface="Wingdings" panose="05000000000000000000" pitchFamily="2" charset="2"/>
              </a:rPr>
              <a:t>equivalence</a:t>
            </a:r>
          </a:p>
          <a:p>
            <a:r>
              <a:rPr lang="en-US" dirty="0">
                <a:sym typeface="Wingdings" panose="05000000000000000000" pitchFamily="2" charset="2"/>
              </a:rPr>
              <a:t>“</a:t>
            </a:r>
            <a:r>
              <a:rPr lang="ru-RU" dirty="0">
                <a:sym typeface="Wingdings" panose="05000000000000000000" pitchFamily="2" charset="2"/>
              </a:rPr>
              <a:t>неотличимо</a:t>
            </a:r>
            <a:r>
              <a:rPr lang="en-US" dirty="0">
                <a:sym typeface="Wingdings" panose="05000000000000000000" pitchFamily="2" charset="2"/>
              </a:rPr>
              <a:t>”</a:t>
            </a:r>
            <a:r>
              <a:rPr lang="ru-RU" dirty="0">
                <a:sym typeface="Wingdings" panose="05000000000000000000" pitchFamily="2" charset="2"/>
              </a:rPr>
              <a:t> - </a:t>
            </a:r>
            <a:r>
              <a:rPr lang="en-US" dirty="0">
                <a:solidFill>
                  <a:srgbClr val="00B050"/>
                </a:solidFill>
                <a:sym typeface="Wingdings" panose="05000000000000000000" pitchFamily="2" charset="2"/>
              </a:rPr>
              <a:t>equality</a:t>
            </a:r>
            <a:endParaRPr lang="ru-RU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4388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87F9A-B0D7-42C0-B082-317DFE473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&lt;=&gt;: orderings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A2FE1A-1867-4FE2-9DFC-9E87F6EAE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2286000"/>
            <a:ext cx="10259060" cy="1661993"/>
          </a:xfrm>
        </p:spPr>
        <p:txBody>
          <a:bodyPr/>
          <a:lstStyle/>
          <a:p>
            <a:r>
              <a:rPr lang="en-US" sz="3600" b="0" i="0" dirty="0">
                <a:solidFill>
                  <a:srgbClr val="000000"/>
                </a:solidFill>
                <a:effectLst/>
                <a:latin typeface="DejaVuSansMono"/>
                <a:hlinkClick r:id="rId2"/>
              </a:rPr>
              <a:t>std::</a:t>
            </a:r>
            <a:r>
              <a:rPr lang="en-US" sz="3600" b="0" i="0" dirty="0" err="1">
                <a:solidFill>
                  <a:srgbClr val="000000"/>
                </a:solidFill>
                <a:effectLst/>
                <a:latin typeface="DejaVuSansMono"/>
                <a:hlinkClick r:id="rId2"/>
              </a:rPr>
              <a:t>strong_ordering</a:t>
            </a:r>
            <a:r>
              <a:rPr lang="en-US" sz="3600" b="0" i="0" dirty="0">
                <a:solidFill>
                  <a:srgbClr val="000000"/>
                </a:solidFill>
                <a:effectLst/>
                <a:latin typeface="DejaVuSansMono"/>
              </a:rPr>
              <a:t> – </a:t>
            </a:r>
            <a:r>
              <a:rPr lang="ru-RU" sz="3600" dirty="0">
                <a:solidFill>
                  <a:srgbClr val="000000"/>
                </a:solidFill>
                <a:latin typeface="DejaVuSansMono"/>
              </a:rPr>
              <a:t>ЛУМ с </a:t>
            </a:r>
            <a:r>
              <a:rPr lang="en-US" sz="3600" dirty="0">
                <a:solidFill>
                  <a:srgbClr val="000000"/>
                </a:solidFill>
                <a:latin typeface="DejaVuSansMono"/>
              </a:rPr>
              <a:t>equality</a:t>
            </a:r>
            <a:endParaRPr lang="en-US" sz="3600" b="0" i="0" dirty="0">
              <a:solidFill>
                <a:srgbClr val="000000"/>
              </a:solidFill>
              <a:effectLst/>
              <a:latin typeface="DejaVuSansMono"/>
            </a:endParaRPr>
          </a:p>
          <a:p>
            <a:r>
              <a:rPr lang="en-US" sz="3600" b="0" i="0" dirty="0">
                <a:solidFill>
                  <a:srgbClr val="000000"/>
                </a:solidFill>
                <a:effectLst/>
                <a:latin typeface="DejaVuSansMono"/>
              </a:rPr>
              <a:t>std::</a:t>
            </a:r>
            <a:r>
              <a:rPr lang="en-US" sz="3600" dirty="0" err="1">
                <a:solidFill>
                  <a:srgbClr val="000000"/>
                </a:solidFill>
                <a:latin typeface="DejaVuSansMono"/>
              </a:rPr>
              <a:t>weak</a:t>
            </a:r>
            <a:r>
              <a:rPr lang="en-US" sz="3600" b="0" i="0" dirty="0" err="1">
                <a:solidFill>
                  <a:srgbClr val="000000"/>
                </a:solidFill>
                <a:effectLst/>
                <a:latin typeface="DejaVuSansMono"/>
              </a:rPr>
              <a:t>_ordering</a:t>
            </a:r>
            <a:r>
              <a:rPr lang="en-US" sz="3600" b="0" i="0" dirty="0">
                <a:solidFill>
                  <a:srgbClr val="000000"/>
                </a:solidFill>
                <a:effectLst/>
                <a:latin typeface="DejaVuSansMono"/>
              </a:rPr>
              <a:t> - </a:t>
            </a:r>
            <a:r>
              <a:rPr lang="ru-RU" sz="3600" b="0" i="0" dirty="0">
                <a:solidFill>
                  <a:srgbClr val="000000"/>
                </a:solidFill>
                <a:effectLst/>
                <a:latin typeface="DejaVuSansMono"/>
              </a:rPr>
              <a:t>ЛУМ</a:t>
            </a:r>
            <a:endParaRPr lang="en-US" sz="3600" b="0" i="0" dirty="0">
              <a:solidFill>
                <a:srgbClr val="000000"/>
              </a:solidFill>
              <a:effectLst/>
              <a:latin typeface="DejaVuSansMono"/>
            </a:endParaRPr>
          </a:p>
          <a:p>
            <a:r>
              <a:rPr lang="en-US" sz="3600" b="0" i="0" dirty="0">
                <a:solidFill>
                  <a:srgbClr val="000000"/>
                </a:solidFill>
                <a:effectLst/>
                <a:latin typeface="DejaVuSansMono"/>
              </a:rPr>
              <a:t>std::</a:t>
            </a:r>
            <a:r>
              <a:rPr lang="en-US" sz="3600" dirty="0" err="1">
                <a:solidFill>
                  <a:srgbClr val="000000"/>
                </a:solidFill>
                <a:latin typeface="DejaVuSansMono"/>
              </a:rPr>
              <a:t>partial</a:t>
            </a:r>
            <a:r>
              <a:rPr lang="en-US" sz="3600" b="0" i="0" dirty="0" err="1">
                <a:solidFill>
                  <a:srgbClr val="000000"/>
                </a:solidFill>
                <a:effectLst/>
                <a:latin typeface="DejaVuSansMono"/>
              </a:rPr>
              <a:t>_ordering</a:t>
            </a:r>
            <a:r>
              <a:rPr lang="ru-RU" sz="3600" b="0" i="0" dirty="0">
                <a:solidFill>
                  <a:srgbClr val="000000"/>
                </a:solidFill>
                <a:effectLst/>
                <a:latin typeface="DejaVuSansMono"/>
              </a:rPr>
              <a:t> - ЧУМ</a:t>
            </a:r>
            <a:endParaRPr lang="en-US" sz="3600" b="0" i="0" dirty="0">
              <a:solidFill>
                <a:srgbClr val="000000"/>
              </a:solidFill>
              <a:effectLst/>
              <a:latin typeface="DejaVuSansMono"/>
            </a:endParaRPr>
          </a:p>
        </p:txBody>
      </p:sp>
    </p:spTree>
    <p:extLst>
      <p:ext uri="{BB962C8B-B14F-4D97-AF65-F5344CB8AC3E}">
        <p14:creationId xmlns:p14="http://schemas.microsoft.com/office/powerpoint/2010/main" val="1285223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F21CF-1EF4-4EB3-8F44-AA3D5C508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18" y="642446"/>
            <a:ext cx="5224781" cy="1354217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strong_ordering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F7BCC-BE61-4ABC-A29C-2B4A2A590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469" y="2667000"/>
            <a:ext cx="10259060" cy="1723549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strong_ordering</a:t>
            </a:r>
            <a:r>
              <a:rPr lang="en-US" dirty="0"/>
              <a:t>::less</a:t>
            </a:r>
          </a:p>
          <a:p>
            <a:r>
              <a:rPr lang="en-US" dirty="0"/>
              <a:t>std::</a:t>
            </a:r>
            <a:r>
              <a:rPr lang="en-US" dirty="0" err="1"/>
              <a:t>strong_ordering</a:t>
            </a:r>
            <a:r>
              <a:rPr lang="en-US" dirty="0"/>
              <a:t>::greater</a:t>
            </a:r>
            <a:endParaRPr lang="ru-RU" dirty="0"/>
          </a:p>
          <a:p>
            <a:r>
              <a:rPr lang="en-US" dirty="0"/>
              <a:t>std::</a:t>
            </a:r>
            <a:r>
              <a:rPr lang="en-US" dirty="0" err="1"/>
              <a:t>strong_ordering</a:t>
            </a:r>
            <a:r>
              <a:rPr lang="en-US" dirty="0"/>
              <a:t>::equal</a:t>
            </a:r>
            <a:endParaRPr lang="ru-RU" dirty="0"/>
          </a:p>
          <a:p>
            <a:r>
              <a:rPr lang="en-US" dirty="0"/>
              <a:t>std::</a:t>
            </a:r>
            <a:r>
              <a:rPr lang="en-US" dirty="0" err="1"/>
              <a:t>strong_ordering</a:t>
            </a:r>
            <a:r>
              <a:rPr lang="en-US" dirty="0"/>
              <a:t>::equivalent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4609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F21CF-1EF4-4EB3-8F44-AA3D5C508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18" y="642446"/>
            <a:ext cx="5224781" cy="677108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weak_ordering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F7BCC-BE61-4ABC-A29C-2B4A2A590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469" y="2667000"/>
            <a:ext cx="10259060" cy="2154436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weak_ordering</a:t>
            </a:r>
            <a:r>
              <a:rPr lang="en-US" dirty="0"/>
              <a:t>::less</a:t>
            </a:r>
          </a:p>
          <a:p>
            <a:r>
              <a:rPr lang="en-US" dirty="0"/>
              <a:t>std::</a:t>
            </a:r>
            <a:r>
              <a:rPr lang="en-US" dirty="0" err="1"/>
              <a:t>weak_ordering</a:t>
            </a:r>
            <a:r>
              <a:rPr lang="en-US" dirty="0"/>
              <a:t>::greater</a:t>
            </a:r>
            <a:endParaRPr lang="ru-RU" dirty="0"/>
          </a:p>
          <a:p>
            <a:r>
              <a:rPr lang="en-US" dirty="0"/>
              <a:t>std::</a:t>
            </a:r>
            <a:r>
              <a:rPr lang="en-US" dirty="0" err="1"/>
              <a:t>weak_ordering</a:t>
            </a:r>
            <a:r>
              <a:rPr lang="en-US" dirty="0"/>
              <a:t>::equivalent</a:t>
            </a:r>
          </a:p>
          <a:p>
            <a:endParaRPr lang="en-US" dirty="0"/>
          </a:p>
          <a:p>
            <a:r>
              <a:rPr lang="en-US" dirty="0"/>
              <a:t>(</a:t>
            </a:r>
            <a:r>
              <a:rPr lang="ru-RU" dirty="0"/>
              <a:t>Не существует </a:t>
            </a:r>
            <a:r>
              <a:rPr lang="en-US" dirty="0"/>
              <a:t>std::</a:t>
            </a:r>
            <a:r>
              <a:rPr lang="en-US" dirty="0" err="1"/>
              <a:t>weak_ordering</a:t>
            </a:r>
            <a:r>
              <a:rPr lang="en-US" dirty="0"/>
              <a:t>::equal)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09403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F21CF-1EF4-4EB3-8F44-AA3D5C508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18" y="642446"/>
            <a:ext cx="5224781" cy="677108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partial_ordering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F7BCC-BE61-4ABC-A29C-2B4A2A590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469" y="2667000"/>
            <a:ext cx="10259060" cy="3016210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partial_ordering</a:t>
            </a:r>
            <a:r>
              <a:rPr lang="en-US" dirty="0"/>
              <a:t>::less</a:t>
            </a:r>
          </a:p>
          <a:p>
            <a:r>
              <a:rPr lang="en-US" dirty="0"/>
              <a:t>std::</a:t>
            </a:r>
            <a:r>
              <a:rPr lang="en-US" dirty="0" err="1"/>
              <a:t>partial_ordering</a:t>
            </a:r>
            <a:r>
              <a:rPr lang="en-US" dirty="0"/>
              <a:t>::greater</a:t>
            </a:r>
          </a:p>
          <a:p>
            <a:r>
              <a:rPr lang="en-US" dirty="0"/>
              <a:t>std::</a:t>
            </a:r>
            <a:r>
              <a:rPr lang="en-US" dirty="0" err="1"/>
              <a:t>partial_ordering</a:t>
            </a:r>
            <a:r>
              <a:rPr lang="en-US" dirty="0"/>
              <a:t>::equivalent</a:t>
            </a:r>
          </a:p>
          <a:p>
            <a:r>
              <a:rPr lang="en-US" dirty="0">
                <a:solidFill>
                  <a:srgbClr val="00B050"/>
                </a:solidFill>
              </a:rPr>
              <a:t>std::</a:t>
            </a:r>
            <a:r>
              <a:rPr lang="en-US" dirty="0" err="1">
                <a:solidFill>
                  <a:srgbClr val="00B050"/>
                </a:solidFill>
              </a:rPr>
              <a:t>partial_ordering</a:t>
            </a:r>
            <a:r>
              <a:rPr lang="en-US" dirty="0">
                <a:solidFill>
                  <a:srgbClr val="00B050"/>
                </a:solidFill>
              </a:rPr>
              <a:t>::unordered</a:t>
            </a:r>
          </a:p>
          <a:p>
            <a:endParaRPr lang="en-US" dirty="0"/>
          </a:p>
          <a:p>
            <a:r>
              <a:rPr lang="en-US" dirty="0"/>
              <a:t>(</a:t>
            </a:r>
            <a:r>
              <a:rPr lang="ru-RU" dirty="0"/>
              <a:t>Не существует </a:t>
            </a:r>
            <a:r>
              <a:rPr lang="en-US" dirty="0"/>
              <a:t>std::</a:t>
            </a:r>
            <a:r>
              <a:rPr lang="en-US" dirty="0" err="1"/>
              <a:t>partial_ordering</a:t>
            </a:r>
            <a:r>
              <a:rPr lang="en-US" dirty="0"/>
              <a:t>::equal, </a:t>
            </a:r>
            <a:r>
              <a:rPr lang="ru-RU" dirty="0"/>
              <a:t>зато есть </a:t>
            </a:r>
            <a:r>
              <a:rPr lang="en-US" dirty="0"/>
              <a:t>unordered)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11520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E44A-AEB0-4263-99F9-8734472F5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Сравнения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0941B-B7C2-4B2D-85F1-5FE9E8E2C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470" y="1338406"/>
            <a:ext cx="10259060" cy="5601533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Умеем выражать все сравнения через </a:t>
            </a:r>
            <a:r>
              <a:rPr lang="en-US" dirty="0">
                <a:sym typeface="Wingdings" panose="05000000000000000000" pitchFamily="2" charset="2"/>
              </a:rPr>
              <a:t>&lt;=&gt; </a:t>
            </a:r>
            <a:r>
              <a:rPr lang="ru-RU" dirty="0">
                <a:sym typeface="Wingdings" panose="05000000000000000000" pitchFamily="2" charset="2"/>
              </a:rPr>
              <a:t>и </a:t>
            </a:r>
            <a:r>
              <a:rPr lang="en-US" dirty="0">
                <a:sym typeface="Wingdings" panose="05000000000000000000" pitchFamily="2" charset="2"/>
              </a:rPr>
              <a:t>==: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>
                <a:hlinkClick r:id="rId2"/>
              </a:rPr>
              <a:t>Пример</a:t>
            </a:r>
            <a:r>
              <a:rPr lang="ru-RU" dirty="0"/>
              <a:t> (совет</a:t>
            </a:r>
            <a:r>
              <a:rPr lang="en-US" dirty="0"/>
              <a:t>: </a:t>
            </a:r>
            <a:r>
              <a:rPr lang="ru-RU" dirty="0"/>
              <a:t>перейти в </a:t>
            </a:r>
            <a:r>
              <a:rPr lang="en-US" dirty="0" err="1"/>
              <a:t>cpp</a:t>
            </a:r>
            <a:r>
              <a:rPr lang="en-US" dirty="0"/>
              <a:t> insights</a:t>
            </a:r>
            <a:r>
              <a:rPr lang="ru-RU" dirty="0"/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284C13-DEE9-482A-9C4F-B0BC20B06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328" y="1905000"/>
            <a:ext cx="4839343" cy="373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093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2E1C4-B00A-4C61-BBCB-25C4895EC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18" y="642447"/>
            <a:ext cx="9949181" cy="881554"/>
          </a:xfrm>
        </p:spPr>
        <p:txBody>
          <a:bodyPr/>
          <a:lstStyle/>
          <a:p>
            <a:r>
              <a:rPr lang="ru-RU" dirty="0"/>
              <a:t>Базовые и производные операторы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7309D9-1C2B-4669-99EB-7CA72B1A0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98" y="2057400"/>
            <a:ext cx="11183004" cy="2357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518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CD7A5-906B-4681-9354-19E83A403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Правила</a:t>
            </a:r>
            <a:r>
              <a:rPr lang="en-US" dirty="0"/>
              <a:t>: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034169-A389-4267-882D-F4228B121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1219" y="1822455"/>
            <a:ext cx="10259060" cy="4308872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-apple-system"/>
              </a:rPr>
              <a:t>Обращение доступно только для базовых операторов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-apple-system"/>
              </a:rPr>
              <a:t>Переписываться могут только производные операторы (через соответствующие базовые)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-apple-system"/>
              </a:rPr>
              <a:t>При поиске кандидатов за один проход ищутся все операторы с данным именем, а также все их обращённые и переписанные версии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-apple-system"/>
              </a:rPr>
              <a:t>Если наилучший кандидат является переписанной или обращённой версией и при этом такая замена является недопустимой, программа считается некорректной.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9826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285B3-16B8-453A-94CB-538D318E0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18" y="642446"/>
            <a:ext cx="4691381" cy="1354217"/>
          </a:xfrm>
        </p:spPr>
        <p:txBody>
          <a:bodyPr/>
          <a:lstStyle/>
          <a:p>
            <a:r>
              <a:rPr lang="ru-RU" dirty="0"/>
              <a:t>Поиск кандидата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F293E0-FE3E-47EF-958F-3CF1876AC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5048891"/>
            <a:ext cx="11092182" cy="1723549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Столбец слева имеет больший приоритет чем столбец справа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Второй и третий столбец содержат только базовые операторы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0B3149-853D-412F-85DE-28FC28290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927" y="1418030"/>
            <a:ext cx="7948146" cy="353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528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BB2B0-E719-496F-8194-FA5078926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Бонус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5669E-1F45-4BB7-BAAB-200028F44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1219" y="2782669"/>
            <a:ext cx="10259060" cy="2154436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Можно попросить сгенерировать оператор </a:t>
            </a:r>
            <a:r>
              <a:rPr lang="en-US" dirty="0"/>
              <a:t>&lt;=&gt;, </a:t>
            </a:r>
            <a:r>
              <a:rPr lang="ru-RU" dirty="0"/>
              <a:t>тогда сравнение будет лексикографическое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Оператор </a:t>
            </a:r>
            <a:r>
              <a:rPr lang="en-US" dirty="0"/>
              <a:t>== </a:t>
            </a:r>
            <a:r>
              <a:rPr lang="ru-RU" dirty="0"/>
              <a:t>может быть тоже неявно сгенерирован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Благодаря обращению операторы сравнения могут быть функциями-членами класса</a:t>
            </a:r>
          </a:p>
        </p:txBody>
      </p:sp>
    </p:spTree>
    <p:extLst>
      <p:ext uri="{BB962C8B-B14F-4D97-AF65-F5344CB8AC3E}">
        <p14:creationId xmlns:p14="http://schemas.microsoft.com/office/powerpoint/2010/main" val="1158791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Вывод</a:t>
            </a:r>
            <a:r>
              <a:rPr spc="-40" dirty="0"/>
              <a:t> </a:t>
            </a:r>
            <a:r>
              <a:rPr dirty="0"/>
              <a:t>в</a:t>
            </a:r>
            <a:r>
              <a:rPr spc="-40" dirty="0"/>
              <a:t> </a:t>
            </a:r>
            <a:r>
              <a:rPr spc="-85" dirty="0"/>
              <a:t>поток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1219" y="1755251"/>
            <a:ext cx="9998710" cy="2495550"/>
          </a:xfrm>
          <a:prstGeom prst="rect">
            <a:avLst/>
          </a:prstGeom>
        </p:spPr>
        <p:txBody>
          <a:bodyPr vert="horz" wrap="square" lIns="0" tIns="80010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6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В</a:t>
            </a:r>
            <a:r>
              <a:rPr sz="2800" spc="-8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классе</a:t>
            </a:r>
            <a:r>
              <a:rPr sz="2800" spc="-8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объявляем</a:t>
            </a:r>
            <a:r>
              <a:rPr sz="2800" spc="-8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friend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2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Снаружи</a:t>
            </a:r>
            <a:r>
              <a:rPr sz="2800" spc="-18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пишем: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std::ostream&amp;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operator&lt;&lt;(std::ostream&amp;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os,</a:t>
            </a:r>
            <a:r>
              <a:rPr sz="2800" spc="-1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const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String&amp;</a:t>
            </a:r>
            <a:r>
              <a:rPr sz="2800" spc="-1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s)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spc="-50" dirty="0">
                <a:latin typeface="Microsoft Sans Serif"/>
                <a:cs typeface="Microsoft Sans Serif"/>
              </a:rPr>
              <a:t>{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30"/>
              </a:spcBef>
              <a:buChar char="•"/>
              <a:tabLst>
                <a:tab pos="241935" algn="l"/>
              </a:tabLst>
            </a:pPr>
            <a:r>
              <a:rPr sz="2800" spc="-25" dirty="0">
                <a:latin typeface="Microsoft Sans Serif"/>
                <a:cs typeface="Microsoft Sans Serif"/>
              </a:rPr>
              <a:t>...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53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return</a:t>
            </a:r>
            <a:r>
              <a:rPr sz="2800" spc="-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os</a:t>
            </a:r>
            <a:r>
              <a:rPr sz="2800" spc="-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&lt;&lt;</a:t>
            </a:r>
            <a:r>
              <a:rPr sz="2800" spc="-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...</a:t>
            </a:r>
            <a:r>
              <a:rPr sz="2800" spc="-5" dirty="0">
                <a:latin typeface="Microsoft Sans Serif"/>
                <a:cs typeface="Microsoft Sans Serif"/>
              </a:rPr>
              <a:t> </a:t>
            </a:r>
            <a:r>
              <a:rPr sz="2800" spc="-50" dirty="0">
                <a:latin typeface="Microsoft Sans Serif"/>
                <a:cs typeface="Microsoft Sans Serif"/>
              </a:rPr>
              <a:t>;</a:t>
            </a:r>
            <a:endParaRPr sz="28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78042" y="5212600"/>
            <a:ext cx="118173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CONST</a:t>
            </a:r>
            <a:endParaRPr sz="2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098496" y="5307219"/>
            <a:ext cx="1149350" cy="260985"/>
            <a:chOff x="7098496" y="5307219"/>
            <a:chExt cx="1149350" cy="260985"/>
          </a:xfrm>
        </p:grpSpPr>
        <p:sp>
          <p:nvSpPr>
            <p:cNvPr id="4" name="object 4"/>
            <p:cNvSpPr/>
            <p:nvPr/>
          </p:nvSpPr>
          <p:spPr>
            <a:xfrm>
              <a:off x="7106382" y="5315105"/>
              <a:ext cx="466725" cy="244475"/>
            </a:xfrm>
            <a:custGeom>
              <a:avLst/>
              <a:gdLst/>
              <a:ahLst/>
              <a:cxnLst/>
              <a:rect l="l" t="t" r="r" b="b"/>
              <a:pathLst>
                <a:path w="466725" h="244475">
                  <a:moveTo>
                    <a:pt x="159618" y="153491"/>
                  </a:moveTo>
                  <a:lnTo>
                    <a:pt x="205891" y="168163"/>
                  </a:lnTo>
                  <a:lnTo>
                    <a:pt x="181993" y="215005"/>
                  </a:lnTo>
                  <a:lnTo>
                    <a:pt x="142426" y="239729"/>
                  </a:lnTo>
                  <a:lnTo>
                    <a:pt x="107701" y="244425"/>
                  </a:lnTo>
                  <a:lnTo>
                    <a:pt x="85210" y="242415"/>
                  </a:lnTo>
                  <a:lnTo>
                    <a:pt x="46514" y="226332"/>
                  </a:lnTo>
                  <a:lnTo>
                    <a:pt x="17050" y="194700"/>
                  </a:lnTo>
                  <a:lnTo>
                    <a:pt x="1894" y="150725"/>
                  </a:lnTo>
                  <a:lnTo>
                    <a:pt x="0" y="124308"/>
                  </a:lnTo>
                  <a:lnTo>
                    <a:pt x="1904" y="96451"/>
                  </a:lnTo>
                  <a:lnTo>
                    <a:pt x="17140" y="50621"/>
                  </a:lnTo>
                  <a:lnTo>
                    <a:pt x="46907" y="18365"/>
                  </a:lnTo>
                  <a:lnTo>
                    <a:pt x="86973" y="2040"/>
                  </a:lnTo>
                  <a:lnTo>
                    <a:pt x="110604" y="0"/>
                  </a:lnTo>
                  <a:lnTo>
                    <a:pt x="131271" y="1602"/>
                  </a:lnTo>
                  <a:lnTo>
                    <a:pt x="181061" y="25635"/>
                  </a:lnTo>
                  <a:lnTo>
                    <a:pt x="205246" y="69167"/>
                  </a:lnTo>
                  <a:lnTo>
                    <a:pt x="158005" y="80454"/>
                  </a:lnTo>
                  <a:lnTo>
                    <a:pt x="155340" y="71747"/>
                  </a:lnTo>
                  <a:lnTo>
                    <a:pt x="151536" y="64008"/>
                  </a:lnTo>
                  <a:lnTo>
                    <a:pt x="117340" y="41456"/>
                  </a:lnTo>
                  <a:lnTo>
                    <a:pt x="108185" y="40791"/>
                  </a:lnTo>
                  <a:lnTo>
                    <a:pt x="95665" y="41970"/>
                  </a:lnTo>
                  <a:lnTo>
                    <a:pt x="58380" y="70548"/>
                  </a:lnTo>
                  <a:lnTo>
                    <a:pt x="49175" y="120761"/>
                  </a:lnTo>
                  <a:lnTo>
                    <a:pt x="50182" y="141560"/>
                  </a:lnTo>
                  <a:lnTo>
                    <a:pt x="65298" y="184608"/>
                  </a:lnTo>
                  <a:lnTo>
                    <a:pt x="107218" y="203634"/>
                  </a:lnTo>
                  <a:lnTo>
                    <a:pt x="116398" y="202878"/>
                  </a:lnTo>
                  <a:lnTo>
                    <a:pt x="151717" y="175983"/>
                  </a:lnTo>
                  <a:lnTo>
                    <a:pt x="156151" y="165603"/>
                  </a:lnTo>
                  <a:lnTo>
                    <a:pt x="159618" y="153491"/>
                  </a:lnTo>
                  <a:close/>
                </a:path>
                <a:path w="466725" h="244475">
                  <a:moveTo>
                    <a:pt x="237169" y="123663"/>
                  </a:moveTo>
                  <a:lnTo>
                    <a:pt x="243246" y="76020"/>
                  </a:lnTo>
                  <a:lnTo>
                    <a:pt x="263374" y="38040"/>
                  </a:lnTo>
                  <a:lnTo>
                    <a:pt x="292396" y="13281"/>
                  </a:lnTo>
                  <a:lnTo>
                    <a:pt x="337475" y="584"/>
                  </a:lnTo>
                  <a:lnTo>
                    <a:pt x="351482" y="0"/>
                  </a:lnTo>
                  <a:lnTo>
                    <a:pt x="376296" y="2025"/>
                  </a:lnTo>
                  <a:lnTo>
                    <a:pt x="418095" y="18229"/>
                  </a:lnTo>
                  <a:lnTo>
                    <a:pt x="448800" y="50193"/>
                  </a:lnTo>
                  <a:lnTo>
                    <a:pt x="464479" y="95256"/>
                  </a:lnTo>
                  <a:lnTo>
                    <a:pt x="466439" y="122535"/>
                  </a:lnTo>
                  <a:lnTo>
                    <a:pt x="464494" y="149596"/>
                  </a:lnTo>
                  <a:lnTo>
                    <a:pt x="448936" y="194378"/>
                  </a:lnTo>
                  <a:lnTo>
                    <a:pt x="418453" y="226241"/>
                  </a:lnTo>
                  <a:lnTo>
                    <a:pt x="376856" y="242404"/>
                  </a:lnTo>
                  <a:lnTo>
                    <a:pt x="352127" y="244425"/>
                  </a:lnTo>
                  <a:lnTo>
                    <a:pt x="327116" y="242415"/>
                  </a:lnTo>
                  <a:lnTo>
                    <a:pt x="285196" y="226332"/>
                  </a:lnTo>
                  <a:lnTo>
                    <a:pt x="254673" y="194660"/>
                  </a:lnTo>
                  <a:lnTo>
                    <a:pt x="239114" y="150362"/>
                  </a:lnTo>
                  <a:lnTo>
                    <a:pt x="237169" y="123663"/>
                  </a:lnTo>
                  <a:close/>
                </a:path>
              </a:pathLst>
            </a:custGeom>
            <a:ln w="15773">
              <a:solidFill>
                <a:srgbClr val="3856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384841" y="5348010"/>
              <a:ext cx="146530" cy="17861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02663" y="5311249"/>
              <a:ext cx="203284" cy="25213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7836434" y="5315105"/>
              <a:ext cx="403860" cy="245110"/>
            </a:xfrm>
            <a:custGeom>
              <a:avLst/>
              <a:gdLst/>
              <a:ahLst/>
              <a:cxnLst/>
              <a:rect l="l" t="t" r="r" b="b"/>
              <a:pathLst>
                <a:path w="403859" h="245110">
                  <a:moveTo>
                    <a:pt x="0" y="163487"/>
                  </a:moveTo>
                  <a:lnTo>
                    <a:pt x="46434" y="158973"/>
                  </a:lnTo>
                  <a:lnTo>
                    <a:pt x="49069" y="169886"/>
                  </a:lnTo>
                  <a:lnTo>
                    <a:pt x="52782" y="179248"/>
                  </a:lnTo>
                  <a:lnTo>
                    <a:pt x="87704" y="203593"/>
                  </a:lnTo>
                  <a:lnTo>
                    <a:pt x="98028" y="204279"/>
                  </a:lnTo>
                  <a:lnTo>
                    <a:pt x="108845" y="203669"/>
                  </a:lnTo>
                  <a:lnTo>
                    <a:pt x="141540" y="183943"/>
                  </a:lnTo>
                  <a:lnTo>
                    <a:pt x="144462" y="171710"/>
                  </a:lnTo>
                  <a:lnTo>
                    <a:pt x="144462" y="166121"/>
                  </a:lnTo>
                  <a:lnTo>
                    <a:pt x="142823" y="161364"/>
                  </a:lnTo>
                  <a:lnTo>
                    <a:pt x="139544" y="157441"/>
                  </a:lnTo>
                  <a:lnTo>
                    <a:pt x="136266" y="153518"/>
                  </a:lnTo>
                  <a:lnTo>
                    <a:pt x="97735" y="140310"/>
                  </a:lnTo>
                  <a:lnTo>
                    <a:pt x="84162" y="136884"/>
                  </a:lnTo>
                  <a:lnTo>
                    <a:pt x="66406" y="131856"/>
                  </a:lnTo>
                  <a:lnTo>
                    <a:pt x="30311" y="113506"/>
                  </a:lnTo>
                  <a:lnTo>
                    <a:pt x="9905" y="79436"/>
                  </a:lnTo>
                  <a:lnTo>
                    <a:pt x="8545" y="65943"/>
                  </a:lnTo>
                  <a:lnTo>
                    <a:pt x="9185" y="57060"/>
                  </a:lnTo>
                  <a:lnTo>
                    <a:pt x="31278" y="18319"/>
                  </a:lnTo>
                  <a:lnTo>
                    <a:pt x="69550" y="2055"/>
                  </a:lnTo>
                  <a:lnTo>
                    <a:pt x="94803" y="0"/>
                  </a:lnTo>
                  <a:lnTo>
                    <a:pt x="115677" y="1219"/>
                  </a:lnTo>
                  <a:lnTo>
                    <a:pt x="161794" y="19508"/>
                  </a:lnTo>
                  <a:lnTo>
                    <a:pt x="183515" y="56118"/>
                  </a:lnTo>
                  <a:lnTo>
                    <a:pt x="185415" y="71586"/>
                  </a:lnTo>
                  <a:lnTo>
                    <a:pt x="137690" y="73682"/>
                  </a:lnTo>
                  <a:lnTo>
                    <a:pt x="135720" y="65212"/>
                  </a:lnTo>
                  <a:lnTo>
                    <a:pt x="132874" y="58022"/>
                  </a:lnTo>
                  <a:lnTo>
                    <a:pt x="94319" y="39501"/>
                  </a:lnTo>
                  <a:lnTo>
                    <a:pt x="84484" y="40035"/>
                  </a:lnTo>
                  <a:lnTo>
                    <a:pt x="54173" y="56591"/>
                  </a:lnTo>
                  <a:lnTo>
                    <a:pt x="54173" y="62718"/>
                  </a:lnTo>
                  <a:lnTo>
                    <a:pt x="54173" y="68308"/>
                  </a:lnTo>
                  <a:lnTo>
                    <a:pt x="89321" y="88797"/>
                  </a:lnTo>
                  <a:lnTo>
                    <a:pt x="121401" y="97015"/>
                  </a:lnTo>
                  <a:lnTo>
                    <a:pt x="135413" y="101232"/>
                  </a:lnTo>
                  <a:lnTo>
                    <a:pt x="171508" y="120277"/>
                  </a:lnTo>
                  <a:lnTo>
                    <a:pt x="191597" y="160792"/>
                  </a:lnTo>
                  <a:lnTo>
                    <a:pt x="192186" y="171549"/>
                  </a:lnTo>
                  <a:lnTo>
                    <a:pt x="191481" y="181545"/>
                  </a:lnTo>
                  <a:lnTo>
                    <a:pt x="174673" y="217897"/>
                  </a:lnTo>
                  <a:lnTo>
                    <a:pt x="138023" y="239734"/>
                  </a:lnTo>
                  <a:lnTo>
                    <a:pt x="97544" y="244586"/>
                  </a:lnTo>
                  <a:lnTo>
                    <a:pt x="76433" y="243291"/>
                  </a:lnTo>
                  <a:lnTo>
                    <a:pt x="28699" y="223868"/>
                  </a:lnTo>
                  <a:lnTo>
                    <a:pt x="3547" y="182135"/>
                  </a:lnTo>
                  <a:lnTo>
                    <a:pt x="0" y="163487"/>
                  </a:lnTo>
                  <a:close/>
                </a:path>
                <a:path w="403859" h="245110">
                  <a:moveTo>
                    <a:pt x="285539" y="240394"/>
                  </a:moveTo>
                  <a:lnTo>
                    <a:pt x="285539" y="44015"/>
                  </a:lnTo>
                  <a:lnTo>
                    <a:pt x="215403" y="44015"/>
                  </a:lnTo>
                  <a:lnTo>
                    <a:pt x="215403" y="4030"/>
                  </a:lnTo>
                  <a:lnTo>
                    <a:pt x="403237" y="4030"/>
                  </a:lnTo>
                  <a:lnTo>
                    <a:pt x="403237" y="44015"/>
                  </a:lnTo>
                  <a:lnTo>
                    <a:pt x="333263" y="44015"/>
                  </a:lnTo>
                  <a:lnTo>
                    <a:pt x="333263" y="240394"/>
                  </a:lnTo>
                  <a:lnTo>
                    <a:pt x="285539" y="240394"/>
                  </a:lnTo>
                  <a:close/>
                </a:path>
              </a:pathLst>
            </a:custGeom>
            <a:ln w="15773">
              <a:solidFill>
                <a:srgbClr val="3856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const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2700" marR="5080">
              <a:lnSpc>
                <a:spcPts val="2890"/>
              </a:lnSpc>
              <a:spcBef>
                <a:spcPts val="585"/>
              </a:spcBef>
            </a:pPr>
            <a:r>
              <a:rPr spc="-20" dirty="0"/>
              <a:t>Для</a:t>
            </a:r>
            <a:r>
              <a:rPr spc="-130" dirty="0"/>
              <a:t> </a:t>
            </a:r>
            <a:r>
              <a:rPr dirty="0"/>
              <a:t>того,</a:t>
            </a:r>
            <a:r>
              <a:rPr spc="-130" dirty="0"/>
              <a:t> </a:t>
            </a:r>
            <a:r>
              <a:rPr dirty="0"/>
              <a:t>чтобы</a:t>
            </a:r>
            <a:r>
              <a:rPr spc="-130" dirty="0"/>
              <a:t> </a:t>
            </a:r>
            <a:r>
              <a:rPr spc="-35" dirty="0"/>
              <a:t>перегрузка</a:t>
            </a:r>
            <a:r>
              <a:rPr spc="-130" dirty="0"/>
              <a:t> </a:t>
            </a:r>
            <a:r>
              <a:rPr spc="-10" dirty="0"/>
              <a:t>операторов</a:t>
            </a:r>
            <a:r>
              <a:rPr spc="-130" dirty="0"/>
              <a:t> </a:t>
            </a:r>
            <a:r>
              <a:rPr spc="-30" dirty="0"/>
              <a:t>корректно</a:t>
            </a:r>
            <a:r>
              <a:rPr spc="-130" dirty="0"/>
              <a:t> </a:t>
            </a:r>
            <a:r>
              <a:rPr dirty="0"/>
              <a:t>работала</a:t>
            </a:r>
            <a:r>
              <a:rPr spc="-125" dirty="0"/>
              <a:t> </a:t>
            </a:r>
            <a:r>
              <a:rPr spc="-50" dirty="0"/>
              <a:t>с </a:t>
            </a:r>
            <a:r>
              <a:rPr spc="-25" dirty="0"/>
              <a:t>константными</a:t>
            </a:r>
            <a:r>
              <a:rPr spc="-145" dirty="0"/>
              <a:t> </a:t>
            </a:r>
            <a:r>
              <a:rPr spc="-25" dirty="0"/>
              <a:t>объектами,</a:t>
            </a:r>
            <a:r>
              <a:rPr spc="-140" dirty="0"/>
              <a:t> </a:t>
            </a:r>
            <a:r>
              <a:rPr dirty="0"/>
              <a:t>добавляйте</a:t>
            </a:r>
            <a:r>
              <a:rPr spc="-140" dirty="0"/>
              <a:t> </a:t>
            </a:r>
            <a:r>
              <a:rPr spc="-10" dirty="0"/>
              <a:t>const.</a:t>
            </a:r>
          </a:p>
          <a:p>
            <a:pPr marL="12700" marR="356235">
              <a:lnSpc>
                <a:spcPts val="2890"/>
              </a:lnSpc>
              <a:spcBef>
                <a:spcPts val="1000"/>
              </a:spcBef>
            </a:pPr>
            <a:r>
              <a:rPr dirty="0"/>
              <a:t>Если</a:t>
            </a:r>
            <a:r>
              <a:rPr spc="-65" dirty="0"/>
              <a:t> </a:t>
            </a:r>
            <a:r>
              <a:rPr dirty="0"/>
              <a:t>вы</a:t>
            </a:r>
            <a:r>
              <a:rPr spc="-60" dirty="0"/>
              <a:t> </a:t>
            </a:r>
            <a:r>
              <a:rPr dirty="0"/>
              <a:t>не</a:t>
            </a:r>
            <a:r>
              <a:rPr spc="-60" dirty="0"/>
              <a:t> </a:t>
            </a:r>
            <a:r>
              <a:rPr spc="-45" dirty="0"/>
              <a:t>можете</a:t>
            </a:r>
            <a:r>
              <a:rPr spc="-60" dirty="0"/>
              <a:t> </a:t>
            </a:r>
            <a:r>
              <a:rPr dirty="0"/>
              <a:t>добавить</a:t>
            </a:r>
            <a:r>
              <a:rPr spc="-60" dirty="0"/>
              <a:t> </a:t>
            </a:r>
            <a:r>
              <a:rPr dirty="0"/>
              <a:t>const,</a:t>
            </a:r>
            <a:r>
              <a:rPr spc="-60" dirty="0"/>
              <a:t> </a:t>
            </a:r>
            <a:r>
              <a:rPr spc="-25" dirty="0"/>
              <a:t>перегрузите</a:t>
            </a:r>
            <a:r>
              <a:rPr spc="-65" dirty="0"/>
              <a:t> </a:t>
            </a:r>
            <a:r>
              <a:rPr spc="-10" dirty="0"/>
              <a:t>оператор</a:t>
            </a:r>
            <a:r>
              <a:rPr spc="-60" dirty="0"/>
              <a:t> </a:t>
            </a:r>
            <a:r>
              <a:rPr spc="-50" dirty="0"/>
              <a:t>и </a:t>
            </a:r>
            <a:r>
              <a:rPr spc="-30" dirty="0"/>
              <a:t>добавьте</a:t>
            </a:r>
            <a:r>
              <a:rPr spc="-145" dirty="0"/>
              <a:t> </a:t>
            </a:r>
            <a:r>
              <a:rPr spc="-10" dirty="0"/>
              <a:t>const.</a:t>
            </a: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dirty="0"/>
              <a:t>сonst</a:t>
            </a:r>
            <a:r>
              <a:rPr spc="-40" dirty="0"/>
              <a:t> </a:t>
            </a:r>
            <a:r>
              <a:rPr dirty="0"/>
              <a:t>это</a:t>
            </a:r>
            <a:r>
              <a:rPr spc="-35" dirty="0"/>
              <a:t> </a:t>
            </a:r>
            <a:r>
              <a:rPr spc="-10" dirty="0"/>
              <a:t>важно.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2780</TotalTime>
  <Words>647</Words>
  <Application>Microsoft Office PowerPoint</Application>
  <PresentationFormat>Widescreen</PresentationFormat>
  <Paragraphs>113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-apple-system</vt:lpstr>
      <vt:lpstr>Arial</vt:lpstr>
      <vt:lpstr>Calibri</vt:lpstr>
      <vt:lpstr>DejaVuSansMono</vt:lpstr>
      <vt:lpstr>Microsoft Sans Serif</vt:lpstr>
      <vt:lpstr>Office Theme</vt:lpstr>
      <vt:lpstr>Семинар по C++ №9 Перегрузка операторов</vt:lpstr>
      <vt:lpstr>Конструктор</vt:lpstr>
      <vt:lpstr>Оператор присваивания</vt:lpstr>
      <vt:lpstr>Операторы +, +=</vt:lpstr>
      <vt:lpstr>Сравнения</vt:lpstr>
      <vt:lpstr>Spaceship operator (&lt;=&gt;)</vt:lpstr>
      <vt:lpstr>&lt;=&gt;: идея</vt:lpstr>
      <vt:lpstr>&lt;=&gt;: orderings</vt:lpstr>
      <vt:lpstr>&lt;=&gt;: orderings</vt:lpstr>
      <vt:lpstr>&lt;=&gt;: orderings</vt:lpstr>
      <vt:lpstr>std::strong_ordering</vt:lpstr>
      <vt:lpstr>std::weak_ordering</vt:lpstr>
      <vt:lpstr>std::partial_ordering</vt:lpstr>
      <vt:lpstr>Сравнения</vt:lpstr>
      <vt:lpstr>Базовые и производные операторы</vt:lpstr>
      <vt:lpstr>Правила:</vt:lpstr>
      <vt:lpstr>Поиск кандидата</vt:lpstr>
      <vt:lpstr>Бонус</vt:lpstr>
      <vt:lpstr>Вывод в поток</vt:lpstr>
      <vt:lpstr>PowerPoint Presentation</vt:lpstr>
      <vt:lpstr>const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Семинар_8 (1)</dc:title>
  <dc:creator>Konstantin Dragun</dc:creator>
  <cp:lastModifiedBy>Konstantin Dragun</cp:lastModifiedBy>
  <cp:revision>24</cp:revision>
  <dcterms:created xsi:type="dcterms:W3CDTF">2024-10-30T20:17:42Z</dcterms:created>
  <dcterms:modified xsi:type="dcterms:W3CDTF">2024-11-08T09:20:06Z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2023-12-17T00:00:00Z</vt:filetime>
  </property>
  <property fmtid="{D5CDD505-2E9C-101B-9397-08002B2CF9AE}" pid="3" name="Creator">
    <vt:lpwstr>Keynote</vt:lpwstr>
  </property>
  <property fmtid="{D5CDD505-2E9C-101B-9397-08002B2CF9AE}" pid="4" name="LastSaved">
    <vt:filetime>2024-10-30T00:00:00Z</vt:filetime>
  </property>
  <property fmtid="{D5CDD505-2E9C-101B-9397-08002B2CF9AE}" pid="5" name="Producer">
    <vt:lpwstr>macOS Version 13.6.2 (Build 22G320) Quartz PDFContext</vt:lpwstr>
  </property>
</Properties>
</file>