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112" y="-4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34581"/>
            <a:ext cx="884364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3309" y="1724124"/>
            <a:ext cx="10875645" cy="4718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A8%D0%B5%D0%B1%D0%B0%D0%BD%D0%B3_(Unix)" TargetMode="External"/><Relationship Id="rId2" Type="http://schemas.openxmlformats.org/officeDocument/2006/relationships/hyperlink" Target="https://habr.com/ru/company/ruvds/blog/325522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0807" y="1698068"/>
            <a:ext cx="7799993" cy="1784463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95400" marR="5080" indent="-1283335">
              <a:lnSpc>
                <a:spcPts val="6480"/>
              </a:lnSpc>
              <a:spcBef>
                <a:spcPts val="915"/>
              </a:spcBef>
            </a:pPr>
            <a:r>
              <a:rPr sz="6000" dirty="0"/>
              <a:t>Семинар</a:t>
            </a:r>
            <a:r>
              <a:rPr sz="6000" spc="-120" dirty="0"/>
              <a:t> </a:t>
            </a:r>
            <a:r>
              <a:rPr sz="6000" dirty="0"/>
              <a:t>по</a:t>
            </a:r>
            <a:r>
              <a:rPr sz="6000" spc="-114" dirty="0"/>
              <a:t> </a:t>
            </a:r>
            <a:r>
              <a:rPr sz="6000" dirty="0"/>
              <a:t>С++</a:t>
            </a:r>
            <a:r>
              <a:rPr sz="6000" spc="-114" dirty="0"/>
              <a:t> </a:t>
            </a:r>
            <a:r>
              <a:rPr sz="6000" spc="165" dirty="0"/>
              <a:t>№</a:t>
            </a:r>
            <a:r>
              <a:rPr lang="en-US" sz="6000" spc="165" dirty="0"/>
              <a:t>10</a:t>
            </a:r>
            <a:r>
              <a:rPr sz="6000" spc="165" dirty="0"/>
              <a:t> </a:t>
            </a:r>
            <a:r>
              <a:rPr sz="6000" spc="-75" dirty="0"/>
              <a:t>bash-</a:t>
            </a:r>
            <a:r>
              <a:rPr sz="6000" spc="-10" dirty="0"/>
              <a:t>скрипты</a:t>
            </a:r>
            <a:endParaRPr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Типы</a:t>
            </a:r>
            <a:r>
              <a:rPr spc="-15" dirty="0"/>
              <a:t> </a:t>
            </a:r>
            <a:r>
              <a:rPr dirty="0"/>
              <a:t>файлов</a:t>
            </a:r>
            <a:r>
              <a:rPr spc="-15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1976"/>
            <a:ext cx="2743200" cy="375031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3600" b="1" dirty="0">
                <a:latin typeface="Arial"/>
                <a:cs typeface="Arial"/>
              </a:rPr>
              <a:t>Regular</a:t>
            </a:r>
            <a:r>
              <a:rPr sz="3600" b="1" spc="-40" dirty="0">
                <a:latin typeface="Arial"/>
                <a:cs typeface="Arial"/>
              </a:rPr>
              <a:t> </a:t>
            </a:r>
            <a:r>
              <a:rPr sz="3600" b="1" spc="-20" dirty="0">
                <a:latin typeface="Arial"/>
                <a:cs typeface="Arial"/>
              </a:rPr>
              <a:t>file</a:t>
            </a:r>
            <a:endParaRPr sz="36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570"/>
              </a:spcBef>
              <a:buChar char="•"/>
              <a:tabLst>
                <a:tab pos="241300" algn="l"/>
              </a:tabLst>
            </a:pPr>
            <a:r>
              <a:rPr sz="3600" spc="-10" dirty="0">
                <a:latin typeface="Microsoft Sans Serif"/>
                <a:cs typeface="Microsoft Sans Serif"/>
              </a:rPr>
              <a:t>Directory</a:t>
            </a:r>
            <a:endParaRPr sz="36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57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sz="3600" b="1" dirty="0">
                <a:latin typeface="Arial"/>
                <a:cs typeface="Arial"/>
              </a:rPr>
              <a:t>Soft</a:t>
            </a:r>
            <a:r>
              <a:rPr sz="3600" b="1" spc="-50" dirty="0">
                <a:latin typeface="Arial"/>
                <a:cs typeface="Arial"/>
              </a:rPr>
              <a:t> </a:t>
            </a:r>
            <a:r>
              <a:rPr sz="3600" b="1" spc="-20" dirty="0">
                <a:latin typeface="Arial"/>
                <a:cs typeface="Arial"/>
              </a:rPr>
              <a:t>link</a:t>
            </a:r>
            <a:endParaRPr sz="36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565"/>
              </a:spcBef>
              <a:buChar char="•"/>
              <a:tabLst>
                <a:tab pos="241300" algn="l"/>
              </a:tabLst>
            </a:pPr>
            <a:r>
              <a:rPr sz="3600" dirty="0">
                <a:latin typeface="Microsoft Sans Serif"/>
                <a:cs typeface="Microsoft Sans Serif"/>
              </a:rPr>
              <a:t>Named</a:t>
            </a:r>
            <a:r>
              <a:rPr sz="3600" spc="10" dirty="0">
                <a:latin typeface="Microsoft Sans Serif"/>
                <a:cs typeface="Microsoft Sans Serif"/>
              </a:rPr>
              <a:t> </a:t>
            </a:r>
            <a:r>
              <a:rPr sz="3600" spc="-20" dirty="0">
                <a:latin typeface="Microsoft Sans Serif"/>
                <a:cs typeface="Microsoft Sans Serif"/>
              </a:rPr>
              <a:t>pipe</a:t>
            </a:r>
            <a:endParaRPr sz="36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570"/>
              </a:spcBef>
              <a:buChar char="•"/>
              <a:tabLst>
                <a:tab pos="241300" algn="l"/>
              </a:tabLst>
            </a:pPr>
            <a:r>
              <a:rPr sz="3600" dirty="0">
                <a:latin typeface="Microsoft Sans Serif"/>
                <a:cs typeface="Microsoft Sans Serif"/>
              </a:rPr>
              <a:t>Device</a:t>
            </a:r>
            <a:r>
              <a:rPr sz="3600" spc="-100" dirty="0">
                <a:latin typeface="Microsoft Sans Serif"/>
                <a:cs typeface="Microsoft Sans Serif"/>
              </a:rPr>
              <a:t> </a:t>
            </a:r>
            <a:r>
              <a:rPr sz="3600" spc="-20" dirty="0">
                <a:latin typeface="Microsoft Sans Serif"/>
                <a:cs typeface="Microsoft Sans Serif"/>
              </a:rPr>
              <a:t>file</a:t>
            </a:r>
            <a:endParaRPr sz="36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565"/>
              </a:spcBef>
              <a:buChar char="•"/>
              <a:tabLst>
                <a:tab pos="241300" algn="l"/>
              </a:tabLst>
            </a:pPr>
            <a:r>
              <a:rPr sz="3600" spc="-10" dirty="0">
                <a:latin typeface="Microsoft Sans Serif"/>
                <a:cs typeface="Microsoft Sans Serif"/>
              </a:rPr>
              <a:t>Socket</a:t>
            </a:r>
            <a:endParaRPr sz="3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Жёсткие</a:t>
            </a:r>
            <a:r>
              <a:rPr spc="-155" dirty="0"/>
              <a:t> </a:t>
            </a:r>
            <a:r>
              <a:rPr dirty="0"/>
              <a:t>и</a:t>
            </a:r>
            <a:r>
              <a:rPr spc="-155" dirty="0"/>
              <a:t> </a:t>
            </a:r>
            <a:r>
              <a:rPr spc="-30" dirty="0"/>
              <a:t>символически</a:t>
            </a:r>
            <a:r>
              <a:rPr spc="-150" dirty="0"/>
              <a:t> </a:t>
            </a:r>
            <a:r>
              <a:rPr spc="-10" dirty="0"/>
              <a:t>ссылки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5439" y="1606892"/>
            <a:ext cx="5245584" cy="23399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04095" y="4259034"/>
            <a:ext cx="4996929" cy="24002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Жёсткие</a:t>
            </a:r>
            <a:r>
              <a:rPr spc="-155" dirty="0"/>
              <a:t> </a:t>
            </a:r>
            <a:r>
              <a:rPr dirty="0"/>
              <a:t>и</a:t>
            </a:r>
            <a:r>
              <a:rPr spc="-150" dirty="0"/>
              <a:t> </a:t>
            </a:r>
            <a:r>
              <a:rPr spc="-30" dirty="0"/>
              <a:t>символические</a:t>
            </a:r>
            <a:r>
              <a:rPr spc="-150" dirty="0"/>
              <a:t> </a:t>
            </a:r>
            <a:r>
              <a:rPr spc="-10" dirty="0"/>
              <a:t>ссылки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5588"/>
            <a:ext cx="9599295" cy="321500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40"/>
              </a:spcBef>
              <a:buChar char="•"/>
              <a:tabLst>
                <a:tab pos="240029" algn="l"/>
              </a:tabLst>
            </a:pPr>
            <a:r>
              <a:rPr sz="2700" dirty="0">
                <a:latin typeface="Microsoft Sans Serif"/>
                <a:cs typeface="Microsoft Sans Serif"/>
              </a:rPr>
              <a:t>Hard</a:t>
            </a:r>
            <a:r>
              <a:rPr sz="2700" spc="5" dirty="0">
                <a:latin typeface="Microsoft Sans Serif"/>
                <a:cs typeface="Microsoft Sans Serif"/>
              </a:rPr>
              <a:t> </a:t>
            </a:r>
            <a:r>
              <a:rPr sz="2700" spc="-20" dirty="0">
                <a:latin typeface="Microsoft Sans Serif"/>
                <a:cs typeface="Microsoft Sans Serif"/>
              </a:rPr>
              <a:t>link</a:t>
            </a:r>
            <a:endParaRPr sz="2700" dirty="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204"/>
              </a:spcBef>
              <a:buChar char="•"/>
              <a:tabLst>
                <a:tab pos="698500" algn="l"/>
              </a:tabLst>
            </a:pPr>
            <a:r>
              <a:rPr sz="2300" spc="-30" dirty="0">
                <a:latin typeface="Microsoft Sans Serif"/>
                <a:cs typeface="Microsoft Sans Serif"/>
              </a:rPr>
              <a:t>Другое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имя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для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файла</a:t>
            </a:r>
            <a:endParaRPr sz="2300" dirty="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95"/>
              </a:spcBef>
              <a:buChar char="•"/>
              <a:tabLst>
                <a:tab pos="698500" algn="l"/>
              </a:tabLst>
            </a:pPr>
            <a:r>
              <a:rPr lang="en-US" sz="2300" dirty="0">
                <a:latin typeface="Microsoft Sans Serif"/>
                <a:cs typeface="Microsoft Sans Serif"/>
              </a:rPr>
              <a:t>$ </a:t>
            </a:r>
            <a:r>
              <a:rPr sz="2300" dirty="0">
                <a:latin typeface="Microsoft Sans Serif"/>
                <a:cs typeface="Microsoft Sans Serif"/>
              </a:rPr>
              <a:t>ln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filename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hardlnk</a:t>
            </a:r>
            <a:endParaRPr sz="2300" dirty="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95"/>
              </a:spcBef>
              <a:buChar char="•"/>
              <a:tabLst>
                <a:tab pos="698500" algn="l"/>
              </a:tabLst>
            </a:pPr>
            <a:r>
              <a:rPr sz="2300" dirty="0">
                <a:latin typeface="Microsoft Sans Serif"/>
                <a:cs typeface="Microsoft Sans Serif"/>
              </a:rPr>
              <a:t>Не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является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настоящим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файлом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(inode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spc="-70" dirty="0">
                <a:latin typeface="Microsoft Sans Serif"/>
                <a:cs typeface="Microsoft Sans Serif"/>
              </a:rPr>
              <a:t>как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у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исходного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файла)</a:t>
            </a:r>
            <a:endParaRPr sz="2300" dirty="0">
              <a:latin typeface="Microsoft Sans Serif"/>
              <a:cs typeface="Microsoft Sans Serif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Char char="•"/>
              <a:tabLst>
                <a:tab pos="240029" algn="l"/>
              </a:tabLst>
            </a:pPr>
            <a:r>
              <a:rPr sz="2700" dirty="0">
                <a:latin typeface="Microsoft Sans Serif"/>
                <a:cs typeface="Microsoft Sans Serif"/>
              </a:rPr>
              <a:t>Soft</a:t>
            </a:r>
            <a:r>
              <a:rPr sz="2700" spc="2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link</a:t>
            </a:r>
            <a:r>
              <a:rPr sz="2700" spc="25" dirty="0">
                <a:latin typeface="Microsoft Sans Serif"/>
                <a:cs typeface="Microsoft Sans Serif"/>
              </a:rPr>
              <a:t> </a:t>
            </a:r>
            <a:r>
              <a:rPr sz="2700" spc="-20" dirty="0">
                <a:latin typeface="Microsoft Sans Serif"/>
                <a:cs typeface="Microsoft Sans Serif"/>
              </a:rPr>
              <a:t>(sym-</a:t>
            </a:r>
            <a:r>
              <a:rPr sz="2700" spc="-10" dirty="0">
                <a:latin typeface="Microsoft Sans Serif"/>
                <a:cs typeface="Microsoft Sans Serif"/>
              </a:rPr>
              <a:t>link)</a:t>
            </a:r>
            <a:endParaRPr sz="2700" dirty="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204"/>
              </a:spcBef>
              <a:buChar char="•"/>
              <a:tabLst>
                <a:tab pos="698500" algn="l"/>
              </a:tabLst>
            </a:pPr>
            <a:r>
              <a:rPr sz="2300" dirty="0">
                <a:latin typeface="Microsoft Sans Serif"/>
                <a:cs typeface="Microsoft Sans Serif"/>
              </a:rPr>
              <a:t>Работают</a:t>
            </a:r>
            <a:r>
              <a:rPr sz="2300" spc="-35" dirty="0">
                <a:latin typeface="Microsoft Sans Serif"/>
                <a:cs typeface="Microsoft Sans Serif"/>
              </a:rPr>
              <a:t> </a:t>
            </a:r>
            <a:r>
              <a:rPr sz="2300" spc="-70" dirty="0">
                <a:latin typeface="Microsoft Sans Serif"/>
                <a:cs typeface="Microsoft Sans Serif"/>
              </a:rPr>
              <a:t>как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указатели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или</a:t>
            </a:r>
            <a:r>
              <a:rPr sz="2300" spc="-3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ярлыки</a:t>
            </a:r>
            <a:endParaRPr sz="2300" dirty="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200"/>
              </a:spcBef>
              <a:buChar char="•"/>
              <a:tabLst>
                <a:tab pos="698500" algn="l"/>
              </a:tabLst>
            </a:pPr>
            <a:r>
              <a:rPr lang="en-US" sz="2300" dirty="0">
                <a:latin typeface="Microsoft Sans Serif"/>
                <a:cs typeface="Microsoft Sans Serif"/>
              </a:rPr>
              <a:t>$ </a:t>
            </a:r>
            <a:r>
              <a:rPr sz="2300" dirty="0">
                <a:latin typeface="Microsoft Sans Serif"/>
                <a:cs typeface="Microsoft Sans Serif"/>
              </a:rPr>
              <a:t>ln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-s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filename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symlink</a:t>
            </a:r>
            <a:endParaRPr sz="2300" dirty="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95"/>
              </a:spcBef>
              <a:buChar char="•"/>
              <a:tabLst>
                <a:tab pos="698500" algn="l"/>
              </a:tabLst>
            </a:pPr>
            <a:r>
              <a:rPr sz="2300" dirty="0">
                <a:latin typeface="Microsoft Sans Serif"/>
                <a:cs typeface="Microsoft Sans Serif"/>
              </a:rPr>
              <a:t>Является</a:t>
            </a:r>
            <a:r>
              <a:rPr sz="2300" spc="-3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настоящим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файлом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(свой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inode)</a:t>
            </a:r>
            <a:endParaRPr sz="23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grep</a:t>
            </a:r>
            <a:r>
              <a:rPr spc="-60" dirty="0"/>
              <a:t> </a:t>
            </a:r>
            <a:r>
              <a:rPr dirty="0"/>
              <a:t>и</a:t>
            </a:r>
            <a:r>
              <a:rPr spc="-60" dirty="0"/>
              <a:t> </a:t>
            </a:r>
            <a:r>
              <a:rPr dirty="0"/>
              <a:t>регулярные</a:t>
            </a:r>
            <a:r>
              <a:rPr spc="-60" dirty="0"/>
              <a:t> </a:t>
            </a:r>
            <a:r>
              <a:rPr spc="-10" dirty="0"/>
              <a:t>выражения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0310"/>
            <a:ext cx="9161780" cy="4933401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29"/>
              </a:spcBef>
              <a:buChar char="•"/>
              <a:tabLst>
                <a:tab pos="240665" algn="l"/>
              </a:tabLst>
            </a:pPr>
            <a:r>
              <a:rPr sz="1800" spc="-10" dirty="0" err="1">
                <a:latin typeface="Microsoft Sans Serif"/>
                <a:cs typeface="Microsoft Sans Serif"/>
              </a:rPr>
              <a:t>Якор</a:t>
            </a:r>
            <a:r>
              <a:rPr lang="ru-RU" spc="-10" dirty="0">
                <a:latin typeface="Microsoft Sans Serif"/>
                <a:cs typeface="Microsoft Sans Serif"/>
              </a:rPr>
              <a:t>я</a:t>
            </a:r>
            <a:endParaRPr sz="180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35"/>
              </a:spcBef>
              <a:buChar char="•"/>
              <a:tabLst>
                <a:tab pos="697865" algn="l"/>
              </a:tabLst>
            </a:pPr>
            <a:r>
              <a:rPr sz="1800" dirty="0">
                <a:latin typeface="Microsoft Sans Serif"/>
                <a:cs typeface="Microsoft Sans Serif"/>
              </a:rPr>
              <a:t>^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470" dirty="0">
                <a:latin typeface="Microsoft Sans Serif"/>
                <a:cs typeface="Microsoft Sans Serif"/>
              </a:rPr>
              <a:t>–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начало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строки: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grep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‘^start’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file.txt</a:t>
            </a:r>
            <a:endParaRPr sz="180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30"/>
              </a:spcBef>
              <a:buChar char="•"/>
              <a:tabLst>
                <a:tab pos="697865" algn="l"/>
                <a:tab pos="2708275" algn="l"/>
              </a:tabLst>
            </a:pPr>
            <a:r>
              <a:rPr sz="1800" dirty="0">
                <a:latin typeface="Microsoft Sans Serif"/>
                <a:cs typeface="Microsoft Sans Serif"/>
              </a:rPr>
              <a:t>$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470" dirty="0">
                <a:latin typeface="Microsoft Sans Serif"/>
                <a:cs typeface="Microsoft Sans Serif"/>
              </a:rPr>
              <a:t>–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конец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строки:</a:t>
            </a:r>
            <a:r>
              <a:rPr sz="1800" dirty="0">
                <a:latin typeface="Microsoft Sans Serif"/>
                <a:cs typeface="Microsoft Sans Serif"/>
              </a:rPr>
              <a:t>	grep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‘txt$’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file.txt</a:t>
            </a:r>
            <a:endParaRPr sz="18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Char char="•"/>
              <a:tabLst>
                <a:tab pos="240665" algn="l"/>
              </a:tabLst>
            </a:pPr>
            <a:r>
              <a:rPr sz="1600" dirty="0">
                <a:latin typeface="Microsoft Sans Serif"/>
                <a:cs typeface="Microsoft Sans Serif"/>
              </a:rPr>
              <a:t>Одиночный</a:t>
            </a:r>
            <a:r>
              <a:rPr sz="1600" spc="-10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символ</a:t>
            </a:r>
            <a:endParaRPr sz="160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75"/>
              </a:spcBef>
              <a:buChar char="•"/>
              <a:tabLst>
                <a:tab pos="697865" algn="l"/>
              </a:tabLst>
            </a:pPr>
            <a:r>
              <a:rPr sz="1600" dirty="0">
                <a:latin typeface="Microsoft Sans Serif"/>
                <a:cs typeface="Microsoft Sans Serif"/>
              </a:rPr>
              <a:t>.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409" dirty="0">
                <a:latin typeface="Microsoft Sans Serif"/>
                <a:cs typeface="Microsoft Sans Serif"/>
              </a:rPr>
              <a:t>–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один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символ: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grep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‘he..o’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file.txt</a:t>
            </a:r>
            <a:endParaRPr sz="16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670"/>
              </a:spcBef>
              <a:buChar char="•"/>
              <a:tabLst>
                <a:tab pos="240665" algn="l"/>
              </a:tabLst>
            </a:pPr>
            <a:r>
              <a:rPr sz="1600" spc="-10" dirty="0">
                <a:latin typeface="Microsoft Sans Serif"/>
                <a:cs typeface="Microsoft Sans Serif"/>
              </a:rPr>
              <a:t>Группа</a:t>
            </a:r>
            <a:r>
              <a:rPr sz="1600" spc="-6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символов</a:t>
            </a:r>
            <a:endParaRPr sz="160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75"/>
              </a:spcBef>
              <a:buChar char="•"/>
              <a:tabLst>
                <a:tab pos="697865" algn="l"/>
              </a:tabLst>
            </a:pPr>
            <a:r>
              <a:rPr sz="1600" dirty="0">
                <a:latin typeface="Microsoft Sans Serif"/>
                <a:cs typeface="Microsoft Sans Serif"/>
              </a:rPr>
              <a:t>[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]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409" dirty="0">
                <a:latin typeface="Microsoft Sans Serif"/>
                <a:cs typeface="Microsoft Sans Serif"/>
              </a:rPr>
              <a:t>–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поиск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заданной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группы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символов</a:t>
            </a:r>
            <a:endParaRPr sz="160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75"/>
              </a:spcBef>
              <a:buChar char="•"/>
              <a:tabLst>
                <a:tab pos="697865" algn="l"/>
              </a:tabLst>
            </a:pPr>
            <a:r>
              <a:rPr sz="1600" dirty="0">
                <a:latin typeface="Microsoft Sans Serif"/>
                <a:cs typeface="Microsoft Sans Serif"/>
              </a:rPr>
              <a:t>(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)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409" dirty="0">
                <a:latin typeface="Microsoft Sans Serif"/>
                <a:cs typeface="Microsoft Sans Serif"/>
              </a:rPr>
              <a:t>–</a:t>
            </a:r>
            <a:r>
              <a:rPr sz="1600" spc="-10" dirty="0">
                <a:latin typeface="Microsoft Sans Serif"/>
                <a:cs typeface="Microsoft Sans Serif"/>
              </a:rPr>
              <a:t> поиск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подстроки</a:t>
            </a:r>
            <a:endParaRPr sz="160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75"/>
              </a:spcBef>
              <a:buChar char="•"/>
              <a:tabLst>
                <a:tab pos="697865" algn="l"/>
              </a:tabLst>
            </a:pPr>
            <a:r>
              <a:rPr sz="1600" dirty="0">
                <a:latin typeface="Microsoft Sans Serif"/>
                <a:cs typeface="Microsoft Sans Serif"/>
              </a:rPr>
              <a:t>grep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‘acce[np]t’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file.txt</a:t>
            </a:r>
            <a:endParaRPr sz="160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70"/>
              </a:spcBef>
              <a:buChar char="•"/>
              <a:tabLst>
                <a:tab pos="697865" algn="l"/>
              </a:tabLst>
            </a:pPr>
            <a:r>
              <a:rPr sz="1600" dirty="0">
                <a:latin typeface="Microsoft Sans Serif"/>
                <a:cs typeface="Microsoft Sans Serif"/>
              </a:rPr>
              <a:t>grep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‘co[^l]a’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file.txt</a:t>
            </a:r>
            <a:endParaRPr sz="160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75"/>
              </a:spcBef>
              <a:buChar char="•"/>
              <a:tabLst>
                <a:tab pos="697865" algn="l"/>
              </a:tabLst>
            </a:pPr>
            <a:r>
              <a:rPr sz="1600" spc="-20" dirty="0">
                <a:latin typeface="Microsoft Sans Serif"/>
                <a:cs typeface="Microsoft Sans Serif"/>
              </a:rPr>
              <a:t>[a-</a:t>
            </a:r>
            <a:r>
              <a:rPr sz="1600" dirty="0">
                <a:latin typeface="Microsoft Sans Serif"/>
                <a:cs typeface="Microsoft Sans Serif"/>
              </a:rPr>
              <a:t>z],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20" dirty="0">
                <a:latin typeface="Microsoft Sans Serif"/>
                <a:cs typeface="Microsoft Sans Serif"/>
              </a:rPr>
              <a:t>[2-</a:t>
            </a:r>
            <a:r>
              <a:rPr sz="1600" dirty="0">
                <a:latin typeface="Microsoft Sans Serif"/>
                <a:cs typeface="Microsoft Sans Serif"/>
              </a:rPr>
              <a:t>7],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...</a:t>
            </a:r>
            <a:endParaRPr sz="160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75"/>
              </a:spcBef>
              <a:buChar char="•"/>
              <a:tabLst>
                <a:tab pos="697865" algn="l"/>
              </a:tabLst>
            </a:pPr>
            <a:r>
              <a:rPr sz="1600" dirty="0">
                <a:latin typeface="Microsoft Sans Serif"/>
                <a:cs typeface="Microsoft Sans Serif"/>
              </a:rPr>
              <a:t>[:alnum:],</a:t>
            </a:r>
            <a:r>
              <a:rPr sz="1600" spc="-9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[:alpha:],</a:t>
            </a:r>
            <a:r>
              <a:rPr sz="1600" spc="-9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...</a:t>
            </a:r>
            <a:endParaRPr sz="16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625"/>
              </a:spcBef>
              <a:buChar char="•"/>
              <a:tabLst>
                <a:tab pos="240665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Квантификаторы</a:t>
            </a:r>
            <a:endParaRPr sz="180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80"/>
              </a:spcBef>
              <a:buChar char="•"/>
              <a:tabLst>
                <a:tab pos="697865" algn="l"/>
              </a:tabLst>
            </a:pPr>
            <a:r>
              <a:rPr sz="1600" dirty="0">
                <a:latin typeface="Microsoft Sans Serif"/>
                <a:cs typeface="Microsoft Sans Serif"/>
              </a:rPr>
              <a:t>*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409" dirty="0">
                <a:latin typeface="Microsoft Sans Serif"/>
                <a:cs typeface="Microsoft Sans Serif"/>
              </a:rPr>
              <a:t>–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элемент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встречается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0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и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более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раз</a:t>
            </a:r>
            <a:endParaRPr sz="1600" dirty="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175"/>
              </a:spcBef>
              <a:tabLst>
                <a:tab pos="697865" algn="l"/>
              </a:tabLst>
            </a:pPr>
            <a:r>
              <a:rPr sz="1600" spc="-50" dirty="0">
                <a:latin typeface="Microsoft Sans Serif"/>
                <a:cs typeface="Microsoft Sans Serif"/>
              </a:rPr>
              <a:t>•</a:t>
            </a:r>
            <a:r>
              <a:rPr sz="1600" dirty="0">
                <a:latin typeface="Microsoft Sans Serif"/>
                <a:cs typeface="Microsoft Sans Serif"/>
              </a:rPr>
              <a:t>	+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409" dirty="0">
                <a:latin typeface="Microsoft Sans Serif"/>
                <a:cs typeface="Microsoft Sans Serif"/>
              </a:rPr>
              <a:t>–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элемент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встречается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1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и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более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раз</a:t>
            </a:r>
            <a:endParaRPr sz="16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600" dirty="0">
              <a:latin typeface="Microsoft Sans Serif"/>
              <a:cs typeface="Microsoft Sans Serif"/>
            </a:endParaRPr>
          </a:p>
          <a:p>
            <a:pPr marL="504190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Задание.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В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скольких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строках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файла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данное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слово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встречается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минимум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дважды</a:t>
            </a:r>
            <a:endParaRPr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SED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73309" y="1724124"/>
            <a:ext cx="10875645" cy="4781437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685165" indent="-229235">
              <a:lnSpc>
                <a:spcPct val="100000"/>
              </a:lnSpc>
              <a:spcBef>
                <a:spcPts val="765"/>
              </a:spcBef>
              <a:buChar char="•"/>
              <a:tabLst>
                <a:tab pos="685165" algn="l"/>
              </a:tabLst>
            </a:pPr>
            <a:r>
              <a:rPr dirty="0"/>
              <a:t>sed</a:t>
            </a:r>
            <a:r>
              <a:rPr spc="-50" dirty="0"/>
              <a:t> </a:t>
            </a:r>
            <a:r>
              <a:rPr spc="725" dirty="0"/>
              <a:t>–</a:t>
            </a:r>
            <a:r>
              <a:rPr spc="-45" dirty="0"/>
              <a:t> </a:t>
            </a:r>
            <a:r>
              <a:rPr b="1" dirty="0">
                <a:latin typeface="Arial"/>
                <a:cs typeface="Arial"/>
              </a:rPr>
              <a:t>S</a:t>
            </a:r>
            <a:r>
              <a:rPr dirty="0"/>
              <a:t>tream</a:t>
            </a:r>
            <a:r>
              <a:rPr spc="-50" dirty="0"/>
              <a:t> </a:t>
            </a:r>
            <a:r>
              <a:rPr b="1" dirty="0">
                <a:latin typeface="Arial"/>
                <a:cs typeface="Arial"/>
              </a:rPr>
              <a:t>Ed</a:t>
            </a:r>
            <a:r>
              <a:rPr dirty="0"/>
              <a:t>itor.</a:t>
            </a:r>
            <a:r>
              <a:rPr spc="-50" dirty="0"/>
              <a:t> </a:t>
            </a:r>
            <a:r>
              <a:rPr spc="-20" dirty="0"/>
              <a:t>Заменяет</a:t>
            </a:r>
            <a:r>
              <a:rPr spc="-45" dirty="0"/>
              <a:t> </a:t>
            </a:r>
            <a:r>
              <a:rPr dirty="0"/>
              <a:t>одну</a:t>
            </a:r>
            <a:r>
              <a:rPr spc="-50" dirty="0"/>
              <a:t> </a:t>
            </a:r>
            <a:r>
              <a:rPr spc="-20" dirty="0"/>
              <a:t>подстроку</a:t>
            </a:r>
            <a:r>
              <a:rPr spc="-50" dirty="0"/>
              <a:t> </a:t>
            </a:r>
            <a:r>
              <a:rPr spc="-10" dirty="0"/>
              <a:t>другой</a:t>
            </a:r>
          </a:p>
          <a:p>
            <a:pPr marL="685165" indent="-229235">
              <a:lnSpc>
                <a:spcPct val="100000"/>
              </a:lnSpc>
              <a:spcBef>
                <a:spcPts val="660"/>
              </a:spcBef>
              <a:buChar char="•"/>
              <a:tabLst>
                <a:tab pos="685165" algn="l"/>
              </a:tabLst>
            </a:pPr>
            <a:r>
              <a:rPr dirty="0"/>
              <a:t>sed</a:t>
            </a:r>
            <a:r>
              <a:rPr spc="-55" dirty="0"/>
              <a:t> </a:t>
            </a:r>
            <a:r>
              <a:rPr dirty="0"/>
              <a:t>‘s/Josh/JOSH/’</a:t>
            </a:r>
            <a:r>
              <a:rPr spc="-55" dirty="0"/>
              <a:t> </a:t>
            </a:r>
            <a:r>
              <a:rPr spc="-10" dirty="0"/>
              <a:t>file.txt</a:t>
            </a:r>
          </a:p>
          <a:p>
            <a:pPr marL="685165" indent="-229235">
              <a:lnSpc>
                <a:spcPct val="100000"/>
              </a:lnSpc>
              <a:spcBef>
                <a:spcPts val="665"/>
              </a:spcBef>
              <a:buChar char="•"/>
              <a:tabLst>
                <a:tab pos="685165" algn="l"/>
              </a:tabLst>
            </a:pPr>
            <a:r>
              <a:rPr dirty="0"/>
              <a:t>(</a:t>
            </a:r>
            <a:r>
              <a:rPr spc="-5" dirty="0"/>
              <a:t> </a:t>
            </a:r>
            <a:r>
              <a:rPr dirty="0"/>
              <a:t>...</a:t>
            </a:r>
            <a:r>
              <a:rPr spc="-5" dirty="0"/>
              <a:t> </a:t>
            </a:r>
            <a:r>
              <a:rPr dirty="0"/>
              <a:t>)</a:t>
            </a:r>
            <a:r>
              <a:rPr spc="-5" dirty="0"/>
              <a:t> </a:t>
            </a:r>
            <a:r>
              <a:rPr spc="725" dirty="0"/>
              <a:t>–</a:t>
            </a:r>
            <a:r>
              <a:rPr dirty="0"/>
              <a:t> </a:t>
            </a:r>
            <a:r>
              <a:rPr spc="-25" dirty="0"/>
              <a:t>запомнить</a:t>
            </a:r>
            <a:r>
              <a:rPr spc="-5" dirty="0"/>
              <a:t> </a:t>
            </a:r>
            <a:r>
              <a:rPr spc="-10" dirty="0"/>
              <a:t>аргумент</a:t>
            </a:r>
          </a:p>
          <a:p>
            <a:pPr marL="684530" marR="109855" indent="-228600">
              <a:lnSpc>
                <a:spcPts val="3300"/>
              </a:lnSpc>
              <a:spcBef>
                <a:spcPts val="795"/>
              </a:spcBef>
              <a:buFont typeface="Microsoft Sans Serif"/>
              <a:buChar char="•"/>
              <a:tabLst>
                <a:tab pos="684530" algn="l"/>
                <a:tab pos="1537970" algn="l"/>
                <a:tab pos="3671570" algn="l"/>
                <a:tab pos="6018530" algn="l"/>
                <a:tab pos="7085330" algn="l"/>
              </a:tabLst>
            </a:pPr>
            <a:r>
              <a:rPr spc="-25" dirty="0">
                <a:latin typeface="Courier New"/>
                <a:cs typeface="Courier New"/>
              </a:rPr>
              <a:t>sed</a:t>
            </a:r>
            <a:r>
              <a:rPr dirty="0">
                <a:latin typeface="Courier New"/>
                <a:cs typeface="Courier New"/>
              </a:rPr>
              <a:t>	</a:t>
            </a:r>
            <a:r>
              <a:rPr spc="-10" dirty="0">
                <a:latin typeface="Courier New"/>
                <a:cs typeface="Courier New"/>
              </a:rPr>
              <a:t>‘s/\(.*</a:t>
            </a:r>
            <a:r>
              <a:rPr lang="en-US" spc="-10" dirty="0">
                <a:latin typeface="Courier New"/>
                <a:cs typeface="Courier New"/>
              </a:rPr>
              <a:t>\</a:t>
            </a:r>
            <a:r>
              <a:rPr spc="-10" dirty="0">
                <a:latin typeface="Courier New"/>
                <a:cs typeface="Courier New"/>
              </a:rPr>
              <a:t>)</a:t>
            </a:r>
            <a:r>
              <a:rPr dirty="0">
                <a:latin typeface="Courier New"/>
                <a:cs typeface="Courier New"/>
              </a:rPr>
              <a:t>	</a:t>
            </a:r>
            <a:r>
              <a:rPr spc="-10" dirty="0">
                <a:latin typeface="Courier New"/>
                <a:cs typeface="Courier New"/>
              </a:rPr>
              <a:t>\(.*\)/\2</a:t>
            </a:r>
            <a:r>
              <a:rPr lang="en-US" spc="-10" dirty="0">
                <a:latin typeface="Courier New"/>
                <a:cs typeface="Courier New"/>
              </a:rPr>
              <a:t> </a:t>
            </a:r>
            <a:r>
              <a:rPr spc="-20" dirty="0">
                <a:latin typeface="Courier New"/>
                <a:cs typeface="Courier New"/>
              </a:rPr>
              <a:t>\1/’</a:t>
            </a:r>
            <a:r>
              <a:rPr lang="en-US" spc="-20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file.txt</a:t>
            </a:r>
            <a:r>
              <a:rPr spc="-875" dirty="0">
                <a:latin typeface="Courier New"/>
                <a:cs typeface="Courier New"/>
              </a:rPr>
              <a:t> </a:t>
            </a:r>
            <a:r>
              <a:rPr spc="725" dirty="0"/>
              <a:t>–</a:t>
            </a:r>
            <a:r>
              <a:rPr spc="55" dirty="0"/>
              <a:t> </a:t>
            </a:r>
            <a:r>
              <a:rPr spc="-20" dirty="0"/>
              <a:t>поменять </a:t>
            </a:r>
            <a:r>
              <a:rPr spc="-10" dirty="0"/>
              <a:t>местами</a:t>
            </a:r>
            <a:r>
              <a:rPr spc="-100" dirty="0"/>
              <a:t> </a:t>
            </a:r>
            <a:r>
              <a:rPr dirty="0"/>
              <a:t>слова,</a:t>
            </a:r>
            <a:r>
              <a:rPr spc="-100" dirty="0"/>
              <a:t> </a:t>
            </a:r>
            <a:r>
              <a:rPr spc="-10" dirty="0"/>
              <a:t>разделённые</a:t>
            </a:r>
            <a:r>
              <a:rPr spc="-95" dirty="0"/>
              <a:t> </a:t>
            </a:r>
            <a:r>
              <a:rPr spc="-10" dirty="0"/>
              <a:t>пробелами</a:t>
            </a:r>
          </a:p>
          <a:p>
            <a:pPr marL="685165" indent="-229235">
              <a:lnSpc>
                <a:spcPct val="100000"/>
              </a:lnSpc>
              <a:spcBef>
                <a:spcPts val="560"/>
              </a:spcBef>
              <a:buChar char="•"/>
              <a:tabLst>
                <a:tab pos="685165" algn="l"/>
              </a:tabLst>
            </a:pPr>
            <a:r>
              <a:rPr dirty="0"/>
              <a:t>grep</a:t>
            </a:r>
            <a:r>
              <a:rPr spc="-15" dirty="0"/>
              <a:t> </a:t>
            </a:r>
            <a:r>
              <a:rPr dirty="0"/>
              <a:t>+</a:t>
            </a:r>
            <a:r>
              <a:rPr spc="-15" dirty="0"/>
              <a:t> </a:t>
            </a:r>
            <a:r>
              <a:rPr spc="-20" dirty="0"/>
              <a:t>sed:</a:t>
            </a:r>
          </a:p>
          <a:p>
            <a:pPr marL="1141095" lvl="1" indent="-227965">
              <a:lnSpc>
                <a:spcPct val="100000"/>
              </a:lnSpc>
              <a:spcBef>
                <a:spcPts val="220"/>
              </a:spcBef>
              <a:buChar char="•"/>
              <a:tabLst>
                <a:tab pos="1141095" algn="l"/>
              </a:tabLst>
            </a:pPr>
            <a:r>
              <a:rPr sz="2400" dirty="0">
                <a:latin typeface="Microsoft Sans Serif"/>
                <a:cs typeface="Microsoft Sans Serif"/>
              </a:rPr>
              <a:t>grep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...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file.txt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|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sed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‘s/...’</a:t>
            </a:r>
            <a:endParaRPr sz="24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 dirty="0"/>
          </a:p>
          <a:p>
            <a:pPr marL="12700" marR="5080">
              <a:lnSpc>
                <a:spcPct val="100000"/>
              </a:lnSpc>
            </a:pPr>
            <a:r>
              <a:rPr dirty="0"/>
              <a:t>Задание.</a:t>
            </a:r>
            <a:r>
              <a:rPr spc="-90" dirty="0"/>
              <a:t> </a:t>
            </a:r>
            <a:r>
              <a:rPr dirty="0"/>
              <a:t>Выведите</a:t>
            </a:r>
            <a:r>
              <a:rPr spc="-85" dirty="0"/>
              <a:t> </a:t>
            </a:r>
            <a:r>
              <a:rPr dirty="0"/>
              <a:t>имена</a:t>
            </a:r>
            <a:r>
              <a:rPr spc="-90" dirty="0"/>
              <a:t> </a:t>
            </a:r>
            <a:r>
              <a:rPr dirty="0"/>
              <a:t>файлов,</a:t>
            </a:r>
            <a:r>
              <a:rPr spc="-85" dirty="0"/>
              <a:t> </a:t>
            </a:r>
            <a:r>
              <a:rPr spc="-10" dirty="0"/>
              <a:t>отсортированные</a:t>
            </a:r>
            <a:r>
              <a:rPr spc="-85" dirty="0"/>
              <a:t> </a:t>
            </a:r>
            <a:r>
              <a:rPr dirty="0"/>
              <a:t>по</a:t>
            </a:r>
            <a:r>
              <a:rPr spc="-90" dirty="0"/>
              <a:t> </a:t>
            </a:r>
            <a:r>
              <a:rPr spc="-10" dirty="0"/>
              <a:t>размеру файлов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4581"/>
            <a:ext cx="37522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Другие</a:t>
            </a:r>
            <a:r>
              <a:rPr spc="-190" dirty="0"/>
              <a:t> </a:t>
            </a:r>
            <a:r>
              <a:rPr spc="-35" dirty="0"/>
              <a:t>фишки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4124"/>
            <a:ext cx="7632700" cy="3132268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76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sort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725" dirty="0">
                <a:latin typeface="Microsoft Sans Serif"/>
                <a:cs typeface="Microsoft Sans Serif"/>
              </a:rPr>
              <a:t>–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отсортировать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строки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файле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6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uniq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725" dirty="0">
                <a:latin typeface="Microsoft Sans Serif"/>
                <a:cs typeface="Microsoft Sans Serif"/>
              </a:rPr>
              <a:t>–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удалить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дубликаты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строк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6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bc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725" dirty="0">
                <a:latin typeface="Microsoft Sans Serif"/>
                <a:cs typeface="Microsoft Sans Serif"/>
              </a:rPr>
              <a:t>–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b="1" dirty="0">
                <a:latin typeface="Arial"/>
                <a:cs typeface="Arial"/>
              </a:rPr>
              <a:t>B</a:t>
            </a:r>
            <a:r>
              <a:rPr sz="2800" dirty="0">
                <a:latin typeface="Microsoft Sans Serif"/>
                <a:cs typeface="Microsoft Sans Serif"/>
              </a:rPr>
              <a:t>asic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b="1" dirty="0">
                <a:latin typeface="Arial"/>
                <a:cs typeface="Arial"/>
              </a:rPr>
              <a:t>C</a:t>
            </a:r>
            <a:r>
              <a:rPr sz="2800" dirty="0">
                <a:latin typeface="Microsoft Sans Serif"/>
                <a:cs typeface="Microsoft Sans Serif"/>
              </a:rPr>
              <a:t>alculator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725" dirty="0">
                <a:latin typeface="Microsoft Sans Serif"/>
                <a:cs typeface="Microsoft Sans Serif"/>
              </a:rPr>
              <a:t>–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 err="1">
                <a:latin typeface="Microsoft Sans Serif"/>
                <a:cs typeface="Microsoft Sans Serif"/>
              </a:rPr>
              <a:t>посчитать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10" dirty="0" err="1">
                <a:latin typeface="Microsoft Sans Serif"/>
                <a:cs typeface="Microsoft Sans Serif"/>
              </a:rPr>
              <a:t>выражение</a:t>
            </a:r>
            <a:endParaRPr lang="en-US" sz="2800" spc="-10" dirty="0">
              <a:latin typeface="Microsoft Sans Serif"/>
              <a:cs typeface="Microsoft Sans Serif"/>
            </a:endParaRPr>
          </a:p>
          <a:p>
            <a:pPr marL="12700" lvl="2">
              <a:spcBef>
                <a:spcPts val="665"/>
              </a:spcBef>
              <a:tabLst>
                <a:tab pos="241935" algn="l"/>
              </a:tabLst>
            </a:pPr>
            <a:r>
              <a:rPr lang="en-US" sz="2800" dirty="0">
                <a:latin typeface="Microsoft Sans Serif"/>
                <a:cs typeface="Microsoft Sans Serif"/>
              </a:rPr>
              <a:t>		$ echo “2 * 3” | </a:t>
            </a:r>
            <a:r>
              <a:rPr lang="en-US" sz="2800" dirty="0" err="1">
                <a:latin typeface="Microsoft Sans Serif"/>
                <a:cs typeface="Microsoft Sans Serif"/>
              </a:rPr>
              <a:t>bc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6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wc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725" dirty="0">
                <a:latin typeface="Microsoft Sans Serif"/>
                <a:cs typeface="Microsoft Sans Serif"/>
              </a:rPr>
              <a:t>–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посчитать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строки/слова/</a:t>
            </a:r>
            <a:r>
              <a:rPr sz="2800" spc="-10" dirty="0" err="1">
                <a:latin typeface="Microsoft Sans Serif"/>
                <a:cs typeface="Microsoft Sans Serif"/>
              </a:rPr>
              <a:t>символы</a:t>
            </a:r>
            <a:endParaRPr lang="en-US" sz="2800" spc="-10" dirty="0">
              <a:latin typeface="Microsoft Sans Serif"/>
              <a:cs typeface="Microsoft Sans Serif"/>
            </a:endParaRPr>
          </a:p>
          <a:p>
            <a:pPr marL="12700" lvl="1">
              <a:spcBef>
                <a:spcPts val="665"/>
              </a:spcBef>
              <a:tabLst>
                <a:tab pos="241935" algn="l"/>
              </a:tabLst>
            </a:pPr>
            <a:r>
              <a:rPr lang="en-US" sz="2800" spc="-10" dirty="0">
                <a:latin typeface="Microsoft Sans Serif"/>
                <a:cs typeface="Microsoft Sans Serif"/>
              </a:rPr>
              <a:t>		$ </a:t>
            </a:r>
            <a:r>
              <a:rPr lang="en-US" sz="2800" spc="-10" dirty="0" err="1">
                <a:latin typeface="Microsoft Sans Serif"/>
                <a:cs typeface="Microsoft Sans Serif"/>
              </a:rPr>
              <a:t>wc</a:t>
            </a:r>
            <a:r>
              <a:rPr lang="en-US" sz="2800" spc="-10" dirty="0">
                <a:latin typeface="Microsoft Sans Serif"/>
                <a:cs typeface="Microsoft Sans Serif"/>
              </a:rPr>
              <a:t> –l file.txt</a:t>
            </a:r>
            <a:endParaRPr sz="28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1310" y="5781882"/>
            <a:ext cx="9198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Microsoft Sans Serif"/>
                <a:cs typeface="Microsoft Sans Serif"/>
              </a:rPr>
              <a:t>Задание.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Посчитать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количество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строк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во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всех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скриптах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00"/>
            <a:ext cx="88436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 err="1"/>
              <a:t>Перенаправление</a:t>
            </a:r>
            <a:r>
              <a:rPr spc="-185" dirty="0"/>
              <a:t> </a:t>
            </a:r>
            <a:r>
              <a:rPr spc="-10" dirty="0"/>
              <a:t>в</a:t>
            </a:r>
            <a:r>
              <a:rPr lang="ru-RU" spc="-10" dirty="0"/>
              <a:t>ы</a:t>
            </a:r>
            <a:r>
              <a:rPr spc="-10" dirty="0" err="1"/>
              <a:t>вода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26273"/>
            <a:ext cx="10005695" cy="422846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15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Microsoft Sans Serif"/>
                <a:cs typeface="Microsoft Sans Serif"/>
              </a:rPr>
              <a:t>1&gt;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2&gt;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520" dirty="0">
                <a:latin typeface="Microsoft Sans Serif"/>
                <a:cs typeface="Microsoft Sans Serif"/>
              </a:rPr>
              <a:t>–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перенаправить </a:t>
            </a:r>
            <a:r>
              <a:rPr sz="2000" spc="-20" dirty="0">
                <a:latin typeface="Microsoft Sans Serif"/>
                <a:cs typeface="Microsoft Sans Serif"/>
              </a:rPr>
              <a:t>потоки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в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файл</a:t>
            </a:r>
            <a:endParaRPr sz="20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615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Microsoft Sans Serif"/>
                <a:cs typeface="Microsoft Sans Serif"/>
              </a:rPr>
              <a:t>&gt;&gt;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520" dirty="0">
                <a:latin typeface="Microsoft Sans Serif"/>
                <a:cs typeface="Microsoft Sans Serif"/>
              </a:rPr>
              <a:t>–</a:t>
            </a:r>
            <a:r>
              <a:rPr sz="2000" spc="-10" dirty="0">
                <a:latin typeface="Microsoft Sans Serif"/>
                <a:cs typeface="Microsoft Sans Serif"/>
              </a:rPr>
              <a:t> дозаписать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в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файл</a:t>
            </a:r>
            <a:endParaRPr sz="20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615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Microsoft Sans Serif"/>
                <a:cs typeface="Microsoft Sans Serif"/>
              </a:rPr>
              <a:t>&amp;&gt;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file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или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&gt;&amp;file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или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&gt;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file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2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&gt;&amp;1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520" dirty="0">
                <a:latin typeface="Microsoft Sans Serif"/>
                <a:cs typeface="Microsoft Sans Serif"/>
              </a:rPr>
              <a:t>–</a:t>
            </a:r>
            <a:r>
              <a:rPr sz="2000" spc="-10" dirty="0">
                <a:latin typeface="Microsoft Sans Serif"/>
                <a:cs typeface="Microsoft Sans Serif"/>
              </a:rPr>
              <a:t> перенаправить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потоки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вывода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и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ошибок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в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файл</a:t>
            </a:r>
            <a:endParaRPr sz="20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Char char="•"/>
              <a:tabLst>
                <a:tab pos="240665" algn="l"/>
              </a:tabLst>
            </a:pPr>
            <a:r>
              <a:rPr sz="2000" spc="-10" dirty="0">
                <a:latin typeface="Microsoft Sans Serif"/>
                <a:cs typeface="Microsoft Sans Serif"/>
              </a:rPr>
              <a:t>Потоки:</a:t>
            </a:r>
            <a:endParaRPr sz="200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14"/>
              </a:spcBef>
              <a:buChar char="•"/>
              <a:tabLst>
                <a:tab pos="697865" algn="l"/>
              </a:tabLst>
            </a:pPr>
            <a:r>
              <a:rPr sz="2000" dirty="0">
                <a:latin typeface="Microsoft Sans Serif"/>
                <a:cs typeface="Microsoft Sans Serif"/>
              </a:rPr>
              <a:t>0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520" dirty="0">
                <a:latin typeface="Microsoft Sans Serif"/>
                <a:cs typeface="Microsoft Sans Serif"/>
              </a:rPr>
              <a:t>–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ввода</a:t>
            </a:r>
            <a:endParaRPr sz="200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14"/>
              </a:spcBef>
              <a:buChar char="•"/>
              <a:tabLst>
                <a:tab pos="697865" algn="l"/>
              </a:tabLst>
            </a:pPr>
            <a:r>
              <a:rPr sz="2000" dirty="0">
                <a:latin typeface="Microsoft Sans Serif"/>
                <a:cs typeface="Microsoft Sans Serif"/>
              </a:rPr>
              <a:t>1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520" dirty="0">
                <a:latin typeface="Microsoft Sans Serif"/>
                <a:cs typeface="Microsoft Sans Serif"/>
              </a:rPr>
              <a:t>–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вывода</a:t>
            </a:r>
            <a:endParaRPr sz="200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14"/>
              </a:spcBef>
              <a:buChar char="•"/>
              <a:tabLst>
                <a:tab pos="697865" algn="l"/>
              </a:tabLst>
            </a:pPr>
            <a:r>
              <a:rPr sz="2000" dirty="0">
                <a:latin typeface="Microsoft Sans Serif"/>
                <a:cs typeface="Microsoft Sans Serif"/>
              </a:rPr>
              <a:t>2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520" dirty="0">
                <a:latin typeface="Microsoft Sans Serif"/>
                <a:cs typeface="Microsoft Sans Serif"/>
              </a:rPr>
              <a:t>–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ошибок</a:t>
            </a:r>
            <a:endParaRPr sz="20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615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Microsoft Sans Serif"/>
                <a:cs typeface="Microsoft Sans Serif"/>
              </a:rPr>
              <a:t>&gt;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/dev/null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520" dirty="0">
                <a:latin typeface="Microsoft Sans Serif"/>
                <a:cs typeface="Microsoft Sans Serif"/>
              </a:rPr>
              <a:t>–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избавиться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от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вывода</a:t>
            </a:r>
            <a:endParaRPr sz="20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Microsoft Sans Serif"/>
                <a:cs typeface="Microsoft Sans Serif"/>
              </a:rPr>
              <a:t>Xargs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520" dirty="0">
                <a:latin typeface="Microsoft Sans Serif"/>
                <a:cs typeface="Microsoft Sans Serif"/>
              </a:rPr>
              <a:t>–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использовать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поток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ввода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70" dirty="0">
                <a:latin typeface="Microsoft Sans Serif"/>
                <a:cs typeface="Microsoft Sans Serif"/>
              </a:rPr>
              <a:t>как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аргументы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следующей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команды</a:t>
            </a:r>
            <a:endParaRPr sz="2000" dirty="0">
              <a:latin typeface="Microsoft Sans Serif"/>
              <a:cs typeface="Microsoft Sans Serif"/>
            </a:endParaRPr>
          </a:p>
          <a:p>
            <a:pPr marL="227965" marR="7131684" lvl="1" indent="-227965" algn="r">
              <a:lnSpc>
                <a:spcPct val="100000"/>
              </a:lnSpc>
              <a:spcBef>
                <a:spcPts val="175"/>
              </a:spcBef>
              <a:buChar char="•"/>
              <a:tabLst>
                <a:tab pos="227965" algn="l"/>
              </a:tabLst>
            </a:pPr>
            <a:r>
              <a:rPr sz="1700" dirty="0">
                <a:latin typeface="Microsoft Sans Serif"/>
                <a:cs typeface="Microsoft Sans Serif"/>
              </a:rPr>
              <a:t>grep</a:t>
            </a:r>
            <a:r>
              <a:rPr sz="1700" spc="-5" dirty="0">
                <a:latin typeface="Microsoft Sans Serif"/>
                <a:cs typeface="Microsoft Sans Serif"/>
              </a:rPr>
              <a:t> </a:t>
            </a:r>
            <a:r>
              <a:rPr sz="1700" spc="-10" dirty="0">
                <a:latin typeface="Microsoft Sans Serif"/>
                <a:cs typeface="Microsoft Sans Serif"/>
              </a:rPr>
              <a:t>-</a:t>
            </a:r>
            <a:r>
              <a:rPr sz="1700" dirty="0">
                <a:latin typeface="Microsoft Sans Serif"/>
                <a:cs typeface="Microsoft Sans Serif"/>
              </a:rPr>
              <a:t>lr text</a:t>
            </a:r>
            <a:r>
              <a:rPr sz="1700" spc="-5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|</a:t>
            </a:r>
            <a:r>
              <a:rPr sz="1700" spc="445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xargs </a:t>
            </a:r>
            <a:r>
              <a:rPr sz="1700" spc="-25" dirty="0">
                <a:latin typeface="Microsoft Sans Serif"/>
                <a:cs typeface="Microsoft Sans Serif"/>
              </a:rPr>
              <a:t>rm</a:t>
            </a:r>
            <a:endParaRPr sz="1700" dirty="0">
              <a:latin typeface="Microsoft Sans Serif"/>
              <a:cs typeface="Microsoft Sans Serif"/>
            </a:endParaRPr>
          </a:p>
          <a:p>
            <a:pPr marL="227965" marR="7096125" indent="-227965" algn="r">
              <a:lnSpc>
                <a:spcPct val="100000"/>
              </a:lnSpc>
              <a:spcBef>
                <a:spcPts val="610"/>
              </a:spcBef>
              <a:buChar char="•"/>
              <a:tabLst>
                <a:tab pos="227965" algn="l"/>
              </a:tabLst>
            </a:pPr>
            <a:r>
              <a:rPr sz="2000" dirty="0">
                <a:latin typeface="Microsoft Sans Serif"/>
                <a:cs typeface="Microsoft Sans Serif"/>
              </a:rPr>
              <a:t>tee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520" dirty="0">
                <a:latin typeface="Microsoft Sans Serif"/>
                <a:cs typeface="Microsoft Sans Serif"/>
              </a:rPr>
              <a:t>–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раздвоить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вывод</a:t>
            </a:r>
            <a:endParaRPr sz="200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80"/>
              </a:spcBef>
              <a:buChar char="•"/>
              <a:tabLst>
                <a:tab pos="697865" algn="l"/>
              </a:tabLst>
            </a:pPr>
            <a:r>
              <a:rPr sz="1700" dirty="0">
                <a:latin typeface="Microsoft Sans Serif"/>
                <a:cs typeface="Microsoft Sans Serif"/>
              </a:rPr>
              <a:t>...</a:t>
            </a:r>
            <a:r>
              <a:rPr sz="1700" spc="-1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|</a:t>
            </a:r>
            <a:r>
              <a:rPr sz="1700" spc="-1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tee</a:t>
            </a:r>
            <a:r>
              <a:rPr sz="1700" spc="-1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file_1</a:t>
            </a:r>
            <a:r>
              <a:rPr sz="1700" spc="-1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file_2</a:t>
            </a:r>
            <a:r>
              <a:rPr sz="1700" spc="-1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...</a:t>
            </a:r>
            <a:r>
              <a:rPr sz="1700" spc="-1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file_n</a:t>
            </a:r>
            <a:r>
              <a:rPr sz="1700" spc="-10" dirty="0">
                <a:latin typeface="Microsoft Sans Serif"/>
                <a:cs typeface="Microsoft Sans Serif"/>
              </a:rPr>
              <a:t> </a:t>
            </a:r>
            <a:r>
              <a:rPr sz="1700" spc="445" dirty="0">
                <a:latin typeface="Microsoft Sans Serif"/>
                <a:cs typeface="Microsoft Sans Serif"/>
              </a:rPr>
              <a:t>–</a:t>
            </a:r>
            <a:r>
              <a:rPr sz="1700" spc="-1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вывести</a:t>
            </a:r>
            <a:r>
              <a:rPr sz="1700" spc="-1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в</a:t>
            </a:r>
            <a:r>
              <a:rPr sz="1700" spc="-10" dirty="0">
                <a:latin typeface="Microsoft Sans Serif"/>
                <a:cs typeface="Microsoft Sans Serif"/>
              </a:rPr>
              <a:t> консоль </a:t>
            </a:r>
            <a:r>
              <a:rPr sz="1700" dirty="0">
                <a:latin typeface="Microsoft Sans Serif"/>
                <a:cs typeface="Microsoft Sans Serif"/>
              </a:rPr>
              <a:t>и</a:t>
            </a:r>
            <a:r>
              <a:rPr sz="1700" spc="-1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в</a:t>
            </a:r>
            <a:r>
              <a:rPr sz="1700" spc="-1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один</a:t>
            </a:r>
            <a:r>
              <a:rPr sz="1700" spc="-1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или</a:t>
            </a:r>
            <a:r>
              <a:rPr sz="1700" spc="-1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больше</a:t>
            </a:r>
            <a:r>
              <a:rPr sz="1700" spc="-10" dirty="0">
                <a:latin typeface="Microsoft Sans Serif"/>
                <a:cs typeface="Microsoft Sans Serif"/>
              </a:rPr>
              <a:t> файлов</a:t>
            </a:r>
            <a:endParaRPr sz="17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bash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6130"/>
            <a:ext cx="9103995" cy="2776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Char char="•"/>
              <a:tabLst>
                <a:tab pos="240029" algn="l"/>
              </a:tabLst>
            </a:pPr>
            <a:r>
              <a:rPr sz="2700" u="sng" dirty="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Microsoft Sans Serif"/>
                <a:cs typeface="Microsoft Sans Serif"/>
                <a:hlinkClick r:id="rId2"/>
              </a:rPr>
              <a:t>Цикл</a:t>
            </a:r>
            <a:r>
              <a:rPr sz="2700" u="sng" spc="-90" dirty="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sz="2700" u="sng" dirty="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Microsoft Sans Serif"/>
                <a:cs typeface="Microsoft Sans Serif"/>
                <a:hlinkClick r:id="rId2"/>
              </a:rPr>
              <a:t>статьей</a:t>
            </a:r>
            <a:r>
              <a:rPr sz="2700" u="sng" spc="-90" dirty="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sz="2700" u="sng" dirty="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Microsoft Sans Serif"/>
                <a:cs typeface="Microsoft Sans Serif"/>
                <a:hlinkClick r:id="rId2"/>
              </a:rPr>
              <a:t>по</a:t>
            </a:r>
            <a:r>
              <a:rPr sz="2700" u="sng" spc="-85" dirty="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sz="2700" u="sng" spc="-20" dirty="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Microsoft Sans Serif"/>
                <a:cs typeface="Microsoft Sans Serif"/>
                <a:hlinkClick r:id="rId2"/>
              </a:rPr>
              <a:t>башу</a:t>
            </a:r>
            <a:endParaRPr sz="2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64"/>
              </a:spcBef>
              <a:buFont typeface="Microsoft Sans Serif"/>
              <a:buChar char="•"/>
            </a:pPr>
            <a:endParaRPr sz="2700">
              <a:latin typeface="Microsoft Sans Serif"/>
              <a:cs typeface="Microsoft Sans Serif"/>
            </a:endParaRPr>
          </a:p>
          <a:p>
            <a:pPr marL="240029" marR="5080" indent="-227329">
              <a:lnSpc>
                <a:spcPts val="2880"/>
              </a:lnSpc>
              <a:buChar char="•"/>
              <a:tabLst>
                <a:tab pos="241300" algn="l"/>
              </a:tabLst>
            </a:pPr>
            <a:r>
              <a:rPr sz="2700" dirty="0">
                <a:latin typeface="Microsoft Sans Serif"/>
                <a:cs typeface="Microsoft Sans Serif"/>
              </a:rPr>
              <a:t>#!/bin/bash</a:t>
            </a:r>
            <a:r>
              <a:rPr sz="2700" spc="-30" dirty="0">
                <a:latin typeface="Microsoft Sans Serif"/>
                <a:cs typeface="Microsoft Sans Serif"/>
              </a:rPr>
              <a:t> </a:t>
            </a:r>
            <a:r>
              <a:rPr sz="2700" spc="705" dirty="0">
                <a:latin typeface="Microsoft Sans Serif"/>
                <a:cs typeface="Microsoft Sans Serif"/>
              </a:rPr>
              <a:t>–</a:t>
            </a:r>
            <a:r>
              <a:rPr sz="2700" spc="-3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(</a:t>
            </a:r>
            <a:r>
              <a:rPr sz="2700" u="sng" dirty="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Microsoft Sans Serif"/>
                <a:cs typeface="Microsoft Sans Serif"/>
                <a:hlinkClick r:id="rId3"/>
              </a:rPr>
              <a:t>шебанг</a:t>
            </a:r>
            <a:r>
              <a:rPr sz="2700" dirty="0">
                <a:latin typeface="Microsoft Sans Serif"/>
                <a:cs typeface="Microsoft Sans Serif"/>
              </a:rPr>
              <a:t>)</a:t>
            </a:r>
            <a:r>
              <a:rPr sz="2700" spc="-25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пишем</a:t>
            </a:r>
            <a:r>
              <a:rPr sz="2700" spc="-3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в</a:t>
            </a:r>
            <a:r>
              <a:rPr sz="2700" spc="-25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начале</a:t>
            </a:r>
            <a:r>
              <a:rPr sz="2700" spc="-3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файла</a:t>
            </a:r>
            <a:r>
              <a:rPr sz="2700" spc="-30" dirty="0">
                <a:latin typeface="Microsoft Sans Serif"/>
                <a:cs typeface="Microsoft Sans Serif"/>
              </a:rPr>
              <a:t> </a:t>
            </a:r>
            <a:r>
              <a:rPr sz="2700" spc="705" dirty="0">
                <a:latin typeface="Microsoft Sans Serif"/>
                <a:cs typeface="Microsoft Sans Serif"/>
              </a:rPr>
              <a:t>–</a:t>
            </a:r>
            <a:r>
              <a:rPr sz="2700" spc="-25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путь</a:t>
            </a:r>
            <a:r>
              <a:rPr sz="2700" spc="-30" dirty="0">
                <a:latin typeface="Microsoft Sans Serif"/>
                <a:cs typeface="Microsoft Sans Serif"/>
              </a:rPr>
              <a:t> </a:t>
            </a:r>
            <a:r>
              <a:rPr sz="2700" spc="-25" dirty="0">
                <a:latin typeface="Microsoft Sans Serif"/>
                <a:cs typeface="Microsoft Sans Serif"/>
              </a:rPr>
              <a:t>до 	</a:t>
            </a:r>
            <a:r>
              <a:rPr sz="2700" spc="-10" dirty="0">
                <a:latin typeface="Microsoft Sans Serif"/>
                <a:cs typeface="Microsoft Sans Serif"/>
              </a:rPr>
              <a:t>интерпретатора</a:t>
            </a:r>
            <a:endParaRPr sz="2700">
              <a:latin typeface="Microsoft Sans Serif"/>
              <a:cs typeface="Microsoft Sans Serif"/>
            </a:endParaRPr>
          </a:p>
          <a:p>
            <a:pPr marL="240029" indent="-227329">
              <a:lnSpc>
                <a:spcPct val="100000"/>
              </a:lnSpc>
              <a:spcBef>
                <a:spcPts val="610"/>
              </a:spcBef>
              <a:buChar char="•"/>
              <a:tabLst>
                <a:tab pos="240029" algn="l"/>
              </a:tabLst>
            </a:pPr>
            <a:r>
              <a:rPr sz="2700" dirty="0">
                <a:latin typeface="Microsoft Sans Serif"/>
                <a:cs typeface="Microsoft Sans Serif"/>
              </a:rPr>
              <a:t>chmod</a:t>
            </a:r>
            <a:r>
              <a:rPr sz="2700" spc="-2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+x</a:t>
            </a:r>
            <a:r>
              <a:rPr sz="2700" spc="-2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script.sh</a:t>
            </a:r>
            <a:r>
              <a:rPr sz="2700" spc="-20" dirty="0">
                <a:latin typeface="Microsoft Sans Serif"/>
                <a:cs typeface="Microsoft Sans Serif"/>
              </a:rPr>
              <a:t> </a:t>
            </a:r>
            <a:r>
              <a:rPr sz="2700" spc="705" dirty="0">
                <a:latin typeface="Microsoft Sans Serif"/>
                <a:cs typeface="Microsoft Sans Serif"/>
              </a:rPr>
              <a:t>–</a:t>
            </a:r>
            <a:r>
              <a:rPr sz="2700" spc="-15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добавляем</a:t>
            </a:r>
            <a:r>
              <a:rPr sz="2700" spc="-2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права</a:t>
            </a:r>
            <a:r>
              <a:rPr sz="2700" spc="-2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на</a:t>
            </a:r>
            <a:r>
              <a:rPr sz="2700" spc="-15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исполнение</a:t>
            </a:r>
            <a:endParaRPr sz="2700">
              <a:latin typeface="Microsoft Sans Serif"/>
              <a:cs typeface="Microsoft Sans Serif"/>
            </a:endParaRPr>
          </a:p>
          <a:p>
            <a:pPr marL="240029" indent="-227329">
              <a:lnSpc>
                <a:spcPct val="100000"/>
              </a:lnSpc>
              <a:spcBef>
                <a:spcPts val="645"/>
              </a:spcBef>
              <a:buChar char="•"/>
              <a:tabLst>
                <a:tab pos="240029" algn="l"/>
              </a:tabLst>
            </a:pPr>
            <a:r>
              <a:rPr sz="2700" dirty="0">
                <a:latin typeface="Microsoft Sans Serif"/>
                <a:cs typeface="Microsoft Sans Serif"/>
              </a:rPr>
              <a:t>./script.sh</a:t>
            </a:r>
            <a:r>
              <a:rPr sz="2700" spc="-40" dirty="0">
                <a:latin typeface="Microsoft Sans Serif"/>
                <a:cs typeface="Microsoft Sans Serif"/>
              </a:rPr>
              <a:t> </a:t>
            </a:r>
            <a:r>
              <a:rPr sz="2700" spc="705" dirty="0">
                <a:latin typeface="Microsoft Sans Serif"/>
                <a:cs typeface="Microsoft Sans Serif"/>
              </a:rPr>
              <a:t>–</a:t>
            </a:r>
            <a:r>
              <a:rPr sz="2700" spc="-4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со</a:t>
            </a:r>
            <a:r>
              <a:rPr sz="2700" spc="-35" dirty="0">
                <a:latin typeface="Microsoft Sans Serif"/>
                <a:cs typeface="Microsoft Sans Serif"/>
              </a:rPr>
              <a:t> </a:t>
            </a:r>
            <a:r>
              <a:rPr sz="2700" spc="-20" dirty="0">
                <a:latin typeface="Microsoft Sans Serif"/>
                <a:cs typeface="Microsoft Sans Serif"/>
              </a:rPr>
              <a:t>спокойной</a:t>
            </a:r>
            <a:r>
              <a:rPr sz="2700" spc="-4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душой</a:t>
            </a:r>
            <a:r>
              <a:rPr sz="2700" spc="-35" dirty="0">
                <a:latin typeface="Microsoft Sans Serif"/>
                <a:cs typeface="Microsoft Sans Serif"/>
              </a:rPr>
              <a:t> </a:t>
            </a:r>
            <a:r>
              <a:rPr sz="2700" spc="-40" dirty="0">
                <a:latin typeface="Microsoft Sans Serif"/>
                <a:cs typeface="Microsoft Sans Serif"/>
              </a:rPr>
              <a:t>запускаем </a:t>
            </a:r>
            <a:r>
              <a:rPr sz="2700" spc="-10" dirty="0">
                <a:latin typeface="Microsoft Sans Serif"/>
                <a:cs typeface="Microsoft Sans Serif"/>
              </a:rPr>
              <a:t>скрипт</a:t>
            </a:r>
            <a:endParaRPr sz="27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Переменные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6130"/>
            <a:ext cx="10349230" cy="357822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40029" marR="704850" indent="-227329">
              <a:lnSpc>
                <a:spcPts val="2880"/>
              </a:lnSpc>
              <a:spcBef>
                <a:spcPts val="495"/>
              </a:spcBef>
              <a:buChar char="•"/>
              <a:tabLst>
                <a:tab pos="241300" algn="l"/>
              </a:tabLst>
            </a:pPr>
            <a:r>
              <a:rPr sz="2700" dirty="0">
                <a:latin typeface="Microsoft Sans Serif"/>
                <a:cs typeface="Microsoft Sans Serif"/>
              </a:rPr>
              <a:t>my_var=5</a:t>
            </a:r>
            <a:r>
              <a:rPr sz="2700" spc="-70" dirty="0">
                <a:latin typeface="Microsoft Sans Serif"/>
                <a:cs typeface="Microsoft Sans Serif"/>
              </a:rPr>
              <a:t> </a:t>
            </a:r>
            <a:r>
              <a:rPr sz="2700" spc="705" dirty="0">
                <a:latin typeface="Microsoft Sans Serif"/>
                <a:cs typeface="Microsoft Sans Serif"/>
              </a:rPr>
              <a:t>–</a:t>
            </a:r>
            <a:r>
              <a:rPr sz="2700" spc="-65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установить</a:t>
            </a:r>
            <a:r>
              <a:rPr sz="2700" spc="-65" dirty="0">
                <a:latin typeface="Microsoft Sans Serif"/>
                <a:cs typeface="Microsoft Sans Serif"/>
              </a:rPr>
              <a:t> </a:t>
            </a:r>
            <a:r>
              <a:rPr sz="2700" spc="-20" dirty="0">
                <a:latin typeface="Microsoft Sans Serif"/>
                <a:cs typeface="Microsoft Sans Serif"/>
              </a:rPr>
              <a:t>пользовательскую</a:t>
            </a:r>
            <a:r>
              <a:rPr sz="2700" spc="-65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переменную</a:t>
            </a:r>
            <a:r>
              <a:rPr sz="2700" spc="-65" dirty="0">
                <a:latin typeface="Microsoft Sans Serif"/>
                <a:cs typeface="Microsoft Sans Serif"/>
              </a:rPr>
              <a:t> </a:t>
            </a:r>
            <a:r>
              <a:rPr sz="2700" spc="-25" dirty="0">
                <a:latin typeface="Microsoft Sans Serif"/>
                <a:cs typeface="Microsoft Sans Serif"/>
              </a:rPr>
              <a:t>(не 	</a:t>
            </a:r>
            <a:r>
              <a:rPr sz="2700" dirty="0">
                <a:latin typeface="Microsoft Sans Serif"/>
                <a:cs typeface="Microsoft Sans Serif"/>
              </a:rPr>
              <a:t>ставьте</a:t>
            </a:r>
            <a:r>
              <a:rPr sz="2700" spc="-65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пробелы!)</a:t>
            </a:r>
            <a:endParaRPr sz="2700" dirty="0">
              <a:latin typeface="Microsoft Sans Serif"/>
              <a:cs typeface="Microsoft Sans Serif"/>
            </a:endParaRPr>
          </a:p>
          <a:p>
            <a:pPr marL="240029" marR="1919605" indent="-227329">
              <a:lnSpc>
                <a:spcPts val="288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sz="2700" dirty="0">
                <a:latin typeface="Microsoft Sans Serif"/>
                <a:cs typeface="Microsoft Sans Serif"/>
              </a:rPr>
              <a:t>$my_var</a:t>
            </a:r>
            <a:r>
              <a:rPr sz="2700" spc="-55" dirty="0">
                <a:latin typeface="Microsoft Sans Serif"/>
                <a:cs typeface="Microsoft Sans Serif"/>
              </a:rPr>
              <a:t> </a:t>
            </a:r>
            <a:r>
              <a:rPr sz="2700" spc="705" dirty="0">
                <a:latin typeface="Microsoft Sans Serif"/>
                <a:cs typeface="Microsoft Sans Serif"/>
              </a:rPr>
              <a:t>–</a:t>
            </a:r>
            <a:r>
              <a:rPr sz="2700" spc="-55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использовать</a:t>
            </a:r>
            <a:r>
              <a:rPr sz="2700" spc="-55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значение</a:t>
            </a:r>
            <a:r>
              <a:rPr sz="2700" spc="-55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переменной</a:t>
            </a:r>
            <a:r>
              <a:rPr sz="2700" spc="-55" dirty="0">
                <a:latin typeface="Microsoft Sans Serif"/>
                <a:cs typeface="Microsoft Sans Serif"/>
              </a:rPr>
              <a:t> </a:t>
            </a:r>
            <a:r>
              <a:rPr sz="2700" spc="-20" dirty="0">
                <a:latin typeface="Microsoft Sans Serif"/>
                <a:cs typeface="Microsoft Sans Serif"/>
              </a:rPr>
              <a:t>(как 	пользовательскую,</a:t>
            </a:r>
            <a:r>
              <a:rPr sz="2700" spc="-60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так</a:t>
            </a:r>
            <a:r>
              <a:rPr sz="2700" spc="-55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и</a:t>
            </a:r>
            <a:r>
              <a:rPr sz="2700" spc="-55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системную)</a:t>
            </a:r>
            <a:endParaRPr sz="2700" dirty="0">
              <a:latin typeface="Microsoft Sans Serif"/>
              <a:cs typeface="Microsoft Sans Serif"/>
            </a:endParaRPr>
          </a:p>
          <a:p>
            <a:pPr marL="240029" indent="-227329">
              <a:lnSpc>
                <a:spcPct val="100000"/>
              </a:lnSpc>
              <a:spcBef>
                <a:spcPts val="615"/>
              </a:spcBef>
              <a:buChar char="•"/>
              <a:tabLst>
                <a:tab pos="240029" algn="l"/>
              </a:tabLst>
            </a:pPr>
            <a:r>
              <a:rPr sz="2700" dirty="0">
                <a:latin typeface="Microsoft Sans Serif"/>
                <a:cs typeface="Microsoft Sans Serif"/>
              </a:rPr>
              <a:t>env</a:t>
            </a:r>
            <a:r>
              <a:rPr sz="2700" spc="-60" dirty="0">
                <a:latin typeface="Microsoft Sans Serif"/>
                <a:cs typeface="Microsoft Sans Serif"/>
              </a:rPr>
              <a:t> </a:t>
            </a:r>
            <a:r>
              <a:rPr sz="2700" spc="705" dirty="0">
                <a:latin typeface="Microsoft Sans Serif"/>
                <a:cs typeface="Microsoft Sans Serif"/>
              </a:rPr>
              <a:t>–</a:t>
            </a:r>
            <a:r>
              <a:rPr sz="2700" spc="-60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посмотреть</a:t>
            </a:r>
            <a:r>
              <a:rPr sz="2700" spc="-6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переменные</a:t>
            </a:r>
            <a:r>
              <a:rPr sz="2700" spc="-60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окружения</a:t>
            </a:r>
            <a:endParaRPr sz="2700" dirty="0">
              <a:latin typeface="Microsoft Sans Serif"/>
              <a:cs typeface="Microsoft Sans Serif"/>
            </a:endParaRPr>
          </a:p>
          <a:p>
            <a:pPr marL="240029" indent="-227329">
              <a:lnSpc>
                <a:spcPct val="100000"/>
              </a:lnSpc>
              <a:spcBef>
                <a:spcPts val="640"/>
              </a:spcBef>
              <a:buChar char="•"/>
              <a:tabLst>
                <a:tab pos="240029" algn="l"/>
              </a:tabLst>
            </a:pPr>
            <a:r>
              <a:rPr sz="2700" dirty="0">
                <a:latin typeface="Microsoft Sans Serif"/>
                <a:cs typeface="Microsoft Sans Serif"/>
              </a:rPr>
              <a:t>export</a:t>
            </a:r>
            <a:r>
              <a:rPr sz="2700" spc="-6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VARNAME=VALUE</a:t>
            </a:r>
            <a:r>
              <a:rPr sz="2700" spc="-55" dirty="0">
                <a:latin typeface="Microsoft Sans Serif"/>
                <a:cs typeface="Microsoft Sans Serif"/>
              </a:rPr>
              <a:t> </a:t>
            </a:r>
            <a:r>
              <a:rPr sz="2700" spc="705" dirty="0">
                <a:latin typeface="Microsoft Sans Serif"/>
                <a:cs typeface="Microsoft Sans Serif"/>
              </a:rPr>
              <a:t>–</a:t>
            </a:r>
            <a:r>
              <a:rPr sz="2700" spc="-55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установить</a:t>
            </a:r>
            <a:r>
              <a:rPr sz="2700" spc="-55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переменную</a:t>
            </a:r>
            <a:r>
              <a:rPr sz="2700" spc="-55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окружения</a:t>
            </a:r>
            <a:endParaRPr sz="2700" dirty="0">
              <a:latin typeface="Microsoft Sans Serif"/>
              <a:cs typeface="Microsoft Sans Serif"/>
            </a:endParaRPr>
          </a:p>
          <a:p>
            <a:pPr marL="240029" indent="-227329">
              <a:lnSpc>
                <a:spcPct val="100000"/>
              </a:lnSpc>
              <a:spcBef>
                <a:spcPts val="645"/>
              </a:spcBef>
              <a:buChar char="•"/>
              <a:tabLst>
                <a:tab pos="240029" algn="l"/>
              </a:tabLst>
            </a:pPr>
            <a:r>
              <a:rPr sz="2700" dirty="0">
                <a:latin typeface="Microsoft Sans Serif"/>
                <a:cs typeface="Microsoft Sans Serif"/>
              </a:rPr>
              <a:t>unset</a:t>
            </a:r>
            <a:r>
              <a:rPr sz="2700" spc="-25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VARNAME</a:t>
            </a:r>
            <a:r>
              <a:rPr sz="2700" spc="-20" dirty="0">
                <a:latin typeface="Microsoft Sans Serif"/>
                <a:cs typeface="Microsoft Sans Serif"/>
              </a:rPr>
              <a:t> </a:t>
            </a:r>
            <a:r>
              <a:rPr sz="2700" spc="705" dirty="0">
                <a:latin typeface="Microsoft Sans Serif"/>
                <a:cs typeface="Microsoft Sans Serif"/>
              </a:rPr>
              <a:t>–</a:t>
            </a:r>
            <a:r>
              <a:rPr sz="2700" spc="-25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удалить</a:t>
            </a:r>
            <a:r>
              <a:rPr sz="2700" spc="-2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переменную</a:t>
            </a:r>
            <a:r>
              <a:rPr sz="2700" spc="-25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окружения</a:t>
            </a:r>
            <a:endParaRPr sz="27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430"/>
              </a:spcBef>
              <a:buFont typeface="Microsoft Sans Serif"/>
              <a:buChar char="•"/>
              <a:tabLst>
                <a:tab pos="240665" algn="l"/>
                <a:tab pos="1574800" algn="l"/>
              </a:tabLst>
            </a:pPr>
            <a:r>
              <a:rPr sz="2500" spc="-10" dirty="0">
                <a:latin typeface="Courier New"/>
                <a:cs typeface="Courier New"/>
              </a:rPr>
              <a:t>export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10" dirty="0">
                <a:latin typeface="Courier New"/>
                <a:cs typeface="Courier New"/>
              </a:rPr>
              <a:t>PATH=$PATH:/usr/share/smartgit/bin</a:t>
            </a:r>
            <a:endParaRPr sz="25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Исполнение</a:t>
            </a:r>
            <a:r>
              <a:rPr spc="-165" dirty="0"/>
              <a:t> </a:t>
            </a:r>
            <a:r>
              <a:rPr spc="-10" dirty="0"/>
              <a:t>выражений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8452"/>
            <a:ext cx="8988425" cy="18586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Microsoft Sans Serif"/>
                <a:cs typeface="Microsoft Sans Serif"/>
              </a:rPr>
              <a:t>res=`...`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(N.B.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Косые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-35" dirty="0">
                <a:latin typeface="Microsoft Sans Serif"/>
                <a:cs typeface="Microsoft Sans Serif"/>
              </a:rPr>
              <a:t>кавычки!)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исполнить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команду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и </a:t>
            </a:r>
            <a:r>
              <a:rPr sz="2800" dirty="0">
                <a:latin typeface="Microsoft Sans Serif"/>
                <a:cs typeface="Microsoft Sans Serif"/>
              </a:rPr>
              <a:t>вернуть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результат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2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res=$(...)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-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аналогично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6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res=$((...))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725" dirty="0">
                <a:latin typeface="Microsoft Sans Serif"/>
                <a:cs typeface="Microsoft Sans Serif"/>
              </a:rPr>
              <a:t>–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посчитать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целочисленное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выражение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Управляющие</a:t>
            </a:r>
            <a:r>
              <a:rPr spc="-165" dirty="0"/>
              <a:t> </a:t>
            </a:r>
            <a:r>
              <a:rPr spc="-40" dirty="0"/>
              <a:t>конструкции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24124"/>
            <a:ext cx="1617980" cy="207010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800" spc="315" dirty="0">
                <a:latin typeface="Microsoft Sans Serif"/>
                <a:cs typeface="Microsoft Sans Serif"/>
              </a:rPr>
              <a:t>–</a:t>
            </a:r>
            <a:r>
              <a:rPr sz="2800" b="1" spc="315" dirty="0">
                <a:latin typeface="Arial"/>
                <a:cs typeface="Arial"/>
              </a:rPr>
              <a:t>if</a:t>
            </a:r>
            <a:r>
              <a:rPr sz="2800" b="1" spc="10" dirty="0">
                <a:latin typeface="Arial"/>
                <a:cs typeface="Arial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*cond*</a:t>
            </a:r>
            <a:endParaRPr sz="28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800" spc="165" dirty="0">
                <a:latin typeface="Microsoft Sans Serif"/>
                <a:cs typeface="Microsoft Sans Serif"/>
              </a:rPr>
              <a:t>–</a:t>
            </a:r>
            <a:r>
              <a:rPr sz="2800" b="1" spc="165" dirty="0">
                <a:latin typeface="Arial"/>
                <a:cs typeface="Arial"/>
              </a:rPr>
              <a:t>then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800" spc="130" dirty="0">
                <a:latin typeface="Microsoft Sans Serif"/>
                <a:cs typeface="Microsoft Sans Serif"/>
              </a:rPr>
              <a:t>–*cmd*</a:t>
            </a:r>
            <a:endParaRPr sz="28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800" spc="285" dirty="0">
                <a:latin typeface="Microsoft Sans Serif"/>
                <a:cs typeface="Microsoft Sans Serif"/>
              </a:rPr>
              <a:t>–</a:t>
            </a:r>
            <a:r>
              <a:rPr sz="2800" b="1" spc="285" dirty="0">
                <a:latin typeface="Arial"/>
                <a:cs typeface="Arial"/>
              </a:rPr>
              <a:t>fi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00275" y="1716186"/>
            <a:ext cx="158686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235" dirty="0">
                <a:latin typeface="Microsoft Sans Serif"/>
                <a:cs typeface="Microsoft Sans Serif"/>
              </a:rPr>
              <a:t>–</a:t>
            </a:r>
            <a:r>
              <a:rPr sz="2800" b="1" spc="235" dirty="0">
                <a:latin typeface="Arial"/>
                <a:cs typeface="Arial"/>
              </a:rPr>
              <a:t>if</a:t>
            </a:r>
            <a:r>
              <a:rPr sz="2800" b="1" spc="10" dirty="0">
                <a:latin typeface="Arial"/>
                <a:cs typeface="Arial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*cond*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800" spc="120" dirty="0">
                <a:latin typeface="Microsoft Sans Serif"/>
                <a:cs typeface="Microsoft Sans Serif"/>
              </a:rPr>
              <a:t>–</a:t>
            </a:r>
            <a:r>
              <a:rPr sz="2800" b="1" spc="120" dirty="0">
                <a:latin typeface="Arial"/>
                <a:cs typeface="Arial"/>
              </a:rPr>
              <a:t>then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spc="90" dirty="0">
                <a:latin typeface="Microsoft Sans Serif"/>
                <a:cs typeface="Microsoft Sans Serif"/>
              </a:rPr>
              <a:t>–*cmd*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800" spc="120" dirty="0">
                <a:latin typeface="Microsoft Sans Serif"/>
                <a:cs typeface="Microsoft Sans Serif"/>
              </a:rPr>
              <a:t>–</a:t>
            </a:r>
            <a:r>
              <a:rPr sz="2800" b="1" spc="120" dirty="0">
                <a:latin typeface="Arial"/>
                <a:cs typeface="Arial"/>
              </a:rPr>
              <a:t>else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spc="90" dirty="0">
                <a:latin typeface="Microsoft Sans Serif"/>
                <a:cs typeface="Microsoft Sans Serif"/>
              </a:rPr>
              <a:t>–*cmd*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800" spc="204" dirty="0">
                <a:latin typeface="Microsoft Sans Serif"/>
                <a:cs typeface="Microsoft Sans Serif"/>
              </a:rPr>
              <a:t>–</a:t>
            </a:r>
            <a:r>
              <a:rPr sz="2800" b="1" spc="204" dirty="0">
                <a:latin typeface="Arial"/>
                <a:cs typeface="Arial"/>
              </a:rPr>
              <a:t>fi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89095" y="1716186"/>
            <a:ext cx="1883410" cy="343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235" dirty="0">
                <a:latin typeface="Microsoft Sans Serif"/>
                <a:cs typeface="Microsoft Sans Serif"/>
              </a:rPr>
              <a:t>–</a:t>
            </a:r>
            <a:r>
              <a:rPr sz="2800" b="1" spc="235" dirty="0">
                <a:latin typeface="Arial"/>
                <a:cs typeface="Arial"/>
              </a:rPr>
              <a:t>if</a:t>
            </a:r>
            <a:r>
              <a:rPr sz="2800" b="1" spc="10" dirty="0">
                <a:latin typeface="Arial"/>
                <a:cs typeface="Arial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*cond*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800" spc="120" dirty="0">
                <a:latin typeface="Microsoft Sans Serif"/>
                <a:cs typeface="Microsoft Sans Serif"/>
              </a:rPr>
              <a:t>–</a:t>
            </a:r>
            <a:r>
              <a:rPr sz="2800" b="1" spc="120" dirty="0">
                <a:latin typeface="Arial"/>
                <a:cs typeface="Arial"/>
              </a:rPr>
              <a:t>then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spc="90" dirty="0">
                <a:latin typeface="Microsoft Sans Serif"/>
                <a:cs typeface="Microsoft Sans Serif"/>
              </a:rPr>
              <a:t>–*cmd*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800" spc="135" dirty="0">
                <a:latin typeface="Microsoft Sans Serif"/>
                <a:cs typeface="Microsoft Sans Serif"/>
              </a:rPr>
              <a:t>–</a:t>
            </a:r>
            <a:r>
              <a:rPr sz="2800" b="1" spc="135" dirty="0">
                <a:latin typeface="Arial"/>
                <a:cs typeface="Arial"/>
              </a:rPr>
              <a:t>elif</a:t>
            </a:r>
            <a:r>
              <a:rPr sz="2800" b="1" spc="10" dirty="0">
                <a:latin typeface="Arial"/>
                <a:cs typeface="Arial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*cond*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800" spc="90" dirty="0">
                <a:latin typeface="Microsoft Sans Serif"/>
                <a:cs typeface="Microsoft Sans Serif"/>
              </a:rPr>
              <a:t>–*cmd*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800" spc="120" dirty="0">
                <a:latin typeface="Microsoft Sans Serif"/>
                <a:cs typeface="Microsoft Sans Serif"/>
              </a:rPr>
              <a:t>–</a:t>
            </a:r>
            <a:r>
              <a:rPr sz="2800" b="1" spc="120" dirty="0">
                <a:latin typeface="Arial"/>
                <a:cs typeface="Arial"/>
              </a:rPr>
              <a:t>else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spc="90" dirty="0">
                <a:latin typeface="Microsoft Sans Serif"/>
                <a:cs typeface="Microsoft Sans Serif"/>
              </a:rPr>
              <a:t>–*cmd*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800" spc="204" dirty="0">
                <a:latin typeface="Microsoft Sans Serif"/>
                <a:cs typeface="Microsoft Sans Serif"/>
              </a:rPr>
              <a:t>–</a:t>
            </a:r>
            <a:r>
              <a:rPr sz="2800" b="1" spc="204" dirty="0">
                <a:latin typeface="Arial"/>
                <a:cs typeface="Arial"/>
              </a:rPr>
              <a:t>fi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4581"/>
            <a:ext cx="172338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Циклы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4124"/>
            <a:ext cx="2228850" cy="207010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800" spc="229" dirty="0">
                <a:latin typeface="Microsoft Sans Serif"/>
                <a:cs typeface="Microsoft Sans Serif"/>
              </a:rPr>
              <a:t>–</a:t>
            </a:r>
            <a:r>
              <a:rPr sz="2800" b="1" spc="229" dirty="0">
                <a:latin typeface="Arial"/>
                <a:cs typeface="Arial"/>
              </a:rPr>
              <a:t>for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var</a:t>
            </a:r>
            <a:r>
              <a:rPr sz="2800" spc="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in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list</a:t>
            </a:r>
            <a:endParaRPr sz="28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285" dirty="0">
                <a:latin typeface="Microsoft Sans Serif"/>
                <a:cs typeface="Microsoft Sans Serif"/>
              </a:rPr>
              <a:t>–</a:t>
            </a:r>
            <a:r>
              <a:rPr sz="2800" b="1" spc="285" dirty="0">
                <a:latin typeface="Arial"/>
                <a:cs typeface="Arial"/>
              </a:rPr>
              <a:t>do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800" spc="130" dirty="0">
                <a:latin typeface="Microsoft Sans Serif"/>
                <a:cs typeface="Microsoft Sans Serif"/>
              </a:rPr>
              <a:t>–*cmd*</a:t>
            </a:r>
            <a:endParaRPr sz="28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800" spc="165" dirty="0">
                <a:latin typeface="Microsoft Sans Serif"/>
                <a:cs typeface="Microsoft Sans Serif"/>
              </a:rPr>
              <a:t>–</a:t>
            </a:r>
            <a:r>
              <a:rPr sz="2800" b="1" spc="165" dirty="0">
                <a:latin typeface="Arial"/>
                <a:cs typeface="Arial"/>
              </a:rPr>
              <a:t>done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Сравнение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4124"/>
            <a:ext cx="5805805" cy="360299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76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Числа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можно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сравнивать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так: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6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if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[$var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-</a:t>
            </a:r>
            <a:r>
              <a:rPr sz="2800" dirty="0">
                <a:latin typeface="Microsoft Sans Serif"/>
                <a:cs typeface="Microsoft Sans Serif"/>
              </a:rPr>
              <a:t>eq 5]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...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6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Аналогично,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-</a:t>
            </a:r>
            <a:r>
              <a:rPr sz="2800" dirty="0">
                <a:latin typeface="Microsoft Sans Serif"/>
                <a:cs typeface="Microsoft Sans Serif"/>
              </a:rPr>
              <a:t>ne,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-</a:t>
            </a:r>
            <a:r>
              <a:rPr sz="2800" dirty="0">
                <a:latin typeface="Microsoft Sans Serif"/>
                <a:cs typeface="Microsoft Sans Serif"/>
              </a:rPr>
              <a:t>ge,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-</a:t>
            </a:r>
            <a:r>
              <a:rPr sz="2800" dirty="0">
                <a:latin typeface="Microsoft Sans Serif"/>
                <a:cs typeface="Microsoft Sans Serif"/>
              </a:rPr>
              <a:t>gt,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-</a:t>
            </a:r>
            <a:r>
              <a:rPr sz="2800" dirty="0">
                <a:latin typeface="Microsoft Sans Serif"/>
                <a:cs typeface="Microsoft Sans Serif"/>
              </a:rPr>
              <a:t>le,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-</a:t>
            </a:r>
            <a:r>
              <a:rPr sz="2800" spc="-25" dirty="0">
                <a:latin typeface="Microsoft Sans Serif"/>
                <a:cs typeface="Microsoft Sans Serif"/>
              </a:rPr>
              <a:t>lt</a:t>
            </a:r>
            <a:endParaRPr sz="28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20"/>
              </a:spcBef>
              <a:buFont typeface="Microsoft Sans Serif"/>
              <a:buChar char="•"/>
            </a:pP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buChar char="•"/>
              <a:tabLst>
                <a:tab pos="241935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Строки</a:t>
            </a:r>
            <a:r>
              <a:rPr sz="2800" spc="-1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сравниваются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-95" dirty="0">
                <a:latin typeface="Microsoft Sans Serif"/>
                <a:cs typeface="Microsoft Sans Serif"/>
              </a:rPr>
              <a:t>как </a:t>
            </a:r>
            <a:r>
              <a:rPr sz="2800" spc="-10" dirty="0">
                <a:latin typeface="Microsoft Sans Serif"/>
                <a:cs typeface="Microsoft Sans Serif"/>
              </a:rPr>
              <a:t>обычно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6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if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[$str11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$str2]</a:t>
            </a:r>
            <a:r>
              <a:rPr sz="2800" spc="-25" dirty="0">
                <a:latin typeface="Microsoft Sans Serif"/>
                <a:cs typeface="Microsoft Sans Serif"/>
              </a:rPr>
              <a:t> ...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6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Аналогично,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&lt;,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&gt;,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35" dirty="0">
                <a:latin typeface="Microsoft Sans Serif"/>
                <a:cs typeface="Microsoft Sans Serif"/>
              </a:rPr>
              <a:t>!=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Фишечки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24124"/>
            <a:ext cx="9887585" cy="4794261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76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$?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725" dirty="0">
                <a:latin typeface="Microsoft Sans Serif"/>
                <a:cs typeface="Microsoft Sans Serif"/>
              </a:rPr>
              <a:t>–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код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возврата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предыдущей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команды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6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$0,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$1,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...,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$@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725" dirty="0">
                <a:latin typeface="Microsoft Sans Serif"/>
                <a:cs typeface="Microsoft Sans Serif"/>
              </a:rPr>
              <a:t>–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обратиться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к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параметрам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-40" dirty="0">
                <a:latin typeface="Microsoft Sans Serif"/>
                <a:cs typeface="Microsoft Sans Serif"/>
              </a:rPr>
              <a:t>запуска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скрипта</a:t>
            </a:r>
            <a:endParaRPr sz="2800" dirty="0">
              <a:latin typeface="Microsoft Sans Serif"/>
              <a:cs typeface="Microsoft Sans Serif"/>
            </a:endParaRPr>
          </a:p>
          <a:p>
            <a:pPr marL="241300" marR="1341120" indent="-228600">
              <a:lnSpc>
                <a:spcPts val="3020"/>
              </a:lnSpc>
              <a:spcBef>
                <a:spcPts val="105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Microsoft Sans Serif"/>
                <a:cs typeface="Microsoft Sans Serif"/>
              </a:rPr>
              <a:t>&amp;&amp;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lang="en-US" sz="2800" spc="-35" dirty="0">
                <a:latin typeface="Microsoft Sans Serif"/>
                <a:cs typeface="Microsoft Sans Serif"/>
              </a:rPr>
              <a:t>/ </a:t>
            </a:r>
            <a:r>
              <a:rPr sz="2800" dirty="0">
                <a:latin typeface="Microsoft Sans Serif"/>
                <a:cs typeface="Microsoft Sans Serif"/>
              </a:rPr>
              <a:t>||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выполнить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команду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при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 err="1">
                <a:latin typeface="Microsoft Sans Serif"/>
                <a:cs typeface="Microsoft Sans Serif"/>
              </a:rPr>
              <a:t>условии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spc="-10" dirty="0" err="1">
                <a:latin typeface="Microsoft Sans Serif"/>
                <a:cs typeface="Microsoft Sans Serif"/>
              </a:rPr>
              <a:t>успешного</a:t>
            </a:r>
            <a:r>
              <a:rPr lang="en-US" sz="2800" spc="-10" dirty="0">
                <a:latin typeface="Microsoft Sans Serif"/>
                <a:cs typeface="Microsoft Sans Serif"/>
              </a:rPr>
              <a:t>/</a:t>
            </a:r>
            <a:r>
              <a:rPr lang="ru-RU" sz="2800" spc="-10" dirty="0">
                <a:latin typeface="Microsoft Sans Serif"/>
                <a:cs typeface="Microsoft Sans Serif"/>
              </a:rPr>
              <a:t>безуспешного </a:t>
            </a:r>
            <a:r>
              <a:rPr sz="2800" dirty="0" err="1">
                <a:latin typeface="Microsoft Sans Serif"/>
                <a:cs typeface="Microsoft Sans Serif"/>
              </a:rPr>
              <a:t>выполнения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команды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2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Microsoft Sans Serif"/>
                <a:cs typeface="Microsoft Sans Serif"/>
              </a:rPr>
              <a:t>;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725" dirty="0">
                <a:latin typeface="Microsoft Sans Serif"/>
                <a:cs typeface="Microsoft Sans Serif"/>
              </a:rPr>
              <a:t>–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выполнить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35" dirty="0">
                <a:latin typeface="Microsoft Sans Serif"/>
                <a:cs typeface="Microsoft Sans Serif"/>
              </a:rPr>
              <a:t>несколько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команд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 err="1">
                <a:latin typeface="Microsoft Sans Serif"/>
                <a:cs typeface="Microsoft Sans Serif"/>
              </a:rPr>
              <a:t>одну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10" dirty="0" err="1">
                <a:latin typeface="Microsoft Sans Serif"/>
                <a:cs typeface="Microsoft Sans Serif"/>
              </a:rPr>
              <a:t>строку</a:t>
            </a:r>
            <a:endParaRPr lang="en-US" sz="2800" spc="-1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25"/>
              </a:spcBef>
              <a:buChar char="•"/>
              <a:tabLst>
                <a:tab pos="241935" algn="l"/>
              </a:tabLst>
            </a:pPr>
            <a:r>
              <a:rPr lang="en-US" sz="2800" spc="-10" dirty="0">
                <a:latin typeface="Microsoft Sans Serif"/>
                <a:cs typeface="Microsoft Sans Serif"/>
              </a:rPr>
              <a:t>&amp; - </a:t>
            </a:r>
            <a:r>
              <a:rPr lang="ru-RU" sz="2800" spc="-10" dirty="0">
                <a:latin typeface="Microsoft Sans Serif"/>
                <a:cs typeface="Microsoft Sans Serif"/>
              </a:rPr>
              <a:t>выполнение команды в фоне</a:t>
            </a:r>
          </a:p>
          <a:p>
            <a:pPr marL="12700" lvl="1">
              <a:spcBef>
                <a:spcPts val="625"/>
              </a:spcBef>
              <a:tabLst>
                <a:tab pos="241935" algn="l"/>
              </a:tabLst>
            </a:pPr>
            <a:r>
              <a:rPr lang="ru-RU" sz="2800" spc="-10" dirty="0">
                <a:latin typeface="Microsoft Sans Serif"/>
                <a:cs typeface="Microsoft Sans Serif"/>
              </a:rPr>
              <a:t>		</a:t>
            </a:r>
            <a:r>
              <a:rPr lang="en-US" sz="2800" spc="-10" dirty="0">
                <a:latin typeface="Microsoft Sans Serif"/>
                <a:cs typeface="Microsoft Sans Serif"/>
              </a:rPr>
              <a:t>$ (sleep 5; echo “Done”) &amp;</a:t>
            </a:r>
            <a:endParaRPr sz="2800" dirty="0">
              <a:latin typeface="Microsoft Sans Serif"/>
              <a:cs typeface="Microsoft Sans Serif"/>
            </a:endParaRPr>
          </a:p>
          <a:p>
            <a:pPr marL="241935" indent="-229235">
              <a:lnSpc>
                <a:spcPct val="100000"/>
              </a:lnSpc>
              <a:spcBef>
                <a:spcPts val="665"/>
              </a:spcBef>
              <a:buChar char="•"/>
              <a:tabLst>
                <a:tab pos="241935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Разница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между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‘’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и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«»:</a:t>
            </a:r>
            <a:endParaRPr sz="280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219"/>
              </a:spcBef>
              <a:buChar char="•"/>
              <a:tabLst>
                <a:tab pos="697865" algn="l"/>
              </a:tabLst>
            </a:pPr>
            <a:r>
              <a:rPr sz="2400" dirty="0">
                <a:latin typeface="Microsoft Sans Serif"/>
                <a:cs typeface="Microsoft Sans Serif"/>
              </a:rPr>
              <a:t>‘’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-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не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подставляет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значение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переменной</a:t>
            </a:r>
            <a:endParaRPr sz="240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210"/>
              </a:spcBef>
              <a:buChar char="•"/>
              <a:tabLst>
                <a:tab pos="697865" algn="l"/>
              </a:tabLst>
            </a:pPr>
            <a:r>
              <a:rPr sz="2400" dirty="0">
                <a:latin typeface="Microsoft Sans Serif"/>
                <a:cs typeface="Microsoft Sans Serif"/>
              </a:rPr>
              <a:t>echo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‘$test’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-</a:t>
            </a:r>
            <a:r>
              <a:rPr sz="2400" dirty="0">
                <a:latin typeface="Microsoft Sans Serif"/>
                <a:cs typeface="Microsoft Sans Serif"/>
              </a:rPr>
              <a:t>&gt;</a:t>
            </a:r>
            <a:r>
              <a:rPr sz="2400" spc="-10" dirty="0">
                <a:latin typeface="Microsoft Sans Serif"/>
                <a:cs typeface="Microsoft Sans Serif"/>
              </a:rPr>
              <a:t> $test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1174</TotalTime>
  <Words>760</Words>
  <Application>Microsoft Office PowerPoint</Application>
  <PresentationFormat>Widescreen</PresentationFormat>
  <Paragraphs>125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Courier New</vt:lpstr>
      <vt:lpstr>Microsoft Sans Serif</vt:lpstr>
      <vt:lpstr>Office Theme</vt:lpstr>
      <vt:lpstr>Семинар по С++ №10 bash-скрипты</vt:lpstr>
      <vt:lpstr>Типы файлов в Linux</vt:lpstr>
      <vt:lpstr>Жёсткие и символически ссылки</vt:lpstr>
      <vt:lpstr>Жёсткие и символические ссылки</vt:lpstr>
      <vt:lpstr>grep и регулярные выражения</vt:lpstr>
      <vt:lpstr>SED</vt:lpstr>
      <vt:lpstr>Другие фишки</vt:lpstr>
      <vt:lpstr>Перенаправление вывода</vt:lpstr>
      <vt:lpstr>bash</vt:lpstr>
      <vt:lpstr>Переменные</vt:lpstr>
      <vt:lpstr>Исполнение выражений</vt:lpstr>
      <vt:lpstr>Управляющие конструкции</vt:lpstr>
      <vt:lpstr>Циклы</vt:lpstr>
      <vt:lpstr>Сравнение</vt:lpstr>
      <vt:lpstr>Фишечки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 по С++ №10 bash-скрипты</dc:title>
  <cp:lastModifiedBy>Konstantin Dragun</cp:lastModifiedBy>
  <cp:revision>6</cp:revision>
  <dcterms:created xsi:type="dcterms:W3CDTF">2024-11-06T21:27:50Z</dcterms:created>
  <dcterms:modified xsi:type="dcterms:W3CDTF">2024-11-15T09:21:36Z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2022-11-18T00:00:00Z</vt:filetime>
  </property>
  <property fmtid="{D5CDD505-2E9C-101B-9397-08002B2CF9AE}" pid="3" name="Creator">
    <vt:lpwstr>R7-Office/7.2.0.134</vt:lpwstr>
  </property>
  <property fmtid="{D5CDD505-2E9C-101B-9397-08002B2CF9AE}" pid="4" name="LastSaved">
    <vt:filetime>2024-11-06T00:00:00Z</vt:filetime>
  </property>
  <property fmtid="{D5CDD505-2E9C-101B-9397-08002B2CF9AE}" pid="5" name="Producer">
    <vt:lpwstr>R7-Office/7.2.0.134</vt:lpwstr>
  </property>
</Properties>
</file>